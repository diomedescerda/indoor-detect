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5"/>
    <p:sldId id="257" r:id="rId3"/>
    <p:sldId id="258" r:id="rId4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499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2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7DDEB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818120" y="0"/>
            <a:ext cx="4370832" cy="6858000"/>
          </a:xfrm>
          <a:prstGeom prst="rect">
            <a:avLst/>
          </a:prstGeom>
          <a:solidFill>
            <a:srgbClr val="0F1C31"/>
          </a:solidFill>
          <a:ln>
            <a:solidFill>
              <a:srgbClr val="0F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138160" y="1097280"/>
            <a:ext cx="137160" cy="3474720"/>
          </a:xfrm>
          <a:prstGeom prst="rect">
            <a:avLst/>
          </a:prstGeom>
          <a:solidFill>
            <a:srgbClr val="2A425E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522208" y="1755648"/>
            <a:ext cx="137160" cy="3154679"/>
          </a:xfrm>
          <a:prstGeom prst="rect">
            <a:avLst/>
          </a:prstGeom>
          <a:solidFill>
            <a:srgbClr val="2A425E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906256" y="2414015"/>
            <a:ext cx="137160" cy="2834639"/>
          </a:xfrm>
          <a:prstGeom prst="rect">
            <a:avLst/>
          </a:prstGeom>
          <a:solidFill>
            <a:srgbClr val="2A425E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290304" y="1097280"/>
            <a:ext cx="137160" cy="2514600"/>
          </a:xfrm>
          <a:prstGeom prst="rect">
            <a:avLst/>
          </a:prstGeom>
          <a:solidFill>
            <a:srgbClr val="2A425E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674352" y="1755648"/>
            <a:ext cx="137160" cy="3474720"/>
          </a:xfrm>
          <a:prstGeom prst="rect">
            <a:avLst/>
          </a:prstGeom>
          <a:solidFill>
            <a:srgbClr val="2A425E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058400" y="2414015"/>
            <a:ext cx="137160" cy="3154679"/>
          </a:xfrm>
          <a:prstGeom prst="rect">
            <a:avLst/>
          </a:prstGeom>
          <a:solidFill>
            <a:srgbClr val="2A425E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442448" y="1097280"/>
            <a:ext cx="137160" cy="2834639"/>
          </a:xfrm>
          <a:prstGeom prst="rect">
            <a:avLst/>
          </a:prstGeom>
          <a:solidFill>
            <a:srgbClr val="2A425E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826496" y="1755648"/>
            <a:ext cx="137160" cy="2514600"/>
          </a:xfrm>
          <a:prstGeom prst="rect">
            <a:avLst/>
          </a:prstGeom>
          <a:solidFill>
            <a:srgbClr val="2A425E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210544" y="2414015"/>
            <a:ext cx="137160" cy="3474720"/>
          </a:xfrm>
          <a:prstGeom prst="rect">
            <a:avLst/>
          </a:prstGeom>
          <a:solidFill>
            <a:srgbClr val="2A425E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658368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7DDEB"/>
                </a:solidFill>
                <a:latin typeface="Aptos"/>
              </a:rPr>
              <a:t>PRESENTADO POR DIOMEDES CERDA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960120"/>
            <a:ext cx="5303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FEBA4"/>
                </a:solidFill>
                <a:latin typeface="Aptos"/>
              </a:rPr>
              <a:t>UNIVERSIDAD DEL MAGDALENA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1325880"/>
            <a:ext cx="658368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0F7FF"/>
                </a:solidFill>
                <a:latin typeface="Aptos Display"/>
              </a:rPr>
              <a:t>Deteccion de objetos
panoramicos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3063240"/>
            <a:ext cx="6217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9DB1C9"/>
                </a:solidFill>
                <a:latin typeface="Aptos"/>
              </a:rPr>
              <a:t>Como la geometria equirectangular cambia lo que
los detectores ven, puntuan y seleccionan.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4617720"/>
            <a:ext cx="1965960" cy="45720"/>
          </a:xfrm>
          <a:prstGeom prst="rect">
            <a:avLst/>
          </a:prstGeom>
          <a:solidFill>
            <a:srgbClr val="6FEBA4"/>
          </a:solidFill>
          <a:ln>
            <a:solidFill>
              <a:srgbClr val="6FE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4882896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FEBA4"/>
                </a:solidFill>
                <a:latin typeface="Aptos"/>
              </a:rPr>
              <a:t>RESUMEN DEL BENCHMARK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5257800"/>
            <a:ext cx="4114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0F7FF"/>
                </a:solidFill>
                <a:latin typeface="Aptos"/>
              </a:rPr>
              <a:t>YOLOv8s · YOLO11n · SSD · EfficientDet
TensorFlow Lite / solo CPU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6172200"/>
            <a:ext cx="310896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100" b="1" dirty="0">
                <a:solidFill>
                  <a:srgbClr val="37DDEB"/>
                </a:solidFill>
                <a:latin typeface="Courier New"/>
              </a:rPr>
              <a:t>Comparación </a:t>
            </a:r>
            <a:endParaRPr sz="1100" b="1" dirty="0">
              <a:solidFill>
                <a:srgbClr val="37DDEB"/>
              </a:solidFill>
              <a:latin typeface="Courier New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7DDEB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7DDEB"/>
                </a:solidFill>
                <a:latin typeface="Aptos"/>
              </a:rPr>
              <a:t>02 / EXPERIMENTO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0F7FF"/>
                </a:solidFill>
                <a:latin typeface="Aptos"/>
              </a:rPr>
              <a:t>Dataset y superficie de evaluacion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DB1C9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34440"/>
            <a:ext cx="2057400" cy="987552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353312"/>
            <a:ext cx="172821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37DDEB"/>
                </a:solidFill>
                <a:latin typeface="Aptos Display"/>
              </a:rPr>
              <a:t>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01368"/>
            <a:ext cx="17282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DB1C9"/>
                </a:solidFill>
                <a:latin typeface="Aptos"/>
              </a:rPr>
              <a:t>IMAGENES PANORAMICAS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234440"/>
            <a:ext cx="2057400" cy="987552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53512" y="1353312"/>
            <a:ext cx="172821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6FEBA4"/>
                </a:solidFill>
                <a:latin typeface="Aptos Display"/>
              </a:rPr>
              <a:t>505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53512" y="1801368"/>
            <a:ext cx="17282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DB1C9"/>
                </a:solidFill>
                <a:latin typeface="Aptos"/>
              </a:rPr>
              <a:t>ANOTACIONES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10912" y="1234440"/>
            <a:ext cx="2057400" cy="987552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75504" y="1353312"/>
            <a:ext cx="172821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FAF56"/>
                </a:solidFill>
                <a:latin typeface="Aptos Display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75504" y="1801368"/>
            <a:ext cx="17282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DB1C9"/>
                </a:solidFill>
                <a:latin typeface="Aptos"/>
              </a:rPr>
              <a:t>CLASES INTERIORES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32904" y="1234440"/>
            <a:ext cx="2057400" cy="987552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97496" y="1353312"/>
            <a:ext cx="172821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F6877"/>
                </a:solidFill>
                <a:latin typeface="Aptos Display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97496" y="1801368"/>
            <a:ext cx="172821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DB1C9"/>
                </a:solidFill>
                <a:latin typeface="Aptos"/>
              </a:rPr>
              <a:t>MODELOS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54896" y="1234440"/>
            <a:ext cx="2148840" cy="987552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19488" y="1353312"/>
            <a:ext cx="181965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37DDEB"/>
                </a:solidFill>
                <a:latin typeface="Aptos Display"/>
              </a:rPr>
              <a:t>TFLite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19488" y="1801368"/>
            <a:ext cx="181965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9DB1C9"/>
                </a:solidFill>
                <a:latin typeface="Aptos"/>
              </a:rPr>
              <a:t>EJECUCION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19488" y="1984248"/>
            <a:ext cx="1819656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9DB1C9"/>
                </a:solidFill>
                <a:latin typeface="Aptos"/>
              </a:rPr>
              <a:t>Solo CPU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2606040"/>
            <a:ext cx="411480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9DB1C9"/>
                </a:solidFill>
                <a:latin typeface="Aptos"/>
              </a:rPr>
              <a:t>Clases mapeadas a IDs COCO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063240"/>
            <a:ext cx="1938528" cy="384048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6384" y="3154680"/>
            <a:ext cx="1737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0F7FF"/>
                </a:solidFill>
                <a:latin typeface="Courier New"/>
              </a:rPr>
              <a:t>01  person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71215" y="3063240"/>
            <a:ext cx="1938528" cy="384048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999232" y="3154680"/>
            <a:ext cx="1737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0F7FF"/>
                </a:solidFill>
                <a:latin typeface="Courier New"/>
              </a:rPr>
              <a:t>02  chair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84064" y="3063240"/>
            <a:ext cx="1938528" cy="384048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212079" y="3154680"/>
            <a:ext cx="1737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0F7FF"/>
                </a:solidFill>
                <a:latin typeface="Courier New"/>
              </a:rPr>
              <a:t>03  couch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96912" y="3063240"/>
            <a:ext cx="1938528" cy="384048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24927" y="3154680"/>
            <a:ext cx="1737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0F7FF"/>
                </a:solidFill>
                <a:latin typeface="Courier New"/>
              </a:rPr>
              <a:t>04  bed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60" y="3063240"/>
            <a:ext cx="1938528" cy="384048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37776" y="3154680"/>
            <a:ext cx="1737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0F7FF"/>
                </a:solidFill>
                <a:latin typeface="Courier New"/>
              </a:rPr>
              <a:t>05  dining table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3721608"/>
            <a:ext cx="1938528" cy="384048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6384" y="3813048"/>
            <a:ext cx="1737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0F7FF"/>
                </a:solidFill>
                <a:latin typeface="Courier New"/>
              </a:rPr>
              <a:t>06  toilet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871215" y="3721608"/>
            <a:ext cx="1938528" cy="384048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999232" y="3813048"/>
            <a:ext cx="1737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0F7FF"/>
                </a:solidFill>
                <a:latin typeface="Courier New"/>
              </a:rPr>
              <a:t>07  tv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84064" y="3721608"/>
            <a:ext cx="1938528" cy="384048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212079" y="3813048"/>
            <a:ext cx="1737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0F7FF"/>
                </a:solidFill>
                <a:latin typeface="Courier New"/>
              </a:rPr>
              <a:t>08  laptop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96912" y="3721608"/>
            <a:ext cx="1938528" cy="384048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424927" y="3813048"/>
            <a:ext cx="1737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0F7FF"/>
                </a:solidFill>
                <a:latin typeface="Courier New"/>
              </a:rPr>
              <a:t>09  sink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509760" y="3721608"/>
            <a:ext cx="1938528" cy="384048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637776" y="3813048"/>
            <a:ext cx="1737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0F7FF"/>
                </a:solidFill>
                <a:latin typeface="Courier New"/>
              </a:rPr>
              <a:t>10  refrigerator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475488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7DDEB"/>
                </a:solidFill>
                <a:latin typeface="Aptos"/>
              </a:rPr>
              <a:t>Evaluacion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5084064"/>
            <a:ext cx="65836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F0F7FF"/>
                </a:solidFill>
                <a:latin typeface="Courier New"/>
              </a:rPr>
              <a:t>COCO mAP50 · mAP50-95 · precision · recall · F1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18120" y="4809744"/>
            <a:ext cx="3566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DB1C9"/>
                </a:solidFill>
                <a:latin typeface="Aptos"/>
              </a:rPr>
              <a:t>Se usaron el mismo postprocesamiento y umbrales
para aislar el efecto de la geometria de entrada.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7DDEB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7DDEB"/>
                </a:solidFill>
                <a:latin typeface="Aptos"/>
              </a:rPr>
              <a:t>PANORAMICAS / DETECCION DE OBJETOS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0F7FF"/>
                </a:solidFill>
                <a:latin typeface="Aptos"/>
              </a:rPr>
              <a:t>Que cambiamos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DB1C9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70408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F0F7FF"/>
                </a:solidFill>
                <a:latin typeface="Aptos"/>
              </a:rPr>
              <a:t>Un benchmark configurable permite ejecutar el mismo
proceso de inferencia sobre dos mundos visuales.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2148840"/>
            <a:ext cx="5074920" cy="3337560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FEBA4"/>
                </a:solidFill>
                <a:latin typeface="Aptos"/>
              </a:rPr>
              <a:t>MODO NORMAL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0F7FF"/>
                </a:solidFill>
                <a:latin typeface="Courier New"/>
              </a:rPr>
              <a:t>test_images/data/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511296"/>
            <a:ext cx="73152" cy="73152"/>
          </a:xfrm>
          <a:prstGeom prst="roundRect">
            <a:avLst>
              <a:gd name="adj" fmla="val 8000"/>
            </a:avLst>
          </a:prstGeom>
          <a:solidFill>
            <a:srgbClr val="37DDEB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8" y="3401568"/>
            <a:ext cx="391363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0F7FF"/>
                </a:solidFill>
                <a:latin typeface="Aptos"/>
              </a:rPr>
              <a:t>Fotografias en perspectiva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995928"/>
            <a:ext cx="73152" cy="73152"/>
          </a:xfrm>
          <a:prstGeom prst="roundRect">
            <a:avLst>
              <a:gd name="adj" fmla="val 8000"/>
            </a:avLst>
          </a:prstGeom>
          <a:solidFill>
            <a:srgbClr val="37DDEB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24128" y="3886200"/>
            <a:ext cx="391363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0F7FF"/>
                </a:solidFill>
                <a:latin typeface="Aptos"/>
              </a:rPr>
              <a:t>Geometria de imagen estandar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480560"/>
            <a:ext cx="73152" cy="73152"/>
          </a:xfrm>
          <a:prstGeom prst="roundRect">
            <a:avLst>
              <a:gd name="adj" fmla="val 8000"/>
            </a:avLst>
          </a:prstGeom>
          <a:solidFill>
            <a:srgbClr val="37DDEB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24128" y="4370832"/>
            <a:ext cx="418795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DB1C9"/>
                </a:solidFill>
                <a:latin typeface="Aptos"/>
              </a:rPr>
              <a:t>Resultados: results/desktop.md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148840"/>
            <a:ext cx="5257800" cy="3337560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93408" y="246888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7DDEB"/>
                </a:solidFill>
                <a:latin typeface="Aptos"/>
              </a:rPr>
              <a:t>MODO PANORAMICO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3408" y="2788920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0F7FF"/>
                </a:solidFill>
                <a:latin typeface="Courier New"/>
              </a:rPr>
              <a:t>panoramic/data/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93408" y="3511296"/>
            <a:ext cx="73152" cy="73152"/>
          </a:xfrm>
          <a:prstGeom prst="roundRect">
            <a:avLst>
              <a:gd name="adj" fmla="val 8000"/>
            </a:avLst>
          </a:prstGeom>
          <a:solidFill>
            <a:srgbClr val="37DDEB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94576" y="3401568"/>
            <a:ext cx="409651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0F7FF"/>
                </a:solidFill>
                <a:latin typeface="Aptos"/>
              </a:rPr>
              <a:t>Panoramas equirectangulares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93408" y="3995928"/>
            <a:ext cx="73152" cy="73152"/>
          </a:xfrm>
          <a:prstGeom prst="roundRect">
            <a:avLst>
              <a:gd name="adj" fmla="val 8000"/>
            </a:avLst>
          </a:prstGeom>
          <a:solidFill>
            <a:srgbClr val="37DDEB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94576" y="3886200"/>
            <a:ext cx="427939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0F7FF"/>
                </a:solidFill>
                <a:latin typeface="Aptos"/>
              </a:rPr>
              <a:t>Campo de vision amplio + distorsion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93408" y="4480560"/>
            <a:ext cx="73152" cy="73152"/>
          </a:xfrm>
          <a:prstGeom prst="roundRect">
            <a:avLst>
              <a:gd name="adj" fmla="val 8000"/>
            </a:avLst>
          </a:prstGeom>
          <a:solidFill>
            <a:srgbClr val="37DDEB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94576" y="4370832"/>
            <a:ext cx="437083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9DB1C9"/>
                </a:solidFill>
                <a:latin typeface="Aptos"/>
              </a:rPr>
              <a:t>Resultados: results/panoramic_desktop.md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5925312"/>
            <a:ext cx="3383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AF56"/>
                </a:solidFill>
                <a:latin typeface="Courier New"/>
              </a:rPr>
              <a:t>benchmark_config.json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7DDEB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7DDEB"/>
                </a:solidFill>
                <a:latin typeface="Aptos"/>
              </a:rPr>
              <a:t>01 / REPRESENTACION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0F7FF"/>
                </a:solidFill>
                <a:latin typeface="Aptos"/>
              </a:rPr>
              <a:t>El problema geometrico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DB1C9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88720"/>
            <a:ext cx="6949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rgbClr val="F0F7FF"/>
                </a:solidFill>
                <a:latin typeface="Aptos"/>
              </a:rPr>
              <a:t>Una </a:t>
            </a:r>
            <a:r>
              <a:rPr sz="2000" b="0" dirty="0" err="1">
                <a:solidFill>
                  <a:srgbClr val="F0F7FF"/>
                </a:solidFill>
                <a:latin typeface="Aptos"/>
              </a:rPr>
              <a:t>escena</a:t>
            </a:r>
            <a:r>
              <a:rPr sz="2000" b="0" dirty="0">
                <a:solidFill>
                  <a:srgbClr val="F0F7FF"/>
                </a:solidFill>
                <a:latin typeface="Aptos"/>
              </a:rPr>
              <a:t> de 360 </a:t>
            </a:r>
            <a:r>
              <a:rPr sz="2000" b="0" dirty="0" err="1">
                <a:solidFill>
                  <a:srgbClr val="F0F7FF"/>
                </a:solidFill>
                <a:latin typeface="Aptos"/>
              </a:rPr>
              <a:t>grados</a:t>
            </a:r>
            <a:r>
              <a:rPr sz="2000" b="0" dirty="0">
                <a:solidFill>
                  <a:srgbClr val="F0F7FF"/>
                </a:solidFill>
                <a:latin typeface="Aptos"/>
              </a:rPr>
              <a:t> se </a:t>
            </a:r>
            <a:r>
              <a:rPr sz="2000" b="0" dirty="0" err="1">
                <a:solidFill>
                  <a:srgbClr val="F0F7FF"/>
                </a:solidFill>
                <a:latin typeface="Aptos"/>
              </a:rPr>
              <a:t>despliega</a:t>
            </a:r>
            <a:r>
              <a:rPr sz="2000" b="0" dirty="0">
                <a:solidFill>
                  <a:srgbClr val="F0F7FF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F0F7FF"/>
                </a:solidFill>
                <a:latin typeface="Aptos"/>
              </a:rPr>
              <a:t>sobre</a:t>
            </a:r>
            <a:r>
              <a:rPr sz="2000" b="0" dirty="0">
                <a:solidFill>
                  <a:srgbClr val="F0F7FF"/>
                </a:solidFill>
                <a:latin typeface="Aptos"/>
              </a:rPr>
              <a:t> un </a:t>
            </a:r>
            <a:r>
              <a:rPr sz="2000" b="0" dirty="0" err="1">
                <a:solidFill>
                  <a:srgbClr val="F0F7FF"/>
                </a:solidFill>
                <a:latin typeface="Aptos"/>
              </a:rPr>
              <a:t>rectangulo</a:t>
            </a:r>
            <a:r>
              <a:rPr sz="2000" b="0" dirty="0">
                <a:solidFill>
                  <a:srgbClr val="F0F7FF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F0F7FF"/>
                </a:solidFill>
                <a:latin typeface="Aptos"/>
              </a:rPr>
              <a:t>plano</a:t>
            </a:r>
            <a:r>
              <a:rPr sz="2000" b="0" dirty="0">
                <a:solidFill>
                  <a:srgbClr val="F0F7FF"/>
                </a:solidFill>
                <a:latin typeface="Aptos"/>
              </a:rPr>
              <a:t>.
El </a:t>
            </a:r>
            <a:r>
              <a:rPr sz="2000" b="0" dirty="0" err="1">
                <a:solidFill>
                  <a:srgbClr val="F0F7FF"/>
                </a:solidFill>
                <a:latin typeface="Aptos"/>
              </a:rPr>
              <a:t>modelo</a:t>
            </a:r>
            <a:r>
              <a:rPr sz="2000" b="0" dirty="0">
                <a:solidFill>
                  <a:srgbClr val="F0F7FF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F0F7FF"/>
                </a:solidFill>
                <a:latin typeface="Aptos"/>
              </a:rPr>
              <a:t>recibe</a:t>
            </a:r>
            <a:r>
              <a:rPr sz="2000" b="0" dirty="0">
                <a:solidFill>
                  <a:srgbClr val="F0F7FF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F0F7FF"/>
                </a:solidFill>
                <a:latin typeface="Aptos"/>
              </a:rPr>
              <a:t>pixeles</a:t>
            </a:r>
            <a:r>
              <a:rPr sz="2000" b="0" dirty="0">
                <a:solidFill>
                  <a:srgbClr val="F0F7FF"/>
                </a:solidFill>
                <a:latin typeface="Aptos"/>
              </a:rPr>
              <a:t>, no </a:t>
            </a:r>
            <a:r>
              <a:rPr sz="2000" b="0" dirty="0" err="1">
                <a:solidFill>
                  <a:srgbClr val="F0F7FF"/>
                </a:solidFill>
                <a:latin typeface="Aptos"/>
              </a:rPr>
              <a:t>coordenadas</a:t>
            </a:r>
            <a:r>
              <a:rPr sz="2000" b="0" dirty="0">
                <a:solidFill>
                  <a:srgbClr val="F0F7FF"/>
                </a:solidFill>
                <a:latin typeface="Aptos"/>
              </a:rPr>
              <a:t> </a:t>
            </a:r>
            <a:r>
              <a:rPr sz="2000" b="0" dirty="0" err="1">
                <a:solidFill>
                  <a:srgbClr val="F0F7FF"/>
                </a:solidFill>
                <a:latin typeface="Aptos"/>
              </a:rPr>
              <a:t>esfericas</a:t>
            </a:r>
            <a:r>
              <a:rPr sz="2000" b="0" dirty="0">
                <a:solidFill>
                  <a:srgbClr val="F0F7FF"/>
                </a:solidFill>
                <a:latin typeface="Aptos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240280"/>
            <a:ext cx="6537960" cy="2331720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487168"/>
            <a:ext cx="3291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7DDEB"/>
                </a:solidFill>
                <a:latin typeface="Aptos"/>
              </a:rPr>
              <a:t>PROYECCION EQUIRECTANGULAR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2926080"/>
            <a:ext cx="13716" cy="1170432"/>
          </a:xfrm>
          <a:prstGeom prst="rect">
            <a:avLst/>
          </a:prstGeom>
          <a:solidFill>
            <a:srgbClr val="2A425E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618488" y="2926080"/>
            <a:ext cx="13716" cy="1170432"/>
          </a:xfrm>
          <a:prstGeom prst="rect">
            <a:avLst/>
          </a:prstGeom>
          <a:solidFill>
            <a:srgbClr val="2A425E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276856" y="2926080"/>
            <a:ext cx="13716" cy="1170432"/>
          </a:xfrm>
          <a:prstGeom prst="rect">
            <a:avLst/>
          </a:prstGeom>
          <a:solidFill>
            <a:srgbClr val="2A425E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935224" y="2926080"/>
            <a:ext cx="13716" cy="1170432"/>
          </a:xfrm>
          <a:prstGeom prst="rect">
            <a:avLst/>
          </a:prstGeom>
          <a:solidFill>
            <a:srgbClr val="2A425E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93591" y="2926080"/>
            <a:ext cx="13716" cy="1170432"/>
          </a:xfrm>
          <a:prstGeom prst="rect">
            <a:avLst/>
          </a:prstGeom>
          <a:solidFill>
            <a:srgbClr val="2A425E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51959" y="2926080"/>
            <a:ext cx="13716" cy="1170432"/>
          </a:xfrm>
          <a:prstGeom prst="rect">
            <a:avLst/>
          </a:prstGeom>
          <a:solidFill>
            <a:srgbClr val="2A425E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910328" y="2926080"/>
            <a:ext cx="13716" cy="1170432"/>
          </a:xfrm>
          <a:prstGeom prst="rect">
            <a:avLst/>
          </a:prstGeom>
          <a:solidFill>
            <a:srgbClr val="2A425E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568696" y="2926080"/>
            <a:ext cx="13716" cy="1170432"/>
          </a:xfrm>
          <a:prstGeom prst="rect">
            <a:avLst/>
          </a:prstGeom>
          <a:solidFill>
            <a:srgbClr val="2A425E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27064" y="2926080"/>
            <a:ext cx="13716" cy="1170432"/>
          </a:xfrm>
          <a:prstGeom prst="rect">
            <a:avLst/>
          </a:prstGeom>
          <a:solidFill>
            <a:srgbClr val="2A425E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60120" y="2926080"/>
            <a:ext cx="5440680" cy="13716"/>
          </a:xfrm>
          <a:prstGeom prst="rect">
            <a:avLst/>
          </a:prstGeom>
          <a:solidFill>
            <a:srgbClr val="2A425E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60120" y="3310128"/>
            <a:ext cx="5440680" cy="13716"/>
          </a:xfrm>
          <a:prstGeom prst="rect">
            <a:avLst/>
          </a:prstGeom>
          <a:solidFill>
            <a:srgbClr val="2A425E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60120" y="3694176"/>
            <a:ext cx="5440680" cy="13716"/>
          </a:xfrm>
          <a:prstGeom prst="rect">
            <a:avLst/>
          </a:prstGeom>
          <a:solidFill>
            <a:srgbClr val="2A425E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60120" y="4078224"/>
            <a:ext cx="5440680" cy="13716"/>
          </a:xfrm>
          <a:prstGeom prst="rect">
            <a:avLst/>
          </a:prstGeom>
          <a:solidFill>
            <a:srgbClr val="2A425E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143000" y="3218688"/>
            <a:ext cx="1078992" cy="530352"/>
          </a:xfrm>
          <a:prstGeom prst="roundRect">
            <a:avLst>
              <a:gd name="adj" fmla="val 8000"/>
            </a:avLst>
          </a:prstGeom>
          <a:solidFill>
            <a:srgbClr val="37DDEB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43000" y="3374136"/>
            <a:ext cx="10789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80F1E"/>
                </a:solidFill>
                <a:latin typeface="Courier New"/>
              </a:rPr>
              <a:t>objeto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36592" y="301752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FAF56"/>
          </a:solidFill>
          <a:ln>
            <a:solidFill>
              <a:srgbClr val="FFA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36592" y="3227832"/>
            <a:ext cx="14173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80F1E"/>
                </a:solidFill>
                <a:latin typeface="Courier New"/>
              </a:rPr>
              <a:t>objeto
estirado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4233672"/>
            <a:ext cx="2103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DB1C9"/>
                </a:solidFill>
                <a:latin typeface="Aptos"/>
              </a:rPr>
              <a:t>centro del panorama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4233672"/>
            <a:ext cx="1645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9DB1C9"/>
                </a:solidFill>
                <a:latin typeface="Aptos"/>
              </a:rPr>
              <a:t>borde / polo de proyeccion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35240" y="2441448"/>
            <a:ext cx="73152" cy="73152"/>
          </a:xfrm>
          <a:prstGeom prst="roundRect">
            <a:avLst>
              <a:gd name="adj" fmla="val 8000"/>
            </a:avLst>
          </a:prstGeom>
          <a:solidFill>
            <a:srgbClr val="37DDEB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36408" y="2331720"/>
            <a:ext cx="363931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0F7FF"/>
                </a:solidFill>
                <a:latin typeface="Aptos"/>
              </a:rPr>
              <a:t>La escala horizontal cambia con la latitud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35240" y="3081528"/>
            <a:ext cx="73152" cy="73152"/>
          </a:xfrm>
          <a:prstGeom prst="roundRect">
            <a:avLst>
              <a:gd name="adj" fmla="val 8000"/>
            </a:avLst>
          </a:prstGeom>
          <a:solidFill>
            <a:srgbClr val="FFAF56"/>
          </a:solidFill>
          <a:ln>
            <a:solidFill>
              <a:srgbClr val="FFA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836408" y="2971800"/>
            <a:ext cx="363931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0F7FF"/>
                </a:solidFill>
                <a:latin typeface="Aptos"/>
              </a:rPr>
              <a:t>Las lineas rectas pueden curvarse o estirarse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35240" y="3721608"/>
            <a:ext cx="73152" cy="73152"/>
          </a:xfrm>
          <a:prstGeom prst="roundRect">
            <a:avLst>
              <a:gd name="adj" fmla="val 8000"/>
            </a:avLst>
          </a:prstGeom>
          <a:solidFill>
            <a:srgbClr val="FF6877"/>
          </a:solidFill>
          <a:ln>
            <a:solidFill>
              <a:srgbClr val="FF68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836408" y="3611880"/>
            <a:ext cx="368503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0F7FF"/>
                </a:solidFill>
                <a:latin typeface="Aptos"/>
              </a:rPr>
              <a:t>Un objeto puede adoptar formas muy distintas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35240" y="4361688"/>
            <a:ext cx="73152" cy="73152"/>
          </a:xfrm>
          <a:prstGeom prst="roundRect">
            <a:avLst>
              <a:gd name="adj" fmla="val 8000"/>
            </a:avLst>
          </a:prstGeom>
          <a:solidFill>
            <a:srgbClr val="6FEBA4"/>
          </a:solidFill>
          <a:ln>
            <a:solidFill>
              <a:srgbClr val="6FE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836408" y="4251960"/>
            <a:ext cx="363931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0F7FF"/>
                </a:solidFill>
                <a:latin typeface="Aptos"/>
              </a:rPr>
              <a:t>Los patrones aprendidos son menos fiables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7DDEB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7DDEB"/>
                </a:solidFill>
                <a:latin typeface="Aptos"/>
              </a:rPr>
              <a:t>03 / PROCESO DE INFERENCIA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0F7FF"/>
                </a:solidFill>
                <a:latin typeface="Aptos"/>
              </a:rPr>
              <a:t>De los pixeles a la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DB1C9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783080" cy="1444752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202996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7DDEB"/>
                </a:solidFill>
                <a:latin typeface="Courier New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14016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0F7FF"/>
                </a:solidFill>
                <a:latin typeface="Aptos Display"/>
              </a:rPr>
              <a:t>cargar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862072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DB1C9"/>
                </a:solidFill>
                <a:latin typeface="Courier New"/>
              </a:rPr>
              <a:t>imagen JPEG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450592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6FEBA4"/>
                </a:solidFill>
                <a:latin typeface="Courier New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7791" y="1874519"/>
            <a:ext cx="1783080" cy="1444752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63239" y="202996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7DDEB"/>
                </a:solidFill>
                <a:latin typeface="Courier New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39" y="2414016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0F7FF"/>
                </a:solidFill>
                <a:latin typeface="Aptos Display"/>
              </a:rPr>
              <a:t>letterbox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39" y="2862072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DB1C9"/>
                </a:solidFill>
                <a:latin typeface="Courier New"/>
              </a:rPr>
              <a:t>640 × 640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2312" y="2450592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6FEBA4"/>
                </a:solidFill>
                <a:latin typeface="Courier New"/>
              </a:rP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75504" y="1874519"/>
            <a:ext cx="1783080" cy="1444752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30952" y="202996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7DDEB"/>
                </a:solidFill>
                <a:latin typeface="Courier New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0952" y="2414016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0F7FF"/>
                </a:solidFill>
                <a:latin typeface="Aptos Display"/>
              </a:rPr>
              <a:t>inferir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0952" y="2862072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DB1C9"/>
                </a:solidFill>
                <a:latin typeface="Courier New"/>
              </a:rPr>
              <a:t>TFLite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0024" y="2450592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6FEBA4"/>
                </a:solidFill>
                <a:latin typeface="Courier New"/>
              </a:rP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43215" y="1874519"/>
            <a:ext cx="1783080" cy="1444752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98663" y="202996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7DDEB"/>
                </a:solidFill>
                <a:latin typeface="Courier New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98663" y="2414016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0F7FF"/>
                </a:solidFill>
                <a:latin typeface="Aptos Display"/>
              </a:rPr>
              <a:t>filtrar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98663" y="2862072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DB1C9"/>
                </a:solidFill>
                <a:latin typeface="Courier New"/>
              </a:rPr>
              <a:t>confianza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7735" y="2450592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6FEBA4"/>
                </a:solidFill>
                <a:latin typeface="Courier New"/>
              </a:rPr>
              <a:t>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10928" y="1874519"/>
            <a:ext cx="1783080" cy="1444752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66376" y="202996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7DDEB"/>
                </a:solidFill>
                <a:latin typeface="Courier New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66376" y="2414016"/>
            <a:ext cx="1417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0F7FF"/>
                </a:solidFill>
                <a:latin typeface="Aptos Display"/>
              </a:rPr>
              <a:t>NMS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66376" y="2862072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9DB1C9"/>
                </a:solidFill>
                <a:latin typeface="Courier New"/>
              </a:rPr>
              <a:t>cajas finales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114800"/>
            <a:ext cx="10927080" cy="1115568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4389120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AF56"/>
                </a:solidFill>
                <a:latin typeface="Aptos"/>
              </a:rPr>
              <a:t>EFECTO PANORAMICO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71800" y="4315968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0F7FF"/>
                </a:solidFill>
                <a:latin typeface="Aptos"/>
              </a:rPr>
              <a:t>La distorsion aparece antes de la inferencia. Una vez aplicado el letterbox,
la red interpreta evidencia estirada usando patrones de imagen en perspectiva.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7DDEB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7DDEB"/>
                </a:solidFill>
                <a:latin typeface="Aptos"/>
              </a:rPr>
              <a:t>04 / ENTRADA LETTERBOX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0F7FF"/>
                </a:solidFill>
                <a:latin typeface="Aptos"/>
              </a:rPr>
              <a:t>Que recibe realmente el modelo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DB1C9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15568"/>
            <a:ext cx="8686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F0F7FF"/>
                </a:solidFill>
                <a:latin typeface="Aptos"/>
              </a:rPr>
              <a:t>Este ejemplo corresponde al preprocesamiento de YOLOv8s y YOLO11n: la imagen se centra en un lienzo de 640 × 640 pixeles.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5257800" cy="3383280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176272"/>
            <a:ext cx="4480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7DDEB"/>
                </a:solidFill>
                <a:latin typeface="Courier New"/>
              </a:rPr>
              <a:t>IMAGEN PANORAMICA ORIGINAL</a:t>
            </a:r>
          </a:p>
        </p:txBody>
      </p:sp>
      <p:pic>
        <p:nvPicPr>
          <p:cNvPr id="9" name="Picture 8" descr="bathroom_jpg.rf.K4s6QY4N1fVIsazeojz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542032"/>
            <a:ext cx="4663440" cy="23317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263640" y="1965960"/>
            <a:ext cx="5257800" cy="3383280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2176272"/>
            <a:ext cx="4480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AF56"/>
                </a:solidFill>
                <a:latin typeface="Courier New"/>
              </a:rPr>
              <a:t>ENTRADA YOLO: 640 × 640</a:t>
            </a:r>
          </a:p>
        </p:txBody>
      </p:sp>
      <p:pic>
        <p:nvPicPr>
          <p:cNvPr id="12" name="Picture 11" descr="bathroom_letterbox_6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2108" y="2542032"/>
            <a:ext cx="2331720" cy="23317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" y="5650992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9DB1C9"/>
                </a:solidFill>
                <a:latin typeface="Courier New"/>
              </a:rPr>
              <a:t>El area gris es padding. EfficientDet-Lite2 usa 448 × 448 y SSD MobileNetV1 usa 300 × 300.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7DDEB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7DDEB"/>
                </a:solidFill>
                <a:latin typeface="Aptos"/>
              </a:rPr>
              <a:t>05 / 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0F7FF"/>
                </a:solidFill>
                <a:latin typeface="Aptos"/>
              </a:rPr>
              <a:t>Impacto medido: normal vs panoramico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DB1C9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170432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0F7FF"/>
                </a:solidFill>
                <a:latin typeface="Aptos"/>
              </a:rPr>
              <a:t>El mAP50 baja para todos los modelos en el benchmark panoramico.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28800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DB1C9"/>
                </a:solidFill>
                <a:latin typeface="Courier New"/>
              </a:rPr>
              <a:t>MODELO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828800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DB1C9"/>
                </a:solidFill>
                <a:latin typeface="Courier New"/>
              </a:rPr>
              <a:t>NORMAL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1828800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DB1C9"/>
                </a:solidFill>
                <a:latin typeface="Courier New"/>
              </a:rPr>
              <a:t>PANORAMICO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828800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DB1C9"/>
                </a:solidFill>
                <a:latin typeface="Courier New"/>
              </a:rPr>
              <a:t>CAMBIO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72600" y="1828800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9DB1C9"/>
                </a:solidFill>
                <a:latin typeface="Courier New"/>
              </a:rPr>
              <a:t>CAMBIO EN RECALL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112264"/>
            <a:ext cx="10927080" cy="530352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0F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249424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0F7FF"/>
                </a:solidFill>
                <a:latin typeface="Aptos"/>
              </a:rPr>
              <a:t>YOLOv8s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249424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FEBA4"/>
                </a:solidFill>
                <a:latin typeface="Courier New"/>
              </a:rPr>
              <a:t>0.642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2249424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FEBA4"/>
                </a:solidFill>
                <a:latin typeface="Courier New"/>
              </a:rPr>
              <a:t>0.499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2249424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6877"/>
                </a:solidFill>
                <a:latin typeface="Courier New"/>
              </a:rPr>
              <a:t>-0.143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2249424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6877"/>
                </a:solidFill>
                <a:latin typeface="Courier New"/>
              </a:rPr>
              <a:t>-0.220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2798064"/>
            <a:ext cx="10927080" cy="530352"/>
          </a:xfrm>
          <a:prstGeom prst="roundRect">
            <a:avLst>
              <a:gd name="adj" fmla="val 8000"/>
            </a:avLst>
          </a:prstGeom>
          <a:solidFill>
            <a:srgbClr val="080F1E"/>
          </a:solidFill>
          <a:ln>
            <a:solidFill>
              <a:srgbClr val="08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2935224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0F7FF"/>
                </a:solidFill>
                <a:latin typeface="Aptos"/>
              </a:rPr>
              <a:t>YOLO11n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2935224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FEBA4"/>
                </a:solidFill>
                <a:latin typeface="Courier New"/>
              </a:rPr>
              <a:t>0.615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3560" y="2935224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7DDEB"/>
                </a:solidFill>
                <a:latin typeface="Courier New"/>
              </a:rPr>
              <a:t>0.402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2935224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6877"/>
                </a:solidFill>
                <a:latin typeface="Courier New"/>
              </a:rPr>
              <a:t>-0.213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2935224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6877"/>
                </a:solidFill>
                <a:latin typeface="Courier New"/>
              </a:rPr>
              <a:t>-0.304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483864"/>
            <a:ext cx="10927080" cy="530352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0F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3621024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0F7FF"/>
                </a:solidFill>
                <a:latin typeface="Aptos"/>
              </a:rPr>
              <a:t>SSD MobileNet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3621024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FEBA4"/>
                </a:solidFill>
                <a:latin typeface="Courier New"/>
              </a:rPr>
              <a:t>0.518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23560" y="3621024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AF56"/>
                </a:solidFill>
                <a:latin typeface="Courier New"/>
              </a:rPr>
              <a:t>0.100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3621024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6877"/>
                </a:solidFill>
                <a:latin typeface="Courier New"/>
              </a:rPr>
              <a:t>-0.418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3621024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6877"/>
                </a:solidFill>
                <a:latin typeface="Courier New"/>
              </a:rPr>
              <a:t>-0.430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169663"/>
            <a:ext cx="10927080" cy="530352"/>
          </a:xfrm>
          <a:prstGeom prst="roundRect">
            <a:avLst>
              <a:gd name="adj" fmla="val 8000"/>
            </a:avLst>
          </a:prstGeom>
          <a:solidFill>
            <a:srgbClr val="080F1E"/>
          </a:solidFill>
          <a:ln>
            <a:solidFill>
              <a:srgbClr val="08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4306824"/>
            <a:ext cx="2560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0F7FF"/>
                </a:solidFill>
                <a:latin typeface="Aptos"/>
              </a:rPr>
              <a:t>EfficientDet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0" y="4306824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FEBA4"/>
                </a:solidFill>
                <a:latin typeface="Courier New"/>
              </a:rPr>
              <a:t>0.648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23560" y="4306824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6877"/>
                </a:solidFill>
                <a:latin typeface="Courier New"/>
              </a:rPr>
              <a:t>0.269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4306824"/>
            <a:ext cx="914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6877"/>
                </a:solidFill>
                <a:latin typeface="Courier New"/>
              </a:rPr>
              <a:t>-0.379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4306824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6877"/>
                </a:solidFill>
                <a:latin typeface="Courier New"/>
              </a:rPr>
              <a:t>-0.457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257800"/>
            <a:ext cx="5303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7DDEB"/>
                </a:solidFill>
                <a:latin typeface="Aptos"/>
              </a:rPr>
              <a:t>Mejor mAP50 panoramico: YOLOv8s con 0.499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5257800"/>
            <a:ext cx="4846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AF56"/>
                </a:solidFill>
                <a:latin typeface="Aptos"/>
              </a:rPr>
              <a:t>Mayor caida de mAP50: EfficientDet-Lite2 (−0.379)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7DDEB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7DDEB"/>
                </a:solidFill>
                <a:latin typeface="Aptos"/>
              </a:rPr>
              <a:t>05 / INTERPRETACION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0F7FF"/>
                </a:solidFill>
                <a:latin typeface="Aptos"/>
              </a:rPr>
              <a:t>Como la distorsion cambia las decisiones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DB1C9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53312"/>
            <a:ext cx="5074920" cy="1572768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353312"/>
            <a:ext cx="73152" cy="1572768"/>
          </a:xfrm>
          <a:prstGeom prst="rect">
            <a:avLst/>
          </a:prstGeom>
          <a:solidFill>
            <a:srgbClr val="37DDEB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572768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7DDEB"/>
                </a:solidFill>
                <a:latin typeface="Courier New"/>
              </a:rPr>
              <a:t>CONFIANZA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901952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0F7FF"/>
                </a:solidFill>
                <a:latin typeface="Aptos"/>
              </a:rPr>
              <a:t>La evidencia visual es mas debil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295144"/>
            <a:ext cx="4434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DB1C9"/>
                </a:solidFill>
                <a:latin typeface="Aptos"/>
              </a:rPr>
              <a:t>El estiramiento cambia textura, bordes y proporciones. Los scores bajan o son menos estables.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53312"/>
            <a:ext cx="5074920" cy="1572768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353312"/>
            <a:ext cx="73152" cy="1572768"/>
          </a:xfrm>
          <a:prstGeom prst="rect">
            <a:avLst/>
          </a:prstGeom>
          <a:solidFill>
            <a:srgbClr val="FFAF56"/>
          </a:solidFill>
          <a:ln>
            <a:solidFill>
              <a:srgbClr val="FFA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4808" y="1572768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AF56"/>
                </a:solidFill>
                <a:latin typeface="Courier New"/>
              </a:rPr>
              <a:t>LOCALIZACION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1901952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0F7FF"/>
                </a:solidFill>
                <a:latin typeface="Aptos"/>
              </a:rPr>
              <a:t>Las cajas encajan peor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2295144"/>
            <a:ext cx="4434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DB1C9"/>
                </a:solidFill>
                <a:latin typeface="Aptos"/>
              </a:rPr>
              <a:t>Un detector entrenado con rectangulos normales ve formas desconocidas y aumenta el error de IoU.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392424"/>
            <a:ext cx="5074920" cy="1572768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4360" y="3392424"/>
            <a:ext cx="73152" cy="1572768"/>
          </a:xfrm>
          <a:prstGeom prst="rect">
            <a:avLst/>
          </a:prstGeom>
          <a:solidFill>
            <a:srgbClr val="FF6877"/>
          </a:solidFill>
          <a:ln>
            <a:solidFill>
              <a:srgbClr val="FF68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" y="361188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6877"/>
                </a:solidFill>
                <a:latin typeface="Courier New"/>
              </a:rPr>
              <a:t>RECALL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3941063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0F7FF"/>
                </a:solidFill>
                <a:latin typeface="Aptos"/>
              </a:rPr>
              <a:t>Se pierden mas objetos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334256"/>
            <a:ext cx="4434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DB1C9"/>
                </a:solidFill>
                <a:latin typeface="Aptos"/>
              </a:rPr>
              <a:t>La caida medida del recall muestra que el modelo se vuelve conservador ante objetos distorsionados.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392424"/>
            <a:ext cx="5074920" cy="1572768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2200" y="3392424"/>
            <a:ext cx="73152" cy="1572768"/>
          </a:xfrm>
          <a:prstGeom prst="rect">
            <a:avLst/>
          </a:prstGeom>
          <a:solidFill>
            <a:srgbClr val="6FEBA4"/>
          </a:solidFill>
          <a:ln>
            <a:solidFill>
              <a:srgbClr val="6FE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64808" y="361188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FEBA4"/>
                </a:solidFill>
                <a:latin typeface="Courier New"/>
              </a:rPr>
              <a:t>CLASIFICACION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8" y="3941063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0F7FF"/>
                </a:solidFill>
                <a:latin typeface="Aptos"/>
              </a:rPr>
              <a:t>Las clases similares compiten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8" y="4334256"/>
            <a:ext cx="4434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9DB1C9"/>
                </a:solidFill>
                <a:latin typeface="Aptos"/>
              </a:rPr>
              <a:t>Las pistas de silla, sofa o mesa pueden deformarse y cambiar la clase ganadora.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650992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0F7FF"/>
                </a:solidFill>
                <a:latin typeface="Aptos Display"/>
              </a:rPr>
              <a:t>Patron observado: la precision se mantiene relativamente alta en YOLO,
mientras que el recall absorbe la mayor parte de la penalizacion panoramica.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7DDEB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7DDEB"/>
                </a:solidFill>
                <a:latin typeface="Aptos"/>
              </a:rPr>
              <a:t>06 / COMPORTAMIENTO DEL MODELO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0F7FF"/>
                </a:solidFill>
                <a:latin typeface="Aptos"/>
              </a:rPr>
              <a:t>La senal mas afectada es el recall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DB1C9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7043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0F7FF"/>
                </a:solidFill>
                <a:latin typeface="Aptos"/>
              </a:rPr>
              <a:t>Comparacion de recall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64792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F7FF"/>
                </a:solidFill>
                <a:latin typeface="Aptos"/>
              </a:rPr>
              <a:t>YOLOv8s normal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15768" y="1783080"/>
            <a:ext cx="2423160" cy="219456"/>
          </a:xfrm>
          <a:prstGeom prst="roundRect">
            <a:avLst>
              <a:gd name="adj" fmla="val 8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715768" y="1783080"/>
            <a:ext cx="2174382" cy="219456"/>
          </a:xfrm>
          <a:prstGeom prst="roundRect">
            <a:avLst>
              <a:gd name="adj" fmla="val 8000"/>
            </a:avLst>
          </a:prstGeom>
          <a:solidFill>
            <a:srgbClr val="6FEBA4"/>
          </a:solidFill>
          <a:ln>
            <a:solidFill>
              <a:srgbClr val="6FE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48655" y="175564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FEBA4"/>
                </a:solidFill>
                <a:latin typeface="Aptos"/>
              </a:rPr>
              <a:t>0.673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221992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F7FF"/>
                </a:solidFill>
                <a:latin typeface="Aptos"/>
              </a:rPr>
              <a:t>YOLOv8s pano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15768" y="2240280"/>
            <a:ext cx="2423160" cy="219456"/>
          </a:xfrm>
          <a:prstGeom prst="roundRect">
            <a:avLst>
              <a:gd name="adj" fmla="val 8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715768" y="2240280"/>
            <a:ext cx="1463588" cy="219456"/>
          </a:xfrm>
          <a:prstGeom prst="roundRect">
            <a:avLst>
              <a:gd name="adj" fmla="val 8000"/>
            </a:avLst>
          </a:prstGeom>
          <a:solidFill>
            <a:srgbClr val="37DDEB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48655" y="221284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7DDEB"/>
                </a:solidFill>
                <a:latin typeface="Aptos"/>
              </a:rPr>
              <a:t>0.453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862072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F7FF"/>
                </a:solidFill>
                <a:latin typeface="Aptos"/>
              </a:rPr>
              <a:t>YOLO11n normal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15768" y="2880360"/>
            <a:ext cx="2423160" cy="219456"/>
          </a:xfrm>
          <a:prstGeom prst="roundRect">
            <a:avLst>
              <a:gd name="adj" fmla="val 8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715768" y="2880360"/>
            <a:ext cx="1999914" cy="219456"/>
          </a:xfrm>
          <a:prstGeom prst="roundRect">
            <a:avLst>
              <a:gd name="adj" fmla="val 8000"/>
            </a:avLst>
          </a:prstGeom>
          <a:solidFill>
            <a:srgbClr val="6FEBA4"/>
          </a:solidFill>
          <a:ln>
            <a:solidFill>
              <a:srgbClr val="6FE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8655" y="285292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FEBA4"/>
                </a:solidFill>
                <a:latin typeface="Aptos"/>
              </a:rPr>
              <a:t>0.619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319272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F7FF"/>
                </a:solidFill>
                <a:latin typeface="Aptos"/>
              </a:rPr>
              <a:t>YOLO11n pano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15768" y="3337560"/>
            <a:ext cx="2423160" cy="219456"/>
          </a:xfrm>
          <a:prstGeom prst="roundRect">
            <a:avLst>
              <a:gd name="adj" fmla="val 8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2715768" y="3337560"/>
            <a:ext cx="1017727" cy="219456"/>
          </a:xfrm>
          <a:prstGeom prst="roundRect">
            <a:avLst>
              <a:gd name="adj" fmla="val 8000"/>
            </a:avLst>
          </a:prstGeom>
          <a:solidFill>
            <a:srgbClr val="37DDEB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248655" y="3310128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7DDEB"/>
                </a:solidFill>
                <a:latin typeface="Aptos"/>
              </a:rPr>
              <a:t>0.315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959352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F7FF"/>
                </a:solidFill>
                <a:latin typeface="Aptos"/>
              </a:rPr>
              <a:t>SSD normal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15768" y="3977639"/>
            <a:ext cx="2423160" cy="219456"/>
          </a:xfrm>
          <a:prstGeom prst="roundRect">
            <a:avLst>
              <a:gd name="adj" fmla="val 8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2715768" y="3977639"/>
            <a:ext cx="1760829" cy="219456"/>
          </a:xfrm>
          <a:prstGeom prst="roundRect">
            <a:avLst>
              <a:gd name="adj" fmla="val 8000"/>
            </a:avLst>
          </a:prstGeom>
          <a:solidFill>
            <a:srgbClr val="6FEBA4"/>
          </a:solidFill>
          <a:ln>
            <a:solidFill>
              <a:srgbClr val="6FE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48655" y="3950207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FEBA4"/>
                </a:solidFill>
                <a:latin typeface="Aptos"/>
              </a:rPr>
              <a:t>0.545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4416552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F7FF"/>
                </a:solidFill>
                <a:latin typeface="Aptos"/>
              </a:rPr>
              <a:t>SSD pano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15768" y="4434840"/>
            <a:ext cx="2423160" cy="219456"/>
          </a:xfrm>
          <a:prstGeom prst="roundRect">
            <a:avLst>
              <a:gd name="adj" fmla="val 8000"/>
            </a:avLst>
          </a:prstGeom>
          <a:solidFill>
            <a:srgbClr val="142741"/>
          </a:solidFill>
          <a:ln>
            <a:solidFill>
              <a:srgbClr val="14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2715768" y="4434840"/>
            <a:ext cx="371551" cy="219456"/>
          </a:xfrm>
          <a:prstGeom prst="roundRect">
            <a:avLst>
              <a:gd name="adj" fmla="val 8000"/>
            </a:avLst>
          </a:prstGeom>
          <a:solidFill>
            <a:srgbClr val="37DDEB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248655" y="4407407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7DDEB"/>
                </a:solidFill>
                <a:latin typeface="Aptos"/>
              </a:rPr>
              <a:t>0.115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1417320"/>
            <a:ext cx="5074920" cy="3977639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720840" y="173736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AF56"/>
                </a:solidFill>
                <a:latin typeface="Courier New"/>
              </a:rPr>
              <a:t>Lectura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2148840"/>
            <a:ext cx="4069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0F7FF"/>
                </a:solidFill>
                <a:latin typeface="Aptos"/>
              </a:rPr>
              <a:t>YOLOv8s es la linea base mas resistente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20840" y="2990088"/>
            <a:ext cx="73152" cy="73152"/>
          </a:xfrm>
          <a:prstGeom prst="roundRect">
            <a:avLst>
              <a:gd name="adj" fmla="val 8000"/>
            </a:avLst>
          </a:prstGeom>
          <a:solidFill>
            <a:srgbClr val="37DDEB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922007" y="2880360"/>
            <a:ext cx="382219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0F7FF"/>
                </a:solidFill>
                <a:latin typeface="Aptos"/>
              </a:rPr>
              <a:t>Recall panoramico: 0.453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720840" y="3511296"/>
            <a:ext cx="73152" cy="73152"/>
          </a:xfrm>
          <a:prstGeom prst="roundRect">
            <a:avLst>
              <a:gd name="adj" fmla="val 8000"/>
            </a:avLst>
          </a:prstGeom>
          <a:solidFill>
            <a:srgbClr val="37DDEB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922007" y="3401568"/>
            <a:ext cx="382219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0F7FF"/>
                </a:solidFill>
                <a:latin typeface="Aptos"/>
              </a:rPr>
              <a:t>mAP50 panoramico: 0.499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20840" y="4032504"/>
            <a:ext cx="73152" cy="73152"/>
          </a:xfrm>
          <a:prstGeom prst="roundRect">
            <a:avLst>
              <a:gd name="adj" fmla="val 8000"/>
            </a:avLst>
          </a:prstGeom>
          <a:solidFill>
            <a:srgbClr val="6FEBA4"/>
          </a:solidFill>
          <a:ln>
            <a:solidFill>
              <a:srgbClr val="6FE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922007" y="3922776"/>
            <a:ext cx="382219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0F7FF"/>
                </a:solidFill>
                <a:latin typeface="Aptos"/>
              </a:rPr>
              <a:t>Float16 ≈ Float32 en precision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4617720"/>
            <a:ext cx="4023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DB1C9"/>
                </a:solidFill>
                <a:latin typeface="Aptos"/>
              </a:rPr>
              <a:t>Esto sugiere que el cuello de botella
es la representacion, no la cuantizacion.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7DDEB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7DDEB"/>
                </a:solidFill>
                <a:latin typeface="Aptos"/>
              </a:rPr>
              <a:t>07 / CONTEXTO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0F7FF"/>
                </a:solidFill>
                <a:latin typeface="Aptos"/>
              </a:rPr>
              <a:t>Lo que el modelo debe interpretar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DB1C9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401568" cy="3520440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WhatsApp Image 2026-08-03 at 4-05-23 PM_jpeg.rf.BsAHjQIbBibDtrvGBf6F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149125"/>
            <a:ext cx="3182111" cy="12430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7" y="4315968"/>
            <a:ext cx="29718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s-CO" sz="1300" b="1" dirty="0">
                <a:solidFill>
                  <a:srgbClr val="F0F7FF"/>
                </a:solidFill>
                <a:latin typeface="Aptos"/>
              </a:rPr>
              <a:t>Contexto de escena amplia</a:t>
            </a:r>
            <a:endParaRPr sz="1300" b="1" dirty="0">
              <a:solidFill>
                <a:srgbClr val="F0F7FF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1247" y="4617720"/>
            <a:ext cx="2971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DB1C9"/>
                </a:solidFill>
                <a:latin typeface="Courier New"/>
              </a:rPr>
              <a:t>entrada equirectangular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1325880"/>
            <a:ext cx="3401568" cy="3520440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cabi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856" y="1975104"/>
            <a:ext cx="3182111" cy="159105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54296" y="4315968"/>
            <a:ext cx="29718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s-CO" sz="1300" b="1" dirty="0">
                <a:solidFill>
                  <a:srgbClr val="F0F7FF"/>
                </a:solidFill>
                <a:latin typeface="Aptos"/>
              </a:rPr>
              <a:t>Contexto de escena amplia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4617720"/>
            <a:ext cx="2971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DB1C9"/>
                </a:solidFill>
                <a:latin typeface="Courier New"/>
              </a:rPr>
              <a:t>entrada equirectangular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66175" y="1325880"/>
            <a:ext cx="3401568" cy="3520440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WhatsApp Image 2026-07-24 at 12-12-20 PM(1)_jpeg.rf.paJMlbkDj1yVsnde9xu0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3" y="2390948"/>
            <a:ext cx="3182112" cy="75936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467344" y="4315968"/>
            <a:ext cx="297180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s-CO" sz="1300" b="1" dirty="0">
                <a:solidFill>
                  <a:srgbClr val="F0F7FF"/>
                </a:solidFill>
                <a:latin typeface="Aptos"/>
              </a:rPr>
              <a:t>Contexto de escena amplia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7344" y="4617720"/>
            <a:ext cx="2971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DB1C9"/>
                </a:solidFill>
                <a:latin typeface="Courier New"/>
              </a:rPr>
              <a:t>entrada equirectangular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623560"/>
            <a:ext cx="107899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37DDEB"/>
                </a:solidFill>
                <a:latin typeface="Aptos Display"/>
              </a:rPr>
              <a:t>La misma clase puede verse compacta en una region y estirada en otra.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7DDEB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7DDEB"/>
                </a:solidFill>
                <a:latin typeface="Aptos"/>
              </a:rPr>
              <a:t>09 / RESULTADO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0F7FF"/>
                </a:solidFill>
                <a:latin typeface="Aptos"/>
              </a:rPr>
              <a:t>Imagen original frente a detecciones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DB1C9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15568"/>
            <a:ext cx="7863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F0F7FF"/>
                </a:solidFill>
                <a:latin typeface="Aptos"/>
              </a:rPr>
              <a:t>La visualizacion permite observar como el modelo convierte la escena
panoramica en decisiones concretas: clase, caja y confianza.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5257800" cy="3383280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176272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7DDEB"/>
                </a:solidFill>
                <a:latin typeface="Courier New"/>
              </a:rPr>
              <a:t>ORIGINAL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746" y="2747057"/>
            <a:ext cx="4917322" cy="192166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263640" y="1965960"/>
            <a:ext cx="5257800" cy="3383280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2176272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FEBA4"/>
                </a:solidFill>
                <a:latin typeface="Courier New"/>
              </a:rPr>
              <a:t>CON CAJAS PREDICHAS</a:t>
            </a:r>
          </a:p>
        </p:txBody>
      </p:sp>
      <p:pic>
        <p:nvPicPr>
          <p:cNvPr id="12" name="Picture 11" descr="WhatsApp Image 2026-08-03 at 4-05-23 PM_jpeg.rf.BsAHjQIbBibDtrvGBf6F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1" y="2747057"/>
            <a:ext cx="4919472" cy="19216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" y="5687568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9DB1C9"/>
                </a:solidFill>
                <a:latin typeface="Courier New"/>
              </a:rPr>
              <a:t>YOLO11n Float16 · umbral de confianza aplicado · salida sobre la misma imagen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7DDEB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5029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7DDEB"/>
                </a:solidFill>
                <a:latin typeface="Aptos"/>
              </a:rPr>
              <a:t>10 / RESULTADO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0F7FF"/>
                </a:solidFill>
                <a:latin typeface="Aptos"/>
              </a:rPr>
              <a:t>Imagen original frente a detecciones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22860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9DB1C9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15568"/>
            <a:ext cx="7863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F0F7FF"/>
                </a:solidFill>
                <a:latin typeface="Aptos"/>
              </a:rPr>
              <a:t>La visualizacion permite observar como el modelo convierte la escena
panoramica en decisiones concretas: clase, caja y confianza.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65960"/>
            <a:ext cx="5257800" cy="3383280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176272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7DDEB"/>
                </a:solidFill>
                <a:latin typeface="Courier New"/>
              </a:rPr>
              <a:t>ORIGINAL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056" y="3120909"/>
            <a:ext cx="4870702" cy="117396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263640" y="1965960"/>
            <a:ext cx="5257800" cy="3383280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2176272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FEBA4"/>
                </a:solidFill>
                <a:latin typeface="Courier New"/>
              </a:rPr>
              <a:t>CON CAJAS PREDICHAS</a:t>
            </a:r>
          </a:p>
        </p:txBody>
      </p:sp>
      <p:pic>
        <p:nvPicPr>
          <p:cNvPr id="12" name="Picture 11" descr="WhatsApp Image 2026-07-24 at 12-12-20 PM(1)_jpeg.rf.paJMlbkDj1yVsnde9xu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1" y="3120909"/>
            <a:ext cx="4919472" cy="11739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" y="5687568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9DB1C9"/>
                </a:solidFill>
                <a:latin typeface="Courier New"/>
              </a:rPr>
              <a:t>YOLO11n Float16 · umbral de confianza aplicado · salida sobre la misma imagen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7DDEB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20116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00" b="1">
                <a:solidFill>
                  <a:srgbClr val="37DDEB"/>
                </a:solidFill>
                <a:latin typeface="Aptos"/>
              </a:rPr>
              <a:t>12 /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01168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1">
                <a:solidFill>
                  <a:srgbClr val="9DB1C9"/>
                </a:solidFill>
                <a:latin typeface="Aptos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0F7FF"/>
                </a:solidFill>
                <a:latin typeface="Aptos"/>
              </a:rPr>
              <a:t>Conclusiones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234440"/>
            <a:ext cx="9921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0F7FF"/>
                </a:solidFill>
                <a:latin typeface="Aptos"/>
              </a:rPr>
              <a:t>La deteccion panoramica no es solo un problema de imagen mas grande.
Es un cambio de dominio causado por la geometria.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447" y="2423160"/>
            <a:ext cx="3401568" cy="2487168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447" y="2423160"/>
            <a:ext cx="3401568" cy="73152"/>
          </a:xfrm>
          <a:prstGeom prst="rect">
            <a:avLst/>
          </a:prstGeom>
          <a:solidFill>
            <a:srgbClr val="37DDEB"/>
          </a:solidFill>
          <a:ln>
            <a:solidFill>
              <a:srgbClr val="37DD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327" y="2697480"/>
            <a:ext cx="30358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37DDEB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047" y="3127248"/>
            <a:ext cx="2944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0F7FF"/>
                </a:solidFill>
                <a:latin typeface="Aptos"/>
              </a:rPr>
              <a:t>YOLOv8s es el mejor
punto de partida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047" y="4005072"/>
            <a:ext cx="294436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9DB1C9"/>
                </a:solidFill>
                <a:latin typeface="Aptos"/>
              </a:rPr>
              <a:t>mAP50 0.499 y F1 0.561
en el conjunto panoramico.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5063" y="2423160"/>
            <a:ext cx="3401568" cy="2487168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5063" y="2423160"/>
            <a:ext cx="3401568" cy="73152"/>
          </a:xfrm>
          <a:prstGeom prst="rect">
            <a:avLst/>
          </a:prstGeom>
          <a:solidFill>
            <a:srgbClr val="FFAF56"/>
          </a:solidFill>
          <a:ln>
            <a:solidFill>
              <a:srgbClr val="FFA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7943" y="2697480"/>
            <a:ext cx="30358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AF56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3663" y="3127248"/>
            <a:ext cx="2944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0F7FF"/>
                </a:solidFill>
                <a:latin typeface="Aptos"/>
              </a:rPr>
              <a:t>El recall es la senal
de alerta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3663" y="4005072"/>
            <a:ext cx="294436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9DB1C9"/>
                </a:solidFill>
                <a:latin typeface="Aptos"/>
              </a:rPr>
              <a:t>Los modelos pierden mas objetos
aunque la precision siga competitiva.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0679" y="2423160"/>
            <a:ext cx="3401568" cy="2487168"/>
          </a:xfrm>
          <a:prstGeom prst="roundRect">
            <a:avLst>
              <a:gd name="adj" fmla="val 8000"/>
            </a:avLst>
          </a:prstGeom>
          <a:solidFill>
            <a:srgbClr val="0F1C31"/>
          </a:solidFill>
          <a:ln>
            <a:solidFill>
              <a:srgbClr val="2A42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0679" y="2423160"/>
            <a:ext cx="3401568" cy="73152"/>
          </a:xfrm>
          <a:prstGeom prst="rect">
            <a:avLst/>
          </a:prstGeom>
          <a:solidFill>
            <a:srgbClr val="6FEBA4"/>
          </a:solidFill>
          <a:ln>
            <a:solidFill>
              <a:srgbClr val="6FE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3559" y="2697480"/>
            <a:ext cx="30358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6FEBA4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9279" y="3127248"/>
            <a:ext cx="2944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0F7FF"/>
                </a:solidFill>
                <a:latin typeface="Aptos"/>
              </a:rPr>
              <a:t>Float16 no es el
problema principal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9279" y="4005072"/>
            <a:ext cx="2944368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9DB1C9"/>
                </a:solidFill>
                <a:latin typeface="Aptos"/>
              </a:rPr>
              <a:t>La precision casi no cambia
entre Float32 y Float16.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669280"/>
            <a:ext cx="10927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6FEBA4"/>
                </a:solidFill>
                <a:latin typeface="Aptos"/>
              </a:rPr>
              <a:t>MODELO SELECCIONADO: EFFICIENTDET-LITE2 · MODO NORMAL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908</Words>
  <Application>Microsoft Office PowerPoint</Application>
  <PresentationFormat>Panorámica</PresentationFormat>
  <Paragraphs>202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DIOMEDES FARID CERDA LEON</cp:lastModifiedBy>
  <cp:revision>3</cp:revision>
  <dcterms:created xsi:type="dcterms:W3CDTF">2013-01-27T09:14:16Z</dcterms:created>
  <dcterms:modified xsi:type="dcterms:W3CDTF">2026-08-06T20:35:35Z</dcterms:modified>
  <cp:category/>
</cp:coreProperties>
</file>