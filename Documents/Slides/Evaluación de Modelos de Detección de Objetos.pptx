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Lst>
  <p:sldSz cy="6858000" cx="12192000"/>
  <p:notesSz cx="6858000" cy="9144000"/>
  <p:embeddedFontLst>
    <p:embeddedFont>
      <p:font typeface="Poppins"/>
      <p:regular r:id="rId34"/>
      <p:bold r:id="rId35"/>
      <p:italic r:id="rId36"/>
      <p:boldItalic r:id="rId37"/>
    </p:embeddedFont>
    <p:embeddedFont>
      <p:font typeface="Poppins SemiBold"/>
      <p:regular r:id="rId38"/>
      <p:bold r:id="rId39"/>
      <p:italic r:id="rId40"/>
      <p:boldItalic r:id="rId41"/>
    </p:embeddedFont>
    <p:embeddedFont>
      <p:font typeface="Poppins ExtraBold"/>
      <p:bold r:id="rId42"/>
      <p:boldItalic r:id="rId4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D35CD50D-5DEC-44B7-953A-13B2CB2A3B47}">
  <a:tblStyle styleId="{D35CD50D-5DEC-44B7-953A-13B2CB2A3B47}"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 styleId="{73BF9BE0-EF4A-4F0A-BF5C-C545904F7FFB}" styleName="Table_1">
    <a:wholeTbl>
      <a:tcTxStyle b="off" i="off">
        <a:font>
          <a:latin typeface="Calibri"/>
          <a:ea typeface="Calibri"/>
          <a:cs typeface="Calibri"/>
        </a:font>
        <a:schemeClr val="dk1"/>
      </a:tcTxStyle>
      <a:tcStyle>
        <a:tcBdr>
          <a:left>
            <a:ln cap="flat" cmpd="sng" w="12700">
              <a:solidFill>
                <a:schemeClr val="lt1"/>
              </a:solidFill>
              <a:prstDash val="solid"/>
              <a:round/>
              <a:headEnd len="sm" w="sm" type="none"/>
              <a:tailEnd len="sm" w="sm" type="none"/>
            </a:ln>
          </a:left>
          <a:right>
            <a:ln cap="flat" cmpd="sng" w="12700">
              <a:solidFill>
                <a:schemeClr val="lt1"/>
              </a:solidFill>
              <a:prstDash val="solid"/>
              <a:round/>
              <a:headEnd len="sm" w="sm" type="none"/>
              <a:tailEnd len="sm" w="sm" type="none"/>
            </a:ln>
          </a:right>
          <a:top>
            <a:ln cap="flat" cmpd="sng" w="12700">
              <a:solidFill>
                <a:schemeClr val="lt1"/>
              </a:solidFill>
              <a:prstDash val="solid"/>
              <a:round/>
              <a:headEnd len="sm" w="sm" type="none"/>
              <a:tailEnd len="sm" w="sm" type="none"/>
            </a:ln>
          </a:top>
          <a:bottom>
            <a:ln cap="flat" cmpd="sng" w="12700">
              <a:solidFill>
                <a:schemeClr val="lt1"/>
              </a:solidFill>
              <a:prstDash val="solid"/>
              <a:round/>
              <a:headEnd len="sm" w="sm" type="none"/>
              <a:tailEnd len="sm" w="sm" type="none"/>
            </a:ln>
          </a:bottom>
          <a:insideH>
            <a:ln cap="flat" cmpd="sng" w="12700">
              <a:solidFill>
                <a:schemeClr val="lt1"/>
              </a:solidFill>
              <a:prstDash val="solid"/>
              <a:round/>
              <a:headEnd len="sm" w="sm" type="none"/>
              <a:tailEnd len="sm" w="sm" type="none"/>
            </a:ln>
          </a:insideH>
          <a:insideV>
            <a:ln cap="flat" cmpd="sng" w="12700">
              <a:solidFill>
                <a:schemeClr val="lt1"/>
              </a:solidFill>
              <a:prstDash val="solid"/>
              <a:round/>
              <a:headEnd len="sm" w="sm" type="none"/>
              <a:tailEnd len="sm" w="sm" type="none"/>
            </a:ln>
          </a:insideV>
        </a:tcBdr>
        <a:fill>
          <a:solidFill>
            <a:srgbClr val="E8ECF4"/>
          </a:solidFill>
        </a:fill>
      </a:tcStyle>
    </a:wholeTbl>
    <a:band1H>
      <a:tcTxStyle/>
      <a:tcStyle>
        <a:fill>
          <a:solidFill>
            <a:srgbClr val="CFD7E7"/>
          </a:solidFill>
        </a:fill>
      </a:tcStyle>
    </a:band1H>
    <a:band2H>
      <a:tcTxStyle/>
    </a:band2H>
    <a:band1V>
      <a:tcTxStyle/>
      <a:tcStyle>
        <a:fill>
          <a:solidFill>
            <a:srgbClr val="CFD7E7"/>
          </a:solidFill>
        </a:fill>
      </a:tcStyle>
    </a:band1V>
    <a:band2V>
      <a:tcTxStyle/>
    </a:band2V>
    <a:lastCol>
      <a:tcTxStyle b="on" i="off">
        <a:font>
          <a:latin typeface="Calibri"/>
          <a:ea typeface="Calibri"/>
          <a:cs typeface="Calibri"/>
        </a:font>
        <a:schemeClr val="lt1"/>
      </a:tcTxStyle>
      <a:tcStyle>
        <a:fill>
          <a:solidFill>
            <a:schemeClr val="accent1"/>
          </a:solidFill>
        </a:fill>
      </a:tcStyle>
    </a:lastCol>
    <a:firstCol>
      <a:tcTxStyle b="on" i="off">
        <a:font>
          <a:latin typeface="Calibri"/>
          <a:ea typeface="Calibri"/>
          <a:cs typeface="Calibri"/>
        </a:font>
        <a:schemeClr val="lt1"/>
      </a:tcTxStyle>
      <a:tcStyle>
        <a:fill>
          <a:solidFill>
            <a:schemeClr val="accent1"/>
          </a:solidFill>
        </a:fill>
      </a:tcStyle>
    </a:firstCol>
    <a:lastRow>
      <a:tcTxStyle b="on" i="off">
        <a:font>
          <a:latin typeface="Calibri"/>
          <a:ea typeface="Calibri"/>
          <a:cs typeface="Calibri"/>
        </a:font>
        <a:schemeClr val="lt1"/>
      </a:tcTxStyle>
      <a:tcStyle>
        <a:tcBdr>
          <a:top>
            <a:ln cap="flat" cmpd="sng" w="38100">
              <a:solidFill>
                <a:schemeClr val="lt1"/>
              </a:solidFill>
              <a:prstDash val="solid"/>
              <a:round/>
              <a:headEnd len="sm" w="sm" type="none"/>
              <a:tailEnd len="sm" w="sm" type="none"/>
            </a:ln>
          </a:top>
        </a:tcBdr>
        <a:fill>
          <a:solidFill>
            <a:schemeClr val="accent1"/>
          </a:solidFill>
        </a:fill>
      </a:tcStyle>
    </a:lastRow>
    <a:seCell>
      <a:tcTxStyle/>
    </a:seCell>
    <a:swCell>
      <a:tcTxStyle/>
    </a:swCell>
    <a:firstRow>
      <a:tcTxStyle b="on" i="off">
        <a:font>
          <a:latin typeface="Calibri"/>
          <a:ea typeface="Calibri"/>
          <a:cs typeface="Calibri"/>
        </a:font>
        <a:schemeClr val="lt1"/>
      </a:tcTxStyle>
      <a:tcStyle>
        <a:tcBdr>
          <a:bottom>
            <a:ln cap="flat" cmpd="sng" w="38100">
              <a:solidFill>
                <a:schemeClr val="lt1"/>
              </a:solidFill>
              <a:prstDash val="solid"/>
              <a:round/>
              <a:headEnd len="sm" w="sm" type="none"/>
              <a:tailEnd len="sm" w="sm" type="none"/>
            </a:ln>
          </a:bottom>
        </a:tcBdr>
        <a:fill>
          <a:solidFill>
            <a:schemeClr val="accent1"/>
          </a:solidFill>
        </a:fill>
      </a:tc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PoppinsSemiBold-italic.fntdata"/><Relationship Id="rId20" Type="http://schemas.openxmlformats.org/officeDocument/2006/relationships/slide" Target="slides/slide14.xml"/><Relationship Id="rId42" Type="http://schemas.openxmlformats.org/officeDocument/2006/relationships/font" Target="fonts/PoppinsExtraBold-bold.fntdata"/><Relationship Id="rId41" Type="http://schemas.openxmlformats.org/officeDocument/2006/relationships/font" Target="fonts/PoppinsSemiBold-boldItalic.fntdata"/><Relationship Id="rId22" Type="http://schemas.openxmlformats.org/officeDocument/2006/relationships/slide" Target="slides/slide16.xml"/><Relationship Id="rId21" Type="http://schemas.openxmlformats.org/officeDocument/2006/relationships/slide" Target="slides/slide15.xml"/><Relationship Id="rId43" Type="http://schemas.openxmlformats.org/officeDocument/2006/relationships/font" Target="fonts/PoppinsExtraBold-boldItalic.fntdata"/><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slide" Target="slides/slide23.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11" Type="http://schemas.openxmlformats.org/officeDocument/2006/relationships/slide" Target="slides/slide5.xml"/><Relationship Id="rId33" Type="http://schemas.openxmlformats.org/officeDocument/2006/relationships/slide" Target="slides/slide27.xml"/><Relationship Id="rId10" Type="http://schemas.openxmlformats.org/officeDocument/2006/relationships/slide" Target="slides/slide4.xml"/><Relationship Id="rId32" Type="http://schemas.openxmlformats.org/officeDocument/2006/relationships/slide" Target="slides/slide26.xml"/><Relationship Id="rId13" Type="http://schemas.openxmlformats.org/officeDocument/2006/relationships/slide" Target="slides/slide7.xml"/><Relationship Id="rId35" Type="http://schemas.openxmlformats.org/officeDocument/2006/relationships/font" Target="fonts/Poppins-bold.fntdata"/><Relationship Id="rId12" Type="http://schemas.openxmlformats.org/officeDocument/2006/relationships/slide" Target="slides/slide6.xml"/><Relationship Id="rId34" Type="http://schemas.openxmlformats.org/officeDocument/2006/relationships/font" Target="fonts/Poppins-regular.fntdata"/><Relationship Id="rId15" Type="http://schemas.openxmlformats.org/officeDocument/2006/relationships/slide" Target="slides/slide9.xml"/><Relationship Id="rId37" Type="http://schemas.openxmlformats.org/officeDocument/2006/relationships/font" Target="fonts/Poppins-boldItalic.fntdata"/><Relationship Id="rId14" Type="http://schemas.openxmlformats.org/officeDocument/2006/relationships/slide" Target="slides/slide8.xml"/><Relationship Id="rId36" Type="http://schemas.openxmlformats.org/officeDocument/2006/relationships/font" Target="fonts/Poppins-italic.fntdata"/><Relationship Id="rId17" Type="http://schemas.openxmlformats.org/officeDocument/2006/relationships/slide" Target="slides/slide11.xml"/><Relationship Id="rId39" Type="http://schemas.openxmlformats.org/officeDocument/2006/relationships/font" Target="fonts/PoppinsSemiBold-bold.fntdata"/><Relationship Id="rId16" Type="http://schemas.openxmlformats.org/officeDocument/2006/relationships/slide" Target="slides/slide10.xml"/><Relationship Id="rId38" Type="http://schemas.openxmlformats.org/officeDocument/2006/relationships/font" Target="fonts/PoppinsSemiBold-regular.fntdata"/><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1" name="Google Shape;91;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g3e8954fb7fb_0_1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8" name="Google Shape;98;g3e8954fb7fb_0_12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 name="Shape 103"/>
        <p:cNvGrpSpPr/>
        <p:nvPr/>
      </p:nvGrpSpPr>
      <p:grpSpPr>
        <a:xfrm>
          <a:off x="0" y="0"/>
          <a:ext cx="0" cy="0"/>
          <a:chOff x="0" y="0"/>
          <a:chExt cx="0" cy="0"/>
        </a:xfrm>
      </p:grpSpPr>
      <p:sp>
        <p:nvSpPr>
          <p:cNvPr id="104" name="Google Shape;104;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5" name="Google Shape;105;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 name="Shape 123"/>
        <p:cNvGrpSpPr/>
        <p:nvPr/>
      </p:nvGrpSpPr>
      <p:grpSpPr>
        <a:xfrm>
          <a:off x="0" y="0"/>
          <a:ext cx="0" cy="0"/>
          <a:chOff x="0" y="0"/>
          <a:chExt cx="0" cy="0"/>
        </a:xfrm>
      </p:grpSpPr>
      <p:sp>
        <p:nvSpPr>
          <p:cNvPr id="124" name="Google Shape;124;g3e8954fb7fb_0_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5" name="Google Shape;125;g3e8954fb7fb_0_2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1" name="Google Shape;141;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1" name="Google Shape;151;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a:xfrm>
          <a:off x="0" y="0"/>
          <a:ext cx="0" cy="0"/>
          <a:chOff x="0" y="0"/>
          <a:chExt cx="0" cy="0"/>
        </a:xfrm>
      </p:grpSpPr>
      <p:sp>
        <p:nvSpPr>
          <p:cNvPr id="166" name="Google Shape;166;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7" name="Google Shape;167;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 name="Shape 175"/>
        <p:cNvGrpSpPr/>
        <p:nvPr/>
      </p:nvGrpSpPr>
      <p:grpSpPr>
        <a:xfrm>
          <a:off x="0" y="0"/>
          <a:ext cx="0" cy="0"/>
          <a:chOff x="0" y="0"/>
          <a:chExt cx="0" cy="0"/>
        </a:xfrm>
      </p:grpSpPr>
      <p:sp>
        <p:nvSpPr>
          <p:cNvPr id="176" name="Google Shape;176;g3e8954fb7fb_0_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7" name="Google Shape;177;g3e8954fb7fb_0_6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6" name="Shape 196"/>
        <p:cNvGrpSpPr/>
        <p:nvPr/>
      </p:nvGrpSpPr>
      <p:grpSpPr>
        <a:xfrm>
          <a:off x="0" y="0"/>
          <a:ext cx="0" cy="0"/>
          <a:chOff x="0" y="0"/>
          <a:chExt cx="0" cy="0"/>
        </a:xfrm>
      </p:grpSpPr>
      <p:sp>
        <p:nvSpPr>
          <p:cNvPr id="197" name="Google Shape;197;g3e8954fb7fb_0_3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8" name="Google Shape;198;g3e8954fb7fb_0_33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5" name="Shape 215"/>
        <p:cNvGrpSpPr/>
        <p:nvPr/>
      </p:nvGrpSpPr>
      <p:grpSpPr>
        <a:xfrm>
          <a:off x="0" y="0"/>
          <a:ext cx="0" cy="0"/>
          <a:chOff x="0" y="0"/>
          <a:chExt cx="0" cy="0"/>
        </a:xfrm>
      </p:grpSpPr>
      <p:sp>
        <p:nvSpPr>
          <p:cNvPr id="216" name="Google Shape;216;g3e8954fb7fb_0_1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7" name="Google Shape;217;g3e8954fb7fb_0_11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2" name="Shape 222"/>
        <p:cNvGrpSpPr/>
        <p:nvPr/>
      </p:nvGrpSpPr>
      <p:grpSpPr>
        <a:xfrm>
          <a:off x="0" y="0"/>
          <a:ext cx="0" cy="0"/>
          <a:chOff x="0" y="0"/>
          <a:chExt cx="0" cy="0"/>
        </a:xfrm>
      </p:grpSpPr>
      <p:sp>
        <p:nvSpPr>
          <p:cNvPr id="223" name="Google Shape;223;p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24" name="Google Shape;224;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0" name="Shape 230"/>
        <p:cNvGrpSpPr/>
        <p:nvPr/>
      </p:nvGrpSpPr>
      <p:grpSpPr>
        <a:xfrm>
          <a:off x="0" y="0"/>
          <a:ext cx="0" cy="0"/>
          <a:chOff x="0" y="0"/>
          <a:chExt cx="0" cy="0"/>
        </a:xfrm>
      </p:grpSpPr>
      <p:sp>
        <p:nvSpPr>
          <p:cNvPr id="231" name="Google Shape;231;g3e8954fb7fb_0_1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32" name="Google Shape;232;g3e8954fb7fb_0_17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8" name="Shape 238"/>
        <p:cNvGrpSpPr/>
        <p:nvPr/>
      </p:nvGrpSpPr>
      <p:grpSpPr>
        <a:xfrm>
          <a:off x="0" y="0"/>
          <a:ext cx="0" cy="0"/>
          <a:chOff x="0" y="0"/>
          <a:chExt cx="0" cy="0"/>
        </a:xfrm>
      </p:grpSpPr>
      <p:sp>
        <p:nvSpPr>
          <p:cNvPr id="239" name="Google Shape;239;g3e8954fb7fb_0_1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40" name="Google Shape;240;g3e8954fb7fb_0_19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6" name="Shape 246"/>
        <p:cNvGrpSpPr/>
        <p:nvPr/>
      </p:nvGrpSpPr>
      <p:grpSpPr>
        <a:xfrm>
          <a:off x="0" y="0"/>
          <a:ext cx="0" cy="0"/>
          <a:chOff x="0" y="0"/>
          <a:chExt cx="0" cy="0"/>
        </a:xfrm>
      </p:grpSpPr>
      <p:sp>
        <p:nvSpPr>
          <p:cNvPr id="247" name="Google Shape;247;g3e8954fb7fb_0_20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48" name="Google Shape;248;g3e8954fb7fb_0_20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4" name="Shape 254"/>
        <p:cNvGrpSpPr/>
        <p:nvPr/>
      </p:nvGrpSpPr>
      <p:grpSpPr>
        <a:xfrm>
          <a:off x="0" y="0"/>
          <a:ext cx="0" cy="0"/>
          <a:chOff x="0" y="0"/>
          <a:chExt cx="0" cy="0"/>
        </a:xfrm>
      </p:grpSpPr>
      <p:sp>
        <p:nvSpPr>
          <p:cNvPr id="255" name="Google Shape;255;g3e8954fb7fb_0_2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56" name="Google Shape;256;g3e8954fb7fb_0_22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2" name="Shape 262"/>
        <p:cNvGrpSpPr/>
        <p:nvPr/>
      </p:nvGrpSpPr>
      <p:grpSpPr>
        <a:xfrm>
          <a:off x="0" y="0"/>
          <a:ext cx="0" cy="0"/>
          <a:chOff x="0" y="0"/>
          <a:chExt cx="0" cy="0"/>
        </a:xfrm>
      </p:grpSpPr>
      <p:sp>
        <p:nvSpPr>
          <p:cNvPr id="263" name="Google Shape;263;g3e8954fb7fb_0_2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64" name="Google Shape;264;g3e8954fb7fb_0_23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0" name="Shape 270"/>
        <p:cNvGrpSpPr/>
        <p:nvPr/>
      </p:nvGrpSpPr>
      <p:grpSpPr>
        <a:xfrm>
          <a:off x="0" y="0"/>
          <a:ext cx="0" cy="0"/>
          <a:chOff x="0" y="0"/>
          <a:chExt cx="0" cy="0"/>
        </a:xfrm>
      </p:grpSpPr>
      <p:sp>
        <p:nvSpPr>
          <p:cNvPr id="271" name="Google Shape;271;g3e8954fb7fb_0_2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72" name="Google Shape;272;g3e8954fb7fb_0_24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8" name="Shape 278"/>
        <p:cNvGrpSpPr/>
        <p:nvPr/>
      </p:nvGrpSpPr>
      <p:grpSpPr>
        <a:xfrm>
          <a:off x="0" y="0"/>
          <a:ext cx="0" cy="0"/>
          <a:chOff x="0" y="0"/>
          <a:chExt cx="0" cy="0"/>
        </a:xfrm>
      </p:grpSpPr>
      <p:sp>
        <p:nvSpPr>
          <p:cNvPr id="279" name="Google Shape;279;g3e8954fb7fb_0_2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80" name="Google Shape;280;g3e8954fb7fb_0_27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6" name="Shape 286"/>
        <p:cNvGrpSpPr/>
        <p:nvPr/>
      </p:nvGrpSpPr>
      <p:grpSpPr>
        <a:xfrm>
          <a:off x="0" y="0"/>
          <a:ext cx="0" cy="0"/>
          <a:chOff x="0" y="0"/>
          <a:chExt cx="0" cy="0"/>
        </a:xfrm>
      </p:grpSpPr>
      <p:sp>
        <p:nvSpPr>
          <p:cNvPr id="287" name="Google Shape;287;g3e8954fb7fb_0_2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88" name="Google Shape;288;g3e8954fb7fb_0_26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4" name="Shape 294"/>
        <p:cNvGrpSpPr/>
        <p:nvPr/>
      </p:nvGrpSpPr>
      <p:grpSpPr>
        <a:xfrm>
          <a:off x="0" y="0"/>
          <a:ext cx="0" cy="0"/>
          <a:chOff x="0" y="0"/>
          <a:chExt cx="0" cy="0"/>
        </a:xfrm>
      </p:grpSpPr>
      <p:sp>
        <p:nvSpPr>
          <p:cNvPr id="295" name="Google Shape;295;p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96" name="Google Shape;296;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2" name="Shape 302"/>
        <p:cNvGrpSpPr/>
        <p:nvPr/>
      </p:nvGrpSpPr>
      <p:grpSpPr>
        <a:xfrm>
          <a:off x="0" y="0"/>
          <a:ext cx="0" cy="0"/>
          <a:chOff x="0" y="0"/>
          <a:chExt cx="0" cy="0"/>
        </a:xfrm>
      </p:grpSpPr>
      <p:sp>
        <p:nvSpPr>
          <p:cNvPr id="303" name="Google Shape;303;p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04" name="Google Shape;304;p1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0" name="Shape 310"/>
        <p:cNvGrpSpPr/>
        <p:nvPr/>
      </p:nvGrpSpPr>
      <p:grpSpPr>
        <a:xfrm>
          <a:off x="0" y="0"/>
          <a:ext cx="0" cy="0"/>
          <a:chOff x="0" y="0"/>
          <a:chExt cx="0" cy="0"/>
        </a:xfrm>
      </p:grpSpPr>
      <p:sp>
        <p:nvSpPr>
          <p:cNvPr id="311" name="Google Shape;311;g3e8954fb7fb_0_2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12" name="Google Shape;312;g3e8954fb7fb_0_28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7" name="Shape 317"/>
        <p:cNvGrpSpPr/>
        <p:nvPr/>
      </p:nvGrpSpPr>
      <p:grpSpPr>
        <a:xfrm>
          <a:off x="0" y="0"/>
          <a:ext cx="0" cy="0"/>
          <a:chOff x="0" y="0"/>
          <a:chExt cx="0" cy="0"/>
        </a:xfrm>
      </p:grpSpPr>
      <p:sp>
        <p:nvSpPr>
          <p:cNvPr id="318" name="Google Shape;318;g3e8954fb7fb_0_29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19" name="Google Shape;319;g3e8954fb7fb_0_29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5" name="Shape 325"/>
        <p:cNvGrpSpPr/>
        <p:nvPr/>
      </p:nvGrpSpPr>
      <p:grpSpPr>
        <a:xfrm>
          <a:off x="0" y="0"/>
          <a:ext cx="0" cy="0"/>
          <a:chOff x="0" y="0"/>
          <a:chExt cx="0" cy="0"/>
        </a:xfrm>
      </p:grpSpPr>
      <p:sp>
        <p:nvSpPr>
          <p:cNvPr id="326" name="Google Shape;326;p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27" name="Google Shape;327;p1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8" name="Shape 338"/>
        <p:cNvGrpSpPr/>
        <p:nvPr/>
      </p:nvGrpSpPr>
      <p:grpSpPr>
        <a:xfrm>
          <a:off x="0" y="0"/>
          <a:ext cx="0" cy="0"/>
          <a:chOff x="0" y="0"/>
          <a:chExt cx="0" cy="0"/>
        </a:xfrm>
      </p:grpSpPr>
      <p:sp>
        <p:nvSpPr>
          <p:cNvPr id="339" name="Google Shape;339;p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40" name="Google Shape;340;p1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6" name="Shape 346"/>
        <p:cNvGrpSpPr/>
        <p:nvPr/>
      </p:nvGrpSpPr>
      <p:grpSpPr>
        <a:xfrm>
          <a:off x="0" y="0"/>
          <a:ext cx="0" cy="0"/>
          <a:chOff x="0" y="0"/>
          <a:chExt cx="0" cy="0"/>
        </a:xfrm>
      </p:grpSpPr>
      <p:sp>
        <p:nvSpPr>
          <p:cNvPr id="347" name="Google Shape;347;p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48" name="Google Shape;348;p1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
        <p:nvSpPr>
          <p:cNvPr id="12" name="Google Shape;12;p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 name="Google Shape;13;p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 name="Google Shape;14;p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3"/>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3"/>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18" name="Google Shape;18;p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4"/>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4" name="Google Shape;24;p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5"/>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5"/>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30" name="Google Shape;30;p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6"/>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6" name="Google Shape;36;p6"/>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7" name="Google Shape;37;p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7"/>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3" name="Google Shape;43;p7"/>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4" name="Google Shape;44;p7"/>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5" name="Google Shape;45;p7"/>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6" name="Google Shape;46;p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9"/>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9"/>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57" name="Google Shape;57;p9"/>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58" name="Google Shape;58;p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10"/>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10"/>
          <p:cNvSpPr/>
          <p:nvPr>
            <p:ph idx="2" type="pic"/>
          </p:nvPr>
        </p:nvSpPr>
        <p:spPr>
          <a:xfrm>
            <a:off x="1792288" y="612775"/>
            <a:ext cx="5486400" cy="4114800"/>
          </a:xfrm>
          <a:prstGeom prst="rect">
            <a:avLst/>
          </a:prstGeom>
          <a:noFill/>
          <a:ln>
            <a:noFill/>
          </a:ln>
        </p:spPr>
      </p:sp>
      <p:sp>
        <p:nvSpPr>
          <p:cNvPr id="64" name="Google Shape;64;p10"/>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5" name="Google Shape;65;p1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1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1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1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11"/>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1" name="Google Shape;71;p1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1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1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12"/>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12"/>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7" name="Google Shape;77;p1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1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1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1"/>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3.png"/><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4.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1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7.png"/><Relationship Id="rId4" Type="http://schemas.openxmlformats.org/officeDocument/2006/relationships/image" Target="../media/image1.png"/><Relationship Id="rId5" Type="http://schemas.openxmlformats.org/officeDocument/2006/relationships/image" Target="../media/image5.png"/><Relationship Id="rId6" Type="http://schemas.openxmlformats.org/officeDocument/2006/relationships/image" Target="../media/image8.png"/><Relationship Id="rId7" Type="http://schemas.openxmlformats.org/officeDocument/2006/relationships/image" Target="../media/image6.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7.png"/><Relationship Id="rId4" Type="http://schemas.openxmlformats.org/officeDocument/2006/relationships/image" Target="../media/image1.png"/><Relationship Id="rId5" Type="http://schemas.openxmlformats.org/officeDocument/2006/relationships/image" Target="../media/image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10.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9.png"/><Relationship Id="rId4" Type="http://schemas.openxmlformats.org/officeDocument/2006/relationships/image" Target="../media/image2.png"/><Relationship Id="rId5" Type="http://schemas.openxmlformats.org/officeDocument/2006/relationships/image" Target="../media/image1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9.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7.png"/><Relationship Id="rId4"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7.png"/><Relationship Id="rId4"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1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3.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14.png"/><Relationship Id="rId4" Type="http://schemas.openxmlformats.org/officeDocument/2006/relationships/image" Target="../media/image12.png"/><Relationship Id="rId5" Type="http://schemas.openxmlformats.org/officeDocument/2006/relationships/image" Target="../media/image22.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14.png"/><Relationship Id="rId4" Type="http://schemas.openxmlformats.org/officeDocument/2006/relationships/image" Target="../media/image18.png"/><Relationship Id="rId5" Type="http://schemas.openxmlformats.org/officeDocument/2006/relationships/image" Target="../media/image16.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14.png"/><Relationship Id="rId4" Type="http://schemas.openxmlformats.org/officeDocument/2006/relationships/image" Target="../media/image21.jpg"/><Relationship Id="rId5" Type="http://schemas.openxmlformats.org/officeDocument/2006/relationships/image" Target="../media/image17.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14.png"/><Relationship Id="rId4" Type="http://schemas.openxmlformats.org/officeDocument/2006/relationships/image" Target="../media/image15.jpg"/><Relationship Id="rId5" Type="http://schemas.openxmlformats.org/officeDocument/2006/relationships/image" Target="../media/image20.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14.png"/><Relationship Id="rId4" Type="http://schemas.openxmlformats.org/officeDocument/2006/relationships/image" Target="../media/image29.png"/><Relationship Id="rId5" Type="http://schemas.openxmlformats.org/officeDocument/2006/relationships/image" Target="../media/image23.jp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14.png"/><Relationship Id="rId4" Type="http://schemas.openxmlformats.org/officeDocument/2006/relationships/image" Target="../media/image32.jpg"/><Relationship Id="rId5" Type="http://schemas.openxmlformats.org/officeDocument/2006/relationships/image" Target="../media/image24.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14.png"/><Relationship Id="rId4" Type="http://schemas.openxmlformats.org/officeDocument/2006/relationships/image" Target="../media/image36.jpg"/><Relationship Id="rId5" Type="http://schemas.openxmlformats.org/officeDocument/2006/relationships/image" Target="../media/image34.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14.png"/><Relationship Id="rId4" Type="http://schemas.openxmlformats.org/officeDocument/2006/relationships/image" Target="../media/image30.png"/><Relationship Id="rId5" Type="http://schemas.openxmlformats.org/officeDocument/2006/relationships/image" Target="../media/image33.jp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3.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31.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image" Target="../media/image14.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 Id="rId3" Type="http://schemas.openxmlformats.org/officeDocument/2006/relationships/image" Target="../media/image31.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 Id="rId3" Type="http://schemas.openxmlformats.org/officeDocument/2006/relationships/image" Target="../media/image10.png"/><Relationship Id="rId4" Type="http://schemas.openxmlformats.org/officeDocument/2006/relationships/image" Target="../media/image27.png"/><Relationship Id="rId5" Type="http://schemas.openxmlformats.org/officeDocument/2006/relationships/image" Target="../media/image26.png"/><Relationship Id="rId6" Type="http://schemas.openxmlformats.org/officeDocument/2006/relationships/image" Target="../media/image28.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 Id="rId3" Type="http://schemas.openxmlformats.org/officeDocument/2006/relationships/image" Target="../media/image35.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 Id="rId3" Type="http://schemas.openxmlformats.org/officeDocument/2006/relationships/image" Target="../media/image25.png"/><Relationship Id="rId4"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90D16"/>
        </a:solidFill>
      </p:bgPr>
    </p:bg>
    <p:spTree>
      <p:nvGrpSpPr>
        <p:cNvPr id="83" name="Shape 83"/>
        <p:cNvGrpSpPr/>
        <p:nvPr/>
      </p:nvGrpSpPr>
      <p:grpSpPr>
        <a:xfrm>
          <a:off x="0" y="0"/>
          <a:ext cx="0" cy="0"/>
          <a:chOff x="0" y="0"/>
          <a:chExt cx="0" cy="0"/>
        </a:xfrm>
      </p:grpSpPr>
      <p:pic>
        <p:nvPicPr>
          <p:cNvPr descr="image.png" id="84" name="Google Shape;84;p13"/>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85" name="Google Shape;85;p13"/>
          <p:cNvSpPr txBox="1"/>
          <p:nvPr/>
        </p:nvSpPr>
        <p:spPr>
          <a:xfrm>
            <a:off x="502825" y="575650"/>
            <a:ext cx="7688700" cy="47946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None/>
            </a:pPr>
            <a:r>
              <a:rPr b="1" i="0" lang="en-US" sz="7000" u="none" cap="none" strike="noStrike">
                <a:solidFill>
                  <a:srgbClr val="F8FAFC"/>
                </a:solidFill>
                <a:latin typeface="Poppins"/>
                <a:ea typeface="Poppins"/>
                <a:cs typeface="Poppins"/>
                <a:sym typeface="Poppins"/>
              </a:rPr>
              <a:t>Evaluación</a:t>
            </a:r>
            <a:r>
              <a:rPr b="1" lang="en-US" sz="7000">
                <a:solidFill>
                  <a:srgbClr val="F8FAFC"/>
                </a:solidFill>
                <a:latin typeface="Poppins"/>
                <a:ea typeface="Poppins"/>
                <a:cs typeface="Poppins"/>
                <a:sym typeface="Poppins"/>
              </a:rPr>
              <a:t> </a:t>
            </a:r>
            <a:r>
              <a:rPr b="1" i="0" lang="en-US" sz="7000" u="none" cap="none" strike="noStrike">
                <a:solidFill>
                  <a:srgbClr val="F8FAFC"/>
                </a:solidFill>
                <a:latin typeface="Poppins"/>
                <a:ea typeface="Poppins"/>
                <a:cs typeface="Poppins"/>
                <a:sym typeface="Poppins"/>
              </a:rPr>
              <a:t>Experimental de</a:t>
            </a:r>
            <a:r>
              <a:rPr lang="en-US" sz="7000">
                <a:solidFill>
                  <a:schemeClr val="dk1"/>
                </a:solidFill>
                <a:latin typeface="Poppins"/>
                <a:ea typeface="Poppins"/>
                <a:cs typeface="Poppins"/>
                <a:sym typeface="Poppins"/>
              </a:rPr>
              <a:t> </a:t>
            </a:r>
            <a:r>
              <a:rPr b="1" i="0" lang="en-US" sz="7000" u="none" cap="none" strike="noStrike">
                <a:solidFill>
                  <a:srgbClr val="F8FAFC"/>
                </a:solidFill>
                <a:latin typeface="Poppins"/>
                <a:ea typeface="Poppins"/>
                <a:cs typeface="Poppins"/>
                <a:sym typeface="Poppins"/>
              </a:rPr>
              <a:t>Modelos de</a:t>
            </a:r>
            <a:r>
              <a:rPr b="1" lang="en-US" sz="7000">
                <a:solidFill>
                  <a:srgbClr val="F8FAFC"/>
                </a:solidFill>
                <a:latin typeface="Poppins"/>
                <a:ea typeface="Poppins"/>
                <a:cs typeface="Poppins"/>
                <a:sym typeface="Poppins"/>
              </a:rPr>
              <a:t> </a:t>
            </a:r>
            <a:r>
              <a:rPr b="1" i="0" lang="en-US" sz="7000" u="none" cap="none" strike="noStrike">
                <a:solidFill>
                  <a:srgbClr val="F8FAFC"/>
                </a:solidFill>
                <a:latin typeface="Poppins"/>
                <a:ea typeface="Poppins"/>
                <a:cs typeface="Poppins"/>
                <a:sym typeface="Poppins"/>
              </a:rPr>
              <a:t>Detección</a:t>
            </a:r>
            <a:endParaRPr sz="7000">
              <a:latin typeface="Poppins"/>
              <a:ea typeface="Poppins"/>
              <a:cs typeface="Poppins"/>
              <a:sym typeface="Poppins"/>
            </a:endParaRPr>
          </a:p>
        </p:txBody>
      </p:sp>
      <p:sp>
        <p:nvSpPr>
          <p:cNvPr id="86" name="Google Shape;86;p13"/>
          <p:cNvSpPr txBox="1"/>
          <p:nvPr/>
        </p:nvSpPr>
        <p:spPr>
          <a:xfrm>
            <a:off x="6446250" y="4242800"/>
            <a:ext cx="4514100" cy="307800"/>
          </a:xfrm>
          <a:prstGeom prst="rect">
            <a:avLst/>
          </a:prstGeom>
          <a:noFill/>
          <a:ln>
            <a:noFill/>
          </a:ln>
        </p:spPr>
        <p:txBody>
          <a:bodyPr anchorCtr="0" anchor="t" bIns="0" lIns="0" spcFirstLastPara="1" rIns="0" wrap="square" tIns="0">
            <a:spAutoFit/>
          </a:bodyPr>
          <a:lstStyle/>
          <a:p>
            <a:pPr indent="0" lvl="0" marL="0" marR="0" rtl="0" algn="ctr">
              <a:lnSpc>
                <a:spcPct val="160000"/>
              </a:lnSpc>
              <a:spcBef>
                <a:spcPts val="0"/>
              </a:spcBef>
              <a:spcAft>
                <a:spcPts val="0"/>
              </a:spcAft>
              <a:buNone/>
            </a:pPr>
            <a:r>
              <a:rPr lang="en-US" sz="2000">
                <a:solidFill>
                  <a:srgbClr val="94A3B8"/>
                </a:solidFill>
                <a:latin typeface="Poppins"/>
                <a:ea typeface="Poppins"/>
                <a:cs typeface="Poppins"/>
                <a:sym typeface="Poppins"/>
              </a:rPr>
              <a:t>Presentado por Diomedes Cerda</a:t>
            </a:r>
            <a:endParaRPr sz="2000">
              <a:latin typeface="Poppins"/>
              <a:ea typeface="Poppins"/>
              <a:cs typeface="Poppins"/>
              <a:sym typeface="Poppins"/>
            </a:endParaRPr>
          </a:p>
        </p:txBody>
      </p:sp>
      <p:pic>
        <p:nvPicPr>
          <p:cNvPr id="87" name="Google Shape;87;p13" title="logo.png"/>
          <p:cNvPicPr preferRelativeResize="0"/>
          <p:nvPr/>
        </p:nvPicPr>
        <p:blipFill>
          <a:blip r:embed="rId4">
            <a:alphaModFix/>
          </a:blip>
          <a:stretch>
            <a:fillRect/>
          </a:stretch>
        </p:blipFill>
        <p:spPr>
          <a:xfrm>
            <a:off x="576050" y="5917350"/>
            <a:ext cx="451552" cy="524826"/>
          </a:xfrm>
          <a:prstGeom prst="rect">
            <a:avLst/>
          </a:prstGeom>
          <a:noFill/>
          <a:ln>
            <a:noFill/>
          </a:ln>
        </p:spPr>
      </p:pic>
      <p:sp>
        <p:nvSpPr>
          <p:cNvPr id="88" name="Google Shape;88;p13"/>
          <p:cNvSpPr txBox="1"/>
          <p:nvPr/>
        </p:nvSpPr>
        <p:spPr>
          <a:xfrm>
            <a:off x="1027600" y="5972000"/>
            <a:ext cx="2916900" cy="415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1500">
                <a:solidFill>
                  <a:schemeClr val="lt1"/>
                </a:solidFill>
                <a:latin typeface="Poppins"/>
                <a:ea typeface="Poppins"/>
                <a:cs typeface="Poppins"/>
                <a:sym typeface="Poppins"/>
              </a:rPr>
              <a:t>Universidad del Magdalena</a:t>
            </a:r>
            <a:endParaRPr sz="1500">
              <a:solidFill>
                <a:schemeClr val="lt1"/>
              </a:solidFill>
              <a:latin typeface="Poppins"/>
              <a:ea typeface="Poppins"/>
              <a:cs typeface="Poppins"/>
              <a:sym typeface="Poppins"/>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90D16"/>
        </a:solidFill>
      </p:bgPr>
    </p:bg>
    <p:spTree>
      <p:nvGrpSpPr>
        <p:cNvPr id="92" name="Shape 92"/>
        <p:cNvGrpSpPr/>
        <p:nvPr/>
      </p:nvGrpSpPr>
      <p:grpSpPr>
        <a:xfrm>
          <a:off x="0" y="0"/>
          <a:ext cx="0" cy="0"/>
          <a:chOff x="0" y="0"/>
          <a:chExt cx="0" cy="0"/>
        </a:xfrm>
      </p:grpSpPr>
      <p:pic>
        <p:nvPicPr>
          <p:cNvPr descr="image.png" id="93" name="Google Shape;93;p14"/>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94" name="Google Shape;94;p14"/>
          <p:cNvSpPr txBox="1"/>
          <p:nvPr/>
        </p:nvSpPr>
        <p:spPr>
          <a:xfrm>
            <a:off x="3397801" y="1597075"/>
            <a:ext cx="5396400" cy="7695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lang="en-US" sz="5000">
                <a:solidFill>
                  <a:srgbClr val="F8FAFC"/>
                </a:solidFill>
                <a:latin typeface="Poppins"/>
                <a:ea typeface="Poppins"/>
                <a:cs typeface="Poppins"/>
                <a:sym typeface="Poppins"/>
              </a:rPr>
              <a:t>Objetivo</a:t>
            </a:r>
            <a:endParaRPr sz="5000">
              <a:latin typeface="Poppins"/>
              <a:ea typeface="Poppins"/>
              <a:cs typeface="Poppins"/>
              <a:sym typeface="Poppins"/>
            </a:endParaRPr>
          </a:p>
        </p:txBody>
      </p:sp>
      <p:sp>
        <p:nvSpPr>
          <p:cNvPr id="95" name="Google Shape;95;p14"/>
          <p:cNvSpPr txBox="1"/>
          <p:nvPr/>
        </p:nvSpPr>
        <p:spPr>
          <a:xfrm>
            <a:off x="2367600" y="2728200"/>
            <a:ext cx="7456800" cy="13854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lang="en-US" sz="3000">
                <a:solidFill>
                  <a:srgbClr val="64748B"/>
                </a:solidFill>
                <a:latin typeface="Poppins"/>
                <a:ea typeface="Poppins"/>
                <a:cs typeface="Poppins"/>
                <a:sym typeface="Poppins"/>
              </a:rPr>
              <a:t>Identificar el modelo más adecuado para el sistema de asistencia visual propuesto.</a:t>
            </a:r>
            <a:endParaRPr sz="3000">
              <a:latin typeface="Poppins"/>
              <a:ea typeface="Poppins"/>
              <a:cs typeface="Poppins"/>
              <a:sym typeface="Poppins"/>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90D16"/>
        </a:solidFill>
      </p:bgPr>
    </p:bg>
    <p:spTree>
      <p:nvGrpSpPr>
        <p:cNvPr id="99" name="Shape 99"/>
        <p:cNvGrpSpPr/>
        <p:nvPr/>
      </p:nvGrpSpPr>
      <p:grpSpPr>
        <a:xfrm>
          <a:off x="0" y="0"/>
          <a:ext cx="0" cy="0"/>
          <a:chOff x="0" y="0"/>
          <a:chExt cx="0" cy="0"/>
        </a:xfrm>
      </p:grpSpPr>
      <p:pic>
        <p:nvPicPr>
          <p:cNvPr descr="image.png" id="100" name="Google Shape;100;p15"/>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101" name="Google Shape;101;p15"/>
          <p:cNvSpPr txBox="1"/>
          <p:nvPr/>
        </p:nvSpPr>
        <p:spPr>
          <a:xfrm>
            <a:off x="3397801" y="1597075"/>
            <a:ext cx="5396400" cy="15393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5000" u="none" cap="none" strike="noStrike">
                <a:solidFill>
                  <a:srgbClr val="F8FAFC"/>
                </a:solidFill>
                <a:latin typeface="Poppins"/>
                <a:ea typeface="Poppins"/>
                <a:cs typeface="Poppins"/>
                <a:sym typeface="Poppins"/>
              </a:rPr>
              <a:t>Marco Conceptual</a:t>
            </a:r>
            <a:endParaRPr sz="5000">
              <a:latin typeface="Poppins"/>
              <a:ea typeface="Poppins"/>
              <a:cs typeface="Poppins"/>
              <a:sym typeface="Poppins"/>
            </a:endParaRPr>
          </a:p>
        </p:txBody>
      </p:sp>
      <p:sp>
        <p:nvSpPr>
          <p:cNvPr id="102" name="Google Shape;102;p15"/>
          <p:cNvSpPr txBox="1"/>
          <p:nvPr/>
        </p:nvSpPr>
        <p:spPr>
          <a:xfrm>
            <a:off x="3238500" y="3765540"/>
            <a:ext cx="5715000" cy="9234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i="0" lang="en-US" sz="2000" u="none" cap="none" strike="noStrike">
                <a:solidFill>
                  <a:srgbClr val="64748B"/>
                </a:solidFill>
                <a:latin typeface="Poppins"/>
                <a:ea typeface="Poppins"/>
                <a:cs typeface="Poppins"/>
                <a:sym typeface="Poppins"/>
              </a:rPr>
              <a:t>Fundamentos matemáticos, métricas de precisión geométrica y técnicas de cuantización en arquitecturas móviles.</a:t>
            </a:r>
            <a:endParaRPr sz="2000">
              <a:latin typeface="Poppins"/>
              <a:ea typeface="Poppins"/>
              <a:cs typeface="Poppins"/>
              <a:sym typeface="Poppins"/>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90D16"/>
        </a:solidFill>
      </p:bgPr>
    </p:bg>
    <p:spTree>
      <p:nvGrpSpPr>
        <p:cNvPr id="106" name="Shape 106"/>
        <p:cNvGrpSpPr/>
        <p:nvPr/>
      </p:nvGrpSpPr>
      <p:grpSpPr>
        <a:xfrm>
          <a:off x="0" y="0"/>
          <a:ext cx="0" cy="0"/>
          <a:chOff x="0" y="0"/>
          <a:chExt cx="0" cy="0"/>
        </a:xfrm>
      </p:grpSpPr>
      <p:pic>
        <p:nvPicPr>
          <p:cNvPr descr="image.png" id="107" name="Google Shape;107;p16"/>
          <p:cNvPicPr preferRelativeResize="0"/>
          <p:nvPr/>
        </p:nvPicPr>
        <p:blipFill rotWithShape="1">
          <a:blip r:embed="rId3">
            <a:alphaModFix/>
          </a:blip>
          <a:srcRect b="0" l="0" r="0" t="0"/>
          <a:stretch/>
        </p:blipFill>
        <p:spPr>
          <a:xfrm>
            <a:off x="12204" y="12204"/>
            <a:ext cx="12192000" cy="6858000"/>
          </a:xfrm>
          <a:prstGeom prst="rect">
            <a:avLst/>
          </a:prstGeom>
          <a:noFill/>
          <a:ln>
            <a:noFill/>
          </a:ln>
        </p:spPr>
      </p:pic>
      <p:pic>
        <p:nvPicPr>
          <p:cNvPr descr="image.png" id="108" name="Google Shape;108;p16"/>
          <p:cNvPicPr preferRelativeResize="0"/>
          <p:nvPr/>
        </p:nvPicPr>
        <p:blipFill rotWithShape="1">
          <a:blip r:embed="rId4">
            <a:alphaModFix/>
          </a:blip>
          <a:srcRect b="0" l="0" r="0" t="0"/>
          <a:stretch/>
        </p:blipFill>
        <p:spPr>
          <a:xfrm>
            <a:off x="581025" y="1470050"/>
            <a:ext cx="5324451" cy="2335275"/>
          </a:xfrm>
          <a:prstGeom prst="rect">
            <a:avLst/>
          </a:prstGeom>
          <a:noFill/>
          <a:ln>
            <a:noFill/>
          </a:ln>
        </p:spPr>
      </p:pic>
      <p:pic>
        <p:nvPicPr>
          <p:cNvPr descr="image.png" id="109" name="Google Shape;109;p16"/>
          <p:cNvPicPr preferRelativeResize="0"/>
          <p:nvPr/>
        </p:nvPicPr>
        <p:blipFill rotWithShape="1">
          <a:blip r:embed="rId5">
            <a:alphaModFix/>
          </a:blip>
          <a:srcRect b="0" l="0" r="0" t="0"/>
          <a:stretch/>
        </p:blipFill>
        <p:spPr>
          <a:xfrm>
            <a:off x="6334125" y="1470052"/>
            <a:ext cx="5324474" cy="2335275"/>
          </a:xfrm>
          <a:prstGeom prst="rect">
            <a:avLst/>
          </a:prstGeom>
          <a:noFill/>
          <a:ln>
            <a:noFill/>
          </a:ln>
        </p:spPr>
      </p:pic>
      <p:sp>
        <p:nvSpPr>
          <p:cNvPr id="110" name="Google Shape;110;p16"/>
          <p:cNvSpPr/>
          <p:nvPr/>
        </p:nvSpPr>
        <p:spPr>
          <a:xfrm>
            <a:off x="3224212" y="1190625"/>
            <a:ext cx="38100" cy="2228850"/>
          </a:xfrm>
          <a:prstGeom prst="roundRect">
            <a:avLst>
              <a:gd fmla="val 50000" name="adj"/>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11" name="Google Shape;111;p16"/>
          <p:cNvSpPr txBox="1"/>
          <p:nvPr/>
        </p:nvSpPr>
        <p:spPr>
          <a:xfrm>
            <a:off x="887238" y="1713300"/>
            <a:ext cx="4970700" cy="3078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i="0" lang="en-US" sz="2000" u="none" cap="none" strike="noStrike">
                <a:solidFill>
                  <a:srgbClr val="06B6D4"/>
                </a:solidFill>
                <a:latin typeface="Poppins SemiBold"/>
                <a:ea typeface="Poppins SemiBold"/>
                <a:cs typeface="Poppins SemiBold"/>
                <a:sym typeface="Poppins SemiBold"/>
              </a:rPr>
              <a:t>mAP50</a:t>
            </a:r>
            <a:endParaRPr sz="2000">
              <a:latin typeface="Poppins"/>
              <a:ea typeface="Poppins"/>
              <a:cs typeface="Poppins"/>
              <a:sym typeface="Poppins"/>
            </a:endParaRPr>
          </a:p>
        </p:txBody>
      </p:sp>
      <p:sp>
        <p:nvSpPr>
          <p:cNvPr id="112" name="Google Shape;112;p16"/>
          <p:cNvSpPr txBox="1"/>
          <p:nvPr/>
        </p:nvSpPr>
        <p:spPr>
          <a:xfrm>
            <a:off x="876238" y="2243733"/>
            <a:ext cx="4734000" cy="4311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i="0" lang="en-US" u="none" cap="none" strike="noStrike">
                <a:solidFill>
                  <a:srgbClr val="94A3B8"/>
                </a:solidFill>
                <a:latin typeface="Poppins"/>
                <a:ea typeface="Poppins"/>
                <a:cs typeface="Poppins"/>
                <a:sym typeface="Poppins"/>
              </a:rPr>
              <a:t>Evalúa la precisión de detección con un umbral de intersección (IoU) de 0.50.</a:t>
            </a:r>
            <a:endParaRPr>
              <a:latin typeface="Poppins"/>
              <a:ea typeface="Poppins"/>
              <a:cs typeface="Poppins"/>
              <a:sym typeface="Poppins"/>
            </a:endParaRPr>
          </a:p>
        </p:txBody>
      </p:sp>
      <p:sp>
        <p:nvSpPr>
          <p:cNvPr id="113" name="Google Shape;113;p16"/>
          <p:cNvSpPr txBox="1"/>
          <p:nvPr/>
        </p:nvSpPr>
        <p:spPr>
          <a:xfrm>
            <a:off x="876238" y="2782492"/>
            <a:ext cx="4734000" cy="6465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SzPts val="1100"/>
              <a:buNone/>
            </a:pPr>
            <a:r>
              <a:rPr lang="en-US">
                <a:solidFill>
                  <a:srgbClr val="94A3B8"/>
                </a:solidFill>
                <a:latin typeface="Poppins"/>
                <a:ea typeface="Poppins"/>
                <a:cs typeface="Poppins"/>
                <a:sym typeface="Poppins"/>
              </a:rPr>
              <a:t>Esta métrica es útil para evaluar si el modelo</a:t>
            </a:r>
            <a:r>
              <a:rPr lang="en-US">
                <a:solidFill>
                  <a:srgbClr val="94A3B8"/>
                </a:solidFill>
                <a:latin typeface="Poppins"/>
                <a:ea typeface="Poppins"/>
                <a:cs typeface="Poppins"/>
                <a:sym typeface="Poppins"/>
              </a:rPr>
              <a:t> </a:t>
            </a:r>
            <a:r>
              <a:rPr lang="en-US">
                <a:solidFill>
                  <a:srgbClr val="94A3B8"/>
                </a:solidFill>
                <a:latin typeface="Poppins"/>
                <a:ea typeface="Poppins"/>
                <a:cs typeface="Poppins"/>
                <a:sym typeface="Poppins"/>
              </a:rPr>
              <a:t>detecta los objetos correctos, sin exigir una localización muy precisa.</a:t>
            </a:r>
            <a:endParaRPr>
              <a:solidFill>
                <a:srgbClr val="94A3B8"/>
              </a:solidFill>
              <a:latin typeface="Poppins"/>
              <a:ea typeface="Poppins"/>
              <a:cs typeface="Poppins"/>
              <a:sym typeface="Poppins"/>
            </a:endParaRPr>
          </a:p>
        </p:txBody>
      </p:sp>
      <p:sp>
        <p:nvSpPr>
          <p:cNvPr id="114" name="Google Shape;114;p16"/>
          <p:cNvSpPr/>
          <p:nvPr/>
        </p:nvSpPr>
        <p:spPr>
          <a:xfrm>
            <a:off x="8929687" y="1190625"/>
            <a:ext cx="38100" cy="2228850"/>
          </a:xfrm>
          <a:prstGeom prst="roundRect">
            <a:avLst>
              <a:gd fmla="val 50000" name="adj"/>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15" name="Google Shape;115;p16"/>
          <p:cNvSpPr txBox="1"/>
          <p:nvPr/>
        </p:nvSpPr>
        <p:spPr>
          <a:xfrm>
            <a:off x="6687900" y="1713288"/>
            <a:ext cx="4970700" cy="3078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i="0" lang="en-US" sz="2000" u="none" cap="none" strike="noStrike">
                <a:solidFill>
                  <a:srgbClr val="06B6D4"/>
                </a:solidFill>
                <a:latin typeface="Poppins SemiBold"/>
                <a:ea typeface="Poppins SemiBold"/>
                <a:cs typeface="Poppins SemiBold"/>
                <a:sym typeface="Poppins SemiBold"/>
              </a:rPr>
              <a:t>mAP50-95</a:t>
            </a:r>
            <a:endParaRPr sz="2000">
              <a:latin typeface="Poppins"/>
              <a:ea typeface="Poppins"/>
              <a:cs typeface="Poppins"/>
              <a:sym typeface="Poppins"/>
            </a:endParaRPr>
          </a:p>
        </p:txBody>
      </p:sp>
      <p:sp>
        <p:nvSpPr>
          <p:cNvPr id="116" name="Google Shape;116;p16"/>
          <p:cNvSpPr txBox="1"/>
          <p:nvPr/>
        </p:nvSpPr>
        <p:spPr>
          <a:xfrm>
            <a:off x="6687900" y="2243713"/>
            <a:ext cx="4734000" cy="6465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SzPts val="1100"/>
              <a:buNone/>
            </a:pPr>
            <a:r>
              <a:rPr lang="en-US">
                <a:solidFill>
                  <a:srgbClr val="94A3B8"/>
                </a:solidFill>
                <a:latin typeface="Poppins"/>
                <a:ea typeface="Poppins"/>
                <a:cs typeface="Poppins"/>
                <a:sym typeface="Poppins"/>
              </a:rPr>
              <a:t>Promedia la precisión media sobre diez umbrales de IoU distintos: 0.50, 0.55, 0.60, 0.65, 0.70, 0.75, 0.80, 0.85, 0.90 y 0.95.</a:t>
            </a:r>
            <a:endParaRPr>
              <a:solidFill>
                <a:srgbClr val="94A3B8"/>
              </a:solidFill>
              <a:latin typeface="Poppins"/>
              <a:ea typeface="Poppins"/>
              <a:cs typeface="Poppins"/>
              <a:sym typeface="Poppins"/>
            </a:endParaRPr>
          </a:p>
        </p:txBody>
      </p:sp>
      <p:sp>
        <p:nvSpPr>
          <p:cNvPr id="117" name="Google Shape;117;p16"/>
          <p:cNvSpPr txBox="1"/>
          <p:nvPr/>
        </p:nvSpPr>
        <p:spPr>
          <a:xfrm>
            <a:off x="581025" y="485775"/>
            <a:ext cx="11581500" cy="461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000" u="none" cap="none" strike="noStrike">
                <a:solidFill>
                  <a:srgbClr val="F8FAFC"/>
                </a:solidFill>
                <a:latin typeface="Poppins"/>
                <a:ea typeface="Poppins"/>
                <a:cs typeface="Poppins"/>
                <a:sym typeface="Poppins"/>
              </a:rPr>
              <a:t>Métricas de Evaluación</a:t>
            </a:r>
            <a:endParaRPr b="1" sz="3000">
              <a:latin typeface="Poppins"/>
              <a:ea typeface="Poppins"/>
              <a:cs typeface="Poppins"/>
              <a:sym typeface="Poppins"/>
            </a:endParaRPr>
          </a:p>
        </p:txBody>
      </p:sp>
      <p:sp>
        <p:nvSpPr>
          <p:cNvPr id="118" name="Google Shape;118;p16"/>
          <p:cNvSpPr/>
          <p:nvPr/>
        </p:nvSpPr>
        <p:spPr>
          <a:xfrm>
            <a:off x="5857875" y="700087"/>
            <a:ext cx="476250" cy="28575"/>
          </a:xfrm>
          <a:prstGeom prst="roundRect">
            <a:avLst>
              <a:gd fmla="val 50000" name="adj"/>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pic>
        <p:nvPicPr>
          <p:cNvPr id="119" name="Google Shape;119;p16"/>
          <p:cNvPicPr preferRelativeResize="0"/>
          <p:nvPr/>
        </p:nvPicPr>
        <p:blipFill>
          <a:blip r:embed="rId6">
            <a:alphaModFix/>
          </a:blip>
          <a:stretch>
            <a:fillRect/>
          </a:stretch>
        </p:blipFill>
        <p:spPr>
          <a:xfrm>
            <a:off x="2006400" y="4115100"/>
            <a:ext cx="2732400" cy="2131200"/>
          </a:xfrm>
          <a:prstGeom prst="snip2DiagRect">
            <a:avLst>
              <a:gd fmla="val 0" name="adj1"/>
              <a:gd fmla="val 16667" name="adj2"/>
            </a:avLst>
          </a:prstGeom>
          <a:noFill/>
          <a:ln>
            <a:noFill/>
          </a:ln>
        </p:spPr>
      </p:pic>
      <p:pic>
        <p:nvPicPr>
          <p:cNvPr id="120" name="Google Shape;120;p16"/>
          <p:cNvPicPr preferRelativeResize="0"/>
          <p:nvPr/>
        </p:nvPicPr>
        <p:blipFill>
          <a:blip r:embed="rId7">
            <a:alphaModFix/>
          </a:blip>
          <a:stretch>
            <a:fillRect/>
          </a:stretch>
        </p:blipFill>
        <p:spPr>
          <a:xfrm>
            <a:off x="6334123" y="4153350"/>
            <a:ext cx="4970700" cy="2054700"/>
          </a:xfrm>
          <a:prstGeom prst="snip2DiagRect">
            <a:avLst>
              <a:gd fmla="val 0" name="adj1"/>
              <a:gd fmla="val 16667" name="adj2"/>
            </a:avLst>
          </a:prstGeom>
          <a:noFill/>
          <a:ln>
            <a:noFill/>
          </a:ln>
        </p:spPr>
      </p:pic>
      <p:sp>
        <p:nvSpPr>
          <p:cNvPr id="121" name="Google Shape;121;p16"/>
          <p:cNvSpPr txBox="1"/>
          <p:nvPr/>
        </p:nvSpPr>
        <p:spPr>
          <a:xfrm>
            <a:off x="495596" y="1001013"/>
            <a:ext cx="3717300" cy="415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1500">
                <a:solidFill>
                  <a:srgbClr val="888888"/>
                </a:solidFill>
                <a:latin typeface="Poppins"/>
                <a:ea typeface="Poppins"/>
                <a:cs typeface="Poppins"/>
                <a:sym typeface="Poppins"/>
              </a:rPr>
              <a:t>|</a:t>
            </a:r>
            <a:r>
              <a:rPr lang="en-US" sz="1500">
                <a:solidFill>
                  <a:srgbClr val="888888"/>
                </a:solidFill>
                <a:latin typeface="Poppins"/>
                <a:ea typeface="Poppins"/>
                <a:cs typeface="Poppins"/>
                <a:sym typeface="Poppins"/>
              </a:rPr>
              <a:t> </a:t>
            </a:r>
            <a:r>
              <a:rPr lang="en-US" sz="1500">
                <a:solidFill>
                  <a:srgbClr val="888888"/>
                </a:solidFill>
                <a:latin typeface="Poppins"/>
                <a:ea typeface="Poppins"/>
                <a:cs typeface="Poppins"/>
                <a:sym typeface="Poppins"/>
              </a:rPr>
              <a:t>mAP - Precisión Media Promedio</a:t>
            </a:r>
            <a:endParaRPr sz="1500">
              <a:solidFill>
                <a:srgbClr val="888888"/>
              </a:solidFill>
              <a:latin typeface="Poppins"/>
              <a:ea typeface="Poppins"/>
              <a:cs typeface="Poppins"/>
              <a:sym typeface="Poppins"/>
            </a:endParaRPr>
          </a:p>
        </p:txBody>
      </p:sp>
      <p:sp>
        <p:nvSpPr>
          <p:cNvPr id="122" name="Google Shape;122;p16"/>
          <p:cNvSpPr txBox="1"/>
          <p:nvPr/>
        </p:nvSpPr>
        <p:spPr>
          <a:xfrm>
            <a:off x="6687900" y="2981888"/>
            <a:ext cx="4734000" cy="6465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SzPts val="1100"/>
              <a:buNone/>
            </a:pPr>
            <a:r>
              <a:rPr lang="en-US">
                <a:solidFill>
                  <a:srgbClr val="94A3B8"/>
                </a:solidFill>
                <a:latin typeface="Poppins"/>
                <a:ea typeface="Poppins"/>
                <a:cs typeface="Poppins"/>
                <a:sym typeface="Poppins"/>
              </a:rPr>
              <a:t>S</a:t>
            </a:r>
            <a:r>
              <a:rPr lang="en-US">
                <a:solidFill>
                  <a:srgbClr val="94A3B8"/>
                </a:solidFill>
                <a:latin typeface="Poppins"/>
                <a:ea typeface="Poppins"/>
                <a:cs typeface="Poppins"/>
                <a:sym typeface="Poppins"/>
              </a:rPr>
              <a:t>ignificativamente más exigente que mAP50, ya que penaliza los modelos cuyos bounding boxes no se ajustan con precisión al objeto detectado.</a:t>
            </a:r>
            <a:endParaRPr>
              <a:solidFill>
                <a:srgbClr val="94A3B8"/>
              </a:solidFill>
              <a:latin typeface="Poppins"/>
              <a:ea typeface="Poppins"/>
              <a:cs typeface="Poppins"/>
              <a:sym typeface="Poppins"/>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9"/>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90D16"/>
        </a:solidFill>
      </p:bgPr>
    </p:bg>
    <p:spTree>
      <p:nvGrpSpPr>
        <p:cNvPr id="126" name="Shape 126"/>
        <p:cNvGrpSpPr/>
        <p:nvPr/>
      </p:nvGrpSpPr>
      <p:grpSpPr>
        <a:xfrm>
          <a:off x="0" y="0"/>
          <a:ext cx="0" cy="0"/>
          <a:chOff x="0" y="0"/>
          <a:chExt cx="0" cy="0"/>
        </a:xfrm>
      </p:grpSpPr>
      <p:pic>
        <p:nvPicPr>
          <p:cNvPr descr="image.png" id="127" name="Google Shape;127;p17"/>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128" name="Google Shape;128;p17"/>
          <p:cNvPicPr preferRelativeResize="0"/>
          <p:nvPr/>
        </p:nvPicPr>
        <p:blipFill rotWithShape="1">
          <a:blip r:embed="rId4">
            <a:alphaModFix/>
          </a:blip>
          <a:srcRect b="0" l="0" r="0" t="0"/>
          <a:stretch/>
        </p:blipFill>
        <p:spPr>
          <a:xfrm>
            <a:off x="581025" y="2261363"/>
            <a:ext cx="5324451" cy="2335275"/>
          </a:xfrm>
          <a:prstGeom prst="rect">
            <a:avLst/>
          </a:prstGeom>
          <a:noFill/>
          <a:ln>
            <a:noFill/>
          </a:ln>
        </p:spPr>
      </p:pic>
      <p:pic>
        <p:nvPicPr>
          <p:cNvPr descr="image.png" id="129" name="Google Shape;129;p17"/>
          <p:cNvPicPr preferRelativeResize="0"/>
          <p:nvPr/>
        </p:nvPicPr>
        <p:blipFill rotWithShape="1">
          <a:blip r:embed="rId5">
            <a:alphaModFix/>
          </a:blip>
          <a:srcRect b="0" l="0" r="0" t="0"/>
          <a:stretch/>
        </p:blipFill>
        <p:spPr>
          <a:xfrm>
            <a:off x="6286488" y="2261364"/>
            <a:ext cx="5324474" cy="2335275"/>
          </a:xfrm>
          <a:prstGeom prst="rect">
            <a:avLst/>
          </a:prstGeom>
          <a:noFill/>
          <a:ln>
            <a:noFill/>
          </a:ln>
        </p:spPr>
      </p:pic>
      <p:sp>
        <p:nvSpPr>
          <p:cNvPr id="130" name="Google Shape;130;p17"/>
          <p:cNvSpPr/>
          <p:nvPr/>
        </p:nvSpPr>
        <p:spPr>
          <a:xfrm>
            <a:off x="3224212" y="1190625"/>
            <a:ext cx="38100" cy="2229000"/>
          </a:xfrm>
          <a:prstGeom prst="roundRect">
            <a:avLst>
              <a:gd fmla="val 50000" name="adj"/>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31" name="Google Shape;131;p17"/>
          <p:cNvSpPr txBox="1"/>
          <p:nvPr/>
        </p:nvSpPr>
        <p:spPr>
          <a:xfrm>
            <a:off x="887238" y="2504613"/>
            <a:ext cx="4970700" cy="3078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2000">
                <a:solidFill>
                  <a:srgbClr val="06B6D4"/>
                </a:solidFill>
                <a:latin typeface="Poppins SemiBold"/>
                <a:ea typeface="Poppins SemiBold"/>
                <a:cs typeface="Poppins SemiBold"/>
                <a:sym typeface="Poppins SemiBold"/>
              </a:rPr>
              <a:t>FPS</a:t>
            </a:r>
            <a:endParaRPr sz="2000">
              <a:latin typeface="Poppins"/>
              <a:ea typeface="Poppins"/>
              <a:cs typeface="Poppins"/>
              <a:sym typeface="Poppins"/>
            </a:endParaRPr>
          </a:p>
        </p:txBody>
      </p:sp>
      <p:sp>
        <p:nvSpPr>
          <p:cNvPr id="132" name="Google Shape;132;p17"/>
          <p:cNvSpPr txBox="1"/>
          <p:nvPr/>
        </p:nvSpPr>
        <p:spPr>
          <a:xfrm>
            <a:off x="876238" y="3035046"/>
            <a:ext cx="4734000" cy="11544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500">
                <a:solidFill>
                  <a:srgbClr val="94A3B8"/>
                </a:solidFill>
                <a:latin typeface="Poppins"/>
                <a:ea typeface="Poppins"/>
                <a:cs typeface="Poppins"/>
                <a:sym typeface="Poppins"/>
              </a:rPr>
              <a:t>Los fotogramas por segundo (FPS) expresan cuántas imágenes procesa el modelo en un segundo, determinando la frecuencia con la que el sistema puede actualizar su percepción del entorno.</a:t>
            </a:r>
            <a:endParaRPr sz="1500">
              <a:latin typeface="Poppins"/>
              <a:ea typeface="Poppins"/>
              <a:cs typeface="Poppins"/>
              <a:sym typeface="Poppins"/>
            </a:endParaRPr>
          </a:p>
        </p:txBody>
      </p:sp>
      <p:sp>
        <p:nvSpPr>
          <p:cNvPr id="133" name="Google Shape;133;p17"/>
          <p:cNvSpPr/>
          <p:nvPr/>
        </p:nvSpPr>
        <p:spPr>
          <a:xfrm>
            <a:off x="8929687" y="1190625"/>
            <a:ext cx="38100" cy="2229000"/>
          </a:xfrm>
          <a:prstGeom prst="roundRect">
            <a:avLst>
              <a:gd fmla="val 50000" name="adj"/>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34" name="Google Shape;134;p17"/>
          <p:cNvSpPr txBox="1"/>
          <p:nvPr/>
        </p:nvSpPr>
        <p:spPr>
          <a:xfrm>
            <a:off x="6640263" y="2504600"/>
            <a:ext cx="4970700" cy="3078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Clr>
                <a:srgbClr val="000000"/>
              </a:buClr>
              <a:buFont typeface="Arial"/>
              <a:buNone/>
            </a:pPr>
            <a:r>
              <a:rPr lang="en-US" sz="2000">
                <a:solidFill>
                  <a:srgbClr val="06B6D4"/>
                </a:solidFill>
                <a:latin typeface="Poppins SemiBold"/>
                <a:ea typeface="Poppins SemiBold"/>
                <a:cs typeface="Poppins SemiBold"/>
                <a:sym typeface="Poppins SemiBold"/>
              </a:rPr>
              <a:t>Latencia</a:t>
            </a:r>
            <a:endParaRPr sz="2000">
              <a:latin typeface="Poppins"/>
              <a:ea typeface="Poppins"/>
              <a:cs typeface="Poppins"/>
              <a:sym typeface="Poppins"/>
            </a:endParaRPr>
          </a:p>
        </p:txBody>
      </p:sp>
      <p:sp>
        <p:nvSpPr>
          <p:cNvPr id="135" name="Google Shape;135;p17"/>
          <p:cNvSpPr txBox="1"/>
          <p:nvPr/>
        </p:nvSpPr>
        <p:spPr>
          <a:xfrm>
            <a:off x="6640263" y="3035025"/>
            <a:ext cx="4734000" cy="9234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SzPts val="1100"/>
              <a:buNone/>
            </a:pPr>
            <a:r>
              <a:rPr lang="en-US" sz="1500">
                <a:solidFill>
                  <a:srgbClr val="94A3B8"/>
                </a:solidFill>
                <a:latin typeface="Poppins"/>
                <a:ea typeface="Poppins"/>
                <a:cs typeface="Poppins"/>
                <a:sym typeface="Poppins"/>
              </a:rPr>
              <a:t>La latencia de inferencia corresponde al tiempo en milisegundos requerido para procesar una imagen completa, desde que entra al modelo hasta que se obtienen las detecciones.</a:t>
            </a:r>
            <a:endParaRPr sz="1500">
              <a:solidFill>
                <a:srgbClr val="94A3B8"/>
              </a:solidFill>
              <a:latin typeface="Poppins"/>
              <a:ea typeface="Poppins"/>
              <a:cs typeface="Poppins"/>
              <a:sym typeface="Poppins"/>
            </a:endParaRPr>
          </a:p>
        </p:txBody>
      </p:sp>
      <p:sp>
        <p:nvSpPr>
          <p:cNvPr id="136" name="Google Shape;136;p17"/>
          <p:cNvSpPr txBox="1"/>
          <p:nvPr/>
        </p:nvSpPr>
        <p:spPr>
          <a:xfrm>
            <a:off x="581025" y="851900"/>
            <a:ext cx="3990900" cy="10776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3500">
                <a:solidFill>
                  <a:srgbClr val="F8FAFC"/>
                </a:solidFill>
                <a:latin typeface="Poppins"/>
                <a:ea typeface="Poppins"/>
                <a:cs typeface="Poppins"/>
                <a:sym typeface="Poppins"/>
              </a:rPr>
              <a:t>FPS y Latencia de Inferencia</a:t>
            </a:r>
            <a:endParaRPr b="1" sz="3500">
              <a:latin typeface="Poppins"/>
              <a:ea typeface="Poppins"/>
              <a:cs typeface="Poppins"/>
              <a:sym typeface="Poppins"/>
            </a:endParaRPr>
          </a:p>
        </p:txBody>
      </p:sp>
      <p:sp>
        <p:nvSpPr>
          <p:cNvPr id="137" name="Google Shape;137;p17"/>
          <p:cNvSpPr/>
          <p:nvPr/>
        </p:nvSpPr>
        <p:spPr>
          <a:xfrm>
            <a:off x="5857875" y="700087"/>
            <a:ext cx="476400" cy="28500"/>
          </a:xfrm>
          <a:prstGeom prst="roundRect">
            <a:avLst>
              <a:gd fmla="val 50000" name="adj"/>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38" name="Google Shape;138;p17"/>
          <p:cNvSpPr txBox="1"/>
          <p:nvPr/>
        </p:nvSpPr>
        <p:spPr>
          <a:xfrm>
            <a:off x="2581200" y="4862175"/>
            <a:ext cx="7029600" cy="677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sz="3200">
                <a:solidFill>
                  <a:schemeClr val="lt1"/>
                </a:solidFill>
                <a:latin typeface="Poppins"/>
                <a:ea typeface="Poppins"/>
                <a:cs typeface="Poppins"/>
                <a:sym typeface="Poppins"/>
              </a:rPr>
              <a:t>A mayor latencia, menor FPS.</a:t>
            </a:r>
            <a:endParaRPr b="1" sz="3200">
              <a:solidFill>
                <a:schemeClr val="lt1"/>
              </a:solidFill>
              <a:latin typeface="Poppins"/>
              <a:ea typeface="Poppins"/>
              <a:cs typeface="Poppins"/>
              <a:sym typeface="Poppins"/>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90D16"/>
        </a:solidFill>
      </p:bgPr>
    </p:bg>
    <p:spTree>
      <p:nvGrpSpPr>
        <p:cNvPr id="142" name="Shape 142"/>
        <p:cNvGrpSpPr/>
        <p:nvPr/>
      </p:nvGrpSpPr>
      <p:grpSpPr>
        <a:xfrm>
          <a:off x="0" y="0"/>
          <a:ext cx="0" cy="0"/>
          <a:chOff x="0" y="0"/>
          <a:chExt cx="0" cy="0"/>
        </a:xfrm>
      </p:grpSpPr>
      <p:pic>
        <p:nvPicPr>
          <p:cNvPr descr="image.png" id="143" name="Google Shape;143;p18"/>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144" name="Google Shape;144;p18"/>
          <p:cNvSpPr txBox="1"/>
          <p:nvPr/>
        </p:nvSpPr>
        <p:spPr>
          <a:xfrm>
            <a:off x="581100" y="510200"/>
            <a:ext cx="3990900" cy="13854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4500">
                <a:solidFill>
                  <a:srgbClr val="F8FAFC"/>
                </a:solidFill>
                <a:latin typeface="Poppins"/>
                <a:ea typeface="Poppins"/>
                <a:cs typeface="Poppins"/>
                <a:sym typeface="Poppins"/>
              </a:rPr>
              <a:t>Cuantización de Modelos</a:t>
            </a:r>
            <a:endParaRPr b="1" sz="4500">
              <a:latin typeface="Poppins"/>
              <a:ea typeface="Poppins"/>
              <a:cs typeface="Poppins"/>
              <a:sym typeface="Poppins"/>
            </a:endParaRPr>
          </a:p>
        </p:txBody>
      </p:sp>
      <p:sp>
        <p:nvSpPr>
          <p:cNvPr id="145" name="Google Shape;145;p18"/>
          <p:cNvSpPr/>
          <p:nvPr/>
        </p:nvSpPr>
        <p:spPr>
          <a:xfrm>
            <a:off x="5857875" y="700087"/>
            <a:ext cx="476250" cy="28575"/>
          </a:xfrm>
          <a:prstGeom prst="roundRect">
            <a:avLst>
              <a:gd fmla="val 50000" name="adj"/>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46" name="Google Shape;146;p18"/>
          <p:cNvSpPr txBox="1"/>
          <p:nvPr/>
        </p:nvSpPr>
        <p:spPr>
          <a:xfrm>
            <a:off x="581100" y="2038125"/>
            <a:ext cx="8130600" cy="1108200"/>
          </a:xfrm>
          <a:prstGeom prst="rect">
            <a:avLst/>
          </a:prstGeom>
          <a:solidFill>
            <a:srgbClr val="000000">
              <a:alpha val="0"/>
            </a:srgbClr>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2000">
                <a:solidFill>
                  <a:schemeClr val="lt1"/>
                </a:solidFill>
                <a:highlight>
                  <a:srgbClr val="000000"/>
                </a:highlight>
                <a:latin typeface="Poppins"/>
                <a:ea typeface="Poppins"/>
                <a:cs typeface="Poppins"/>
                <a:sym typeface="Poppins"/>
              </a:rPr>
              <a:t>Técnica que reduce la precisión numérica de los pesos de una red neuronal para disminuir su tamaño y acelerar la inferencia.</a:t>
            </a:r>
            <a:endParaRPr sz="2000">
              <a:solidFill>
                <a:schemeClr val="lt1"/>
              </a:solidFill>
              <a:highlight>
                <a:srgbClr val="000000"/>
              </a:highlight>
              <a:latin typeface="Poppins"/>
              <a:ea typeface="Poppins"/>
              <a:cs typeface="Poppins"/>
              <a:sym typeface="Poppins"/>
            </a:endParaRPr>
          </a:p>
        </p:txBody>
      </p:sp>
      <p:sp>
        <p:nvSpPr>
          <p:cNvPr id="147" name="Google Shape;147;p18"/>
          <p:cNvSpPr txBox="1"/>
          <p:nvPr/>
        </p:nvSpPr>
        <p:spPr>
          <a:xfrm>
            <a:off x="637500" y="5064750"/>
            <a:ext cx="80742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a:solidFill>
                  <a:srgbClr val="888888"/>
                </a:solidFill>
              </a:rPr>
              <a:t>| </a:t>
            </a:r>
            <a:r>
              <a:rPr lang="en-US">
                <a:solidFill>
                  <a:srgbClr val="888888"/>
                </a:solidFill>
              </a:rPr>
              <a:t>La precisión de detección no se compromete significativamente en el proceso.</a:t>
            </a:r>
            <a:endParaRPr>
              <a:solidFill>
                <a:srgbClr val="888888"/>
              </a:solidFill>
            </a:endParaRPr>
          </a:p>
        </p:txBody>
      </p:sp>
      <p:graphicFrame>
        <p:nvGraphicFramePr>
          <p:cNvPr id="148" name="Google Shape;148;p18"/>
          <p:cNvGraphicFramePr/>
          <p:nvPr/>
        </p:nvGraphicFramePr>
        <p:xfrm>
          <a:off x="703150" y="3263600"/>
          <a:ext cx="3000000" cy="3000000"/>
        </p:xfrm>
        <a:graphic>
          <a:graphicData uri="http://schemas.openxmlformats.org/drawingml/2006/table">
            <a:tbl>
              <a:tblPr>
                <a:noFill/>
                <a:tableStyleId>{D35CD50D-5DEC-44B7-953A-13B2CB2A3B47}</a:tableStyleId>
              </a:tblPr>
              <a:tblGrid>
                <a:gridCol w="1022050"/>
                <a:gridCol w="1586450"/>
                <a:gridCol w="1937300"/>
                <a:gridCol w="3584800"/>
              </a:tblGrid>
              <a:tr h="180975">
                <a:tc>
                  <a:txBody>
                    <a:bodyPr/>
                    <a:lstStyle/>
                    <a:p>
                      <a:pPr indent="0" lvl="0" marL="0" rtl="0" algn="l">
                        <a:lnSpc>
                          <a:spcPct val="115000"/>
                        </a:lnSpc>
                        <a:spcBef>
                          <a:spcPts val="0"/>
                        </a:spcBef>
                        <a:spcAft>
                          <a:spcPts val="0"/>
                        </a:spcAft>
                        <a:buNone/>
                      </a:pPr>
                      <a:r>
                        <a:rPr b="1" lang="en-US" sz="1500">
                          <a:solidFill>
                            <a:schemeClr val="lt1"/>
                          </a:solidFill>
                          <a:latin typeface="Poppins"/>
                          <a:ea typeface="Poppins"/>
                          <a:cs typeface="Poppins"/>
                          <a:sym typeface="Poppins"/>
                        </a:rPr>
                        <a:t>Formato</a:t>
                      </a:r>
                      <a:endParaRPr b="1" sz="1500">
                        <a:solidFill>
                          <a:schemeClr val="lt1"/>
                        </a:solidFill>
                        <a:latin typeface="Poppins"/>
                        <a:ea typeface="Poppins"/>
                        <a:cs typeface="Poppins"/>
                        <a:sym typeface="Poppins"/>
                      </a:endParaRPr>
                    </a:p>
                  </a:txBody>
                  <a:tcPr marT="91425" marB="91425" marR="91425" marL="91425">
                    <a:lnL cap="flat" cmpd="sng" w="9525">
                      <a:solidFill>
                        <a:schemeClr val="accent1"/>
                      </a:solidFill>
                      <a:prstDash val="solid"/>
                      <a:round/>
                      <a:headEnd len="sm" w="sm" type="none"/>
                      <a:tailEnd len="sm" w="sm" type="none"/>
                    </a:lnL>
                    <a:lnR cap="flat" cmpd="sng" w="9525">
                      <a:solidFill>
                        <a:schemeClr val="accent1"/>
                      </a:solidFill>
                      <a:prstDash val="solid"/>
                      <a:round/>
                      <a:headEnd len="sm" w="sm" type="none"/>
                      <a:tailEnd len="sm" w="sm" type="none"/>
                    </a:lnR>
                    <a:lnT cap="flat" cmpd="sng" w="9525">
                      <a:solidFill>
                        <a:schemeClr val="accent1"/>
                      </a:solidFill>
                      <a:prstDash val="solid"/>
                      <a:round/>
                      <a:headEnd len="sm" w="sm" type="none"/>
                      <a:tailEnd len="sm" w="sm" type="none"/>
                    </a:lnT>
                    <a:lnB cap="flat" cmpd="sng" w="9525">
                      <a:solidFill>
                        <a:schemeClr val="accent1"/>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b="1" lang="en-US" sz="1500">
                          <a:solidFill>
                            <a:schemeClr val="lt1"/>
                          </a:solidFill>
                          <a:latin typeface="Poppins"/>
                          <a:ea typeface="Poppins"/>
                          <a:cs typeface="Poppins"/>
                          <a:sym typeface="Poppins"/>
                        </a:rPr>
                        <a:t>Bits por peso</a:t>
                      </a:r>
                      <a:endParaRPr b="1" sz="1500">
                        <a:solidFill>
                          <a:schemeClr val="lt1"/>
                        </a:solidFill>
                        <a:latin typeface="Poppins"/>
                        <a:ea typeface="Poppins"/>
                        <a:cs typeface="Poppins"/>
                        <a:sym typeface="Poppins"/>
                      </a:endParaRPr>
                    </a:p>
                  </a:txBody>
                  <a:tcPr marT="91425" marB="91425" marR="91425" marL="91425">
                    <a:lnL cap="flat" cmpd="sng" w="9525">
                      <a:solidFill>
                        <a:schemeClr val="accent1"/>
                      </a:solidFill>
                      <a:prstDash val="solid"/>
                      <a:round/>
                      <a:headEnd len="sm" w="sm" type="none"/>
                      <a:tailEnd len="sm" w="sm" type="none"/>
                    </a:lnL>
                    <a:lnR cap="flat" cmpd="sng" w="9525">
                      <a:solidFill>
                        <a:schemeClr val="accent1"/>
                      </a:solidFill>
                      <a:prstDash val="solid"/>
                      <a:round/>
                      <a:headEnd len="sm" w="sm" type="none"/>
                      <a:tailEnd len="sm" w="sm" type="none"/>
                    </a:lnR>
                    <a:lnT cap="flat" cmpd="sng" w="9525">
                      <a:solidFill>
                        <a:schemeClr val="accent1"/>
                      </a:solidFill>
                      <a:prstDash val="solid"/>
                      <a:round/>
                      <a:headEnd len="sm" w="sm" type="none"/>
                      <a:tailEnd len="sm" w="sm" type="none"/>
                    </a:lnT>
                    <a:lnB cap="flat" cmpd="sng" w="9525">
                      <a:solidFill>
                        <a:schemeClr val="accent1"/>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b="1" lang="en-US" sz="1500">
                          <a:solidFill>
                            <a:schemeClr val="lt1"/>
                          </a:solidFill>
                          <a:latin typeface="Poppins"/>
                          <a:ea typeface="Poppins"/>
                          <a:cs typeface="Poppins"/>
                          <a:sym typeface="Poppins"/>
                        </a:rPr>
                        <a:t>Tamaño relativo</a:t>
                      </a:r>
                      <a:endParaRPr b="1" sz="1500">
                        <a:solidFill>
                          <a:schemeClr val="lt1"/>
                        </a:solidFill>
                        <a:latin typeface="Poppins"/>
                        <a:ea typeface="Poppins"/>
                        <a:cs typeface="Poppins"/>
                        <a:sym typeface="Poppins"/>
                      </a:endParaRPr>
                    </a:p>
                  </a:txBody>
                  <a:tcPr marT="91425" marB="91425" marR="91425" marL="91425">
                    <a:lnL cap="flat" cmpd="sng" w="9525">
                      <a:solidFill>
                        <a:schemeClr val="accent1"/>
                      </a:solidFill>
                      <a:prstDash val="solid"/>
                      <a:round/>
                      <a:headEnd len="sm" w="sm" type="none"/>
                      <a:tailEnd len="sm" w="sm" type="none"/>
                    </a:lnL>
                    <a:lnR cap="flat" cmpd="sng" w="9525">
                      <a:solidFill>
                        <a:schemeClr val="accent1"/>
                      </a:solidFill>
                      <a:prstDash val="solid"/>
                      <a:round/>
                      <a:headEnd len="sm" w="sm" type="none"/>
                      <a:tailEnd len="sm" w="sm" type="none"/>
                    </a:lnR>
                    <a:lnT cap="flat" cmpd="sng" w="9525">
                      <a:solidFill>
                        <a:schemeClr val="accent1"/>
                      </a:solidFill>
                      <a:prstDash val="solid"/>
                      <a:round/>
                      <a:headEnd len="sm" w="sm" type="none"/>
                      <a:tailEnd len="sm" w="sm" type="none"/>
                    </a:lnT>
                    <a:lnB cap="flat" cmpd="sng" w="9525">
                      <a:solidFill>
                        <a:schemeClr val="accent1"/>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b="1" lang="en-US" sz="1500">
                          <a:solidFill>
                            <a:schemeClr val="lt1"/>
                          </a:solidFill>
                          <a:latin typeface="Poppins"/>
                          <a:ea typeface="Poppins"/>
                          <a:cs typeface="Poppins"/>
                          <a:sym typeface="Poppins"/>
                        </a:rPr>
                        <a:t>Velocidad</a:t>
                      </a:r>
                      <a:endParaRPr b="1" sz="1500">
                        <a:solidFill>
                          <a:schemeClr val="lt1"/>
                        </a:solidFill>
                        <a:latin typeface="Poppins"/>
                        <a:ea typeface="Poppins"/>
                        <a:cs typeface="Poppins"/>
                        <a:sym typeface="Poppins"/>
                      </a:endParaRPr>
                    </a:p>
                  </a:txBody>
                  <a:tcPr marT="91425" marB="91425" marR="91425" marL="91425">
                    <a:lnL cap="flat" cmpd="sng" w="9525">
                      <a:solidFill>
                        <a:schemeClr val="accent1"/>
                      </a:solidFill>
                      <a:prstDash val="solid"/>
                      <a:round/>
                      <a:headEnd len="sm" w="sm" type="none"/>
                      <a:tailEnd len="sm" w="sm" type="none"/>
                    </a:lnL>
                    <a:lnR cap="flat" cmpd="sng" w="9525">
                      <a:solidFill>
                        <a:schemeClr val="accent1"/>
                      </a:solidFill>
                      <a:prstDash val="solid"/>
                      <a:round/>
                      <a:headEnd len="sm" w="sm" type="none"/>
                      <a:tailEnd len="sm" w="sm" type="none"/>
                    </a:lnR>
                    <a:lnT cap="flat" cmpd="sng" w="9525">
                      <a:solidFill>
                        <a:schemeClr val="accent1"/>
                      </a:solidFill>
                      <a:prstDash val="solid"/>
                      <a:round/>
                      <a:headEnd len="sm" w="sm" type="none"/>
                      <a:tailEnd len="sm" w="sm" type="none"/>
                    </a:lnT>
                    <a:lnB cap="flat" cmpd="sng" w="9525">
                      <a:solidFill>
                        <a:schemeClr val="accent1"/>
                      </a:solidFill>
                      <a:prstDash val="solid"/>
                      <a:round/>
                      <a:headEnd len="sm" w="sm" type="none"/>
                      <a:tailEnd len="sm" w="sm" type="none"/>
                    </a:lnB>
                  </a:tcPr>
                </a:tc>
              </a:tr>
              <a:tr h="180975">
                <a:tc>
                  <a:txBody>
                    <a:bodyPr/>
                    <a:lstStyle/>
                    <a:p>
                      <a:pPr indent="0" lvl="0" marL="0" rtl="0" algn="l">
                        <a:spcBef>
                          <a:spcPts val="0"/>
                        </a:spcBef>
                        <a:spcAft>
                          <a:spcPts val="0"/>
                        </a:spcAft>
                        <a:buNone/>
                      </a:pPr>
                      <a:r>
                        <a:rPr lang="en-US" sz="1500">
                          <a:solidFill>
                            <a:schemeClr val="lt1"/>
                          </a:solidFill>
                          <a:latin typeface="Poppins"/>
                          <a:ea typeface="Poppins"/>
                          <a:cs typeface="Poppins"/>
                          <a:sym typeface="Poppins"/>
                        </a:rPr>
                        <a:t>Float32</a:t>
                      </a:r>
                      <a:endParaRPr sz="1500">
                        <a:solidFill>
                          <a:schemeClr val="lt1"/>
                        </a:solidFill>
                        <a:latin typeface="Poppins"/>
                        <a:ea typeface="Poppins"/>
                        <a:cs typeface="Poppins"/>
                        <a:sym typeface="Poppins"/>
                      </a:endParaRPr>
                    </a:p>
                  </a:txBody>
                  <a:tcPr marT="91425" marB="91425" marR="91425" marL="91425">
                    <a:lnL cap="flat" cmpd="sng" w="9525">
                      <a:solidFill>
                        <a:schemeClr val="accent1"/>
                      </a:solidFill>
                      <a:prstDash val="solid"/>
                      <a:round/>
                      <a:headEnd len="sm" w="sm" type="none"/>
                      <a:tailEnd len="sm" w="sm" type="none"/>
                    </a:lnL>
                    <a:lnR cap="flat" cmpd="sng" w="9525">
                      <a:solidFill>
                        <a:schemeClr val="accent1"/>
                      </a:solidFill>
                      <a:prstDash val="solid"/>
                      <a:round/>
                      <a:headEnd len="sm" w="sm" type="none"/>
                      <a:tailEnd len="sm" w="sm" type="none"/>
                    </a:lnR>
                    <a:lnT cap="flat" cmpd="sng" w="9525">
                      <a:solidFill>
                        <a:schemeClr val="accent1"/>
                      </a:solidFill>
                      <a:prstDash val="solid"/>
                      <a:round/>
                      <a:headEnd len="sm" w="sm" type="none"/>
                      <a:tailEnd len="sm" w="sm" type="none"/>
                    </a:lnT>
                    <a:lnB cap="flat" cmpd="sng" w="9525">
                      <a:solidFill>
                        <a:schemeClr val="accent1"/>
                      </a:solidFill>
                      <a:prstDash val="solid"/>
                      <a:round/>
                      <a:headEnd len="sm" w="sm" type="none"/>
                      <a:tailEnd len="sm" w="sm" type="none"/>
                    </a:lnB>
                  </a:tcPr>
                </a:tc>
                <a:tc>
                  <a:txBody>
                    <a:bodyPr/>
                    <a:lstStyle/>
                    <a:p>
                      <a:pPr indent="0" lvl="0" marL="0" rtl="0" algn="l">
                        <a:spcBef>
                          <a:spcPts val="0"/>
                        </a:spcBef>
                        <a:spcAft>
                          <a:spcPts val="0"/>
                        </a:spcAft>
                        <a:buNone/>
                      </a:pPr>
                      <a:r>
                        <a:rPr lang="en-US" sz="1500">
                          <a:solidFill>
                            <a:schemeClr val="lt1"/>
                          </a:solidFill>
                          <a:latin typeface="Poppins"/>
                          <a:ea typeface="Poppins"/>
                          <a:cs typeface="Poppins"/>
                          <a:sym typeface="Poppins"/>
                        </a:rPr>
                        <a:t>32 bits</a:t>
                      </a:r>
                      <a:endParaRPr sz="1500">
                        <a:solidFill>
                          <a:schemeClr val="lt1"/>
                        </a:solidFill>
                        <a:latin typeface="Poppins"/>
                        <a:ea typeface="Poppins"/>
                        <a:cs typeface="Poppins"/>
                        <a:sym typeface="Poppins"/>
                      </a:endParaRPr>
                    </a:p>
                  </a:txBody>
                  <a:tcPr marT="91425" marB="91425" marR="91425" marL="91425">
                    <a:lnL cap="flat" cmpd="sng" w="9525">
                      <a:solidFill>
                        <a:schemeClr val="accent1"/>
                      </a:solidFill>
                      <a:prstDash val="solid"/>
                      <a:round/>
                      <a:headEnd len="sm" w="sm" type="none"/>
                      <a:tailEnd len="sm" w="sm" type="none"/>
                    </a:lnL>
                    <a:lnR cap="flat" cmpd="sng" w="9525">
                      <a:solidFill>
                        <a:schemeClr val="accent1"/>
                      </a:solidFill>
                      <a:prstDash val="solid"/>
                      <a:round/>
                      <a:headEnd len="sm" w="sm" type="none"/>
                      <a:tailEnd len="sm" w="sm" type="none"/>
                    </a:lnR>
                    <a:lnT cap="flat" cmpd="sng" w="9525">
                      <a:solidFill>
                        <a:schemeClr val="accent1"/>
                      </a:solidFill>
                      <a:prstDash val="solid"/>
                      <a:round/>
                      <a:headEnd len="sm" w="sm" type="none"/>
                      <a:tailEnd len="sm" w="sm" type="none"/>
                    </a:lnT>
                    <a:lnB cap="flat" cmpd="sng" w="9525">
                      <a:solidFill>
                        <a:schemeClr val="accent1"/>
                      </a:solidFill>
                      <a:prstDash val="solid"/>
                      <a:round/>
                      <a:headEnd len="sm" w="sm" type="none"/>
                      <a:tailEnd len="sm" w="sm" type="none"/>
                    </a:lnB>
                  </a:tcPr>
                </a:tc>
                <a:tc>
                  <a:txBody>
                    <a:bodyPr/>
                    <a:lstStyle/>
                    <a:p>
                      <a:pPr indent="0" lvl="0" marL="0" rtl="0" algn="l">
                        <a:spcBef>
                          <a:spcPts val="0"/>
                        </a:spcBef>
                        <a:spcAft>
                          <a:spcPts val="0"/>
                        </a:spcAft>
                        <a:buNone/>
                      </a:pPr>
                      <a:r>
                        <a:rPr lang="en-US" sz="1500">
                          <a:solidFill>
                            <a:schemeClr val="lt1"/>
                          </a:solidFill>
                          <a:latin typeface="Poppins"/>
                          <a:ea typeface="Poppins"/>
                          <a:cs typeface="Poppins"/>
                          <a:sym typeface="Poppins"/>
                        </a:rPr>
                        <a:t>100%</a:t>
                      </a:r>
                      <a:endParaRPr sz="1500">
                        <a:solidFill>
                          <a:schemeClr val="lt1"/>
                        </a:solidFill>
                        <a:latin typeface="Poppins"/>
                        <a:ea typeface="Poppins"/>
                        <a:cs typeface="Poppins"/>
                        <a:sym typeface="Poppins"/>
                      </a:endParaRPr>
                    </a:p>
                  </a:txBody>
                  <a:tcPr marT="91425" marB="91425" marR="91425" marL="91425">
                    <a:lnL cap="flat" cmpd="sng" w="9525">
                      <a:solidFill>
                        <a:schemeClr val="accent1"/>
                      </a:solidFill>
                      <a:prstDash val="solid"/>
                      <a:round/>
                      <a:headEnd len="sm" w="sm" type="none"/>
                      <a:tailEnd len="sm" w="sm" type="none"/>
                    </a:lnL>
                    <a:lnR cap="flat" cmpd="sng" w="9525">
                      <a:solidFill>
                        <a:schemeClr val="accent1"/>
                      </a:solidFill>
                      <a:prstDash val="solid"/>
                      <a:round/>
                      <a:headEnd len="sm" w="sm" type="none"/>
                      <a:tailEnd len="sm" w="sm" type="none"/>
                    </a:lnR>
                    <a:lnT cap="flat" cmpd="sng" w="9525">
                      <a:solidFill>
                        <a:schemeClr val="accent1"/>
                      </a:solidFill>
                      <a:prstDash val="solid"/>
                      <a:round/>
                      <a:headEnd len="sm" w="sm" type="none"/>
                      <a:tailEnd len="sm" w="sm" type="none"/>
                    </a:lnT>
                    <a:lnB cap="flat" cmpd="sng" w="9525">
                      <a:solidFill>
                        <a:schemeClr val="accent1"/>
                      </a:solidFill>
                      <a:prstDash val="solid"/>
                      <a:round/>
                      <a:headEnd len="sm" w="sm" type="none"/>
                      <a:tailEnd len="sm" w="sm" type="none"/>
                    </a:lnB>
                  </a:tcPr>
                </a:tc>
                <a:tc>
                  <a:txBody>
                    <a:bodyPr/>
                    <a:lstStyle/>
                    <a:p>
                      <a:pPr indent="0" lvl="0" marL="0" rtl="0" algn="l">
                        <a:spcBef>
                          <a:spcPts val="0"/>
                        </a:spcBef>
                        <a:spcAft>
                          <a:spcPts val="0"/>
                        </a:spcAft>
                        <a:buNone/>
                      </a:pPr>
                      <a:r>
                        <a:rPr lang="en-US" sz="1500">
                          <a:solidFill>
                            <a:schemeClr val="lt1"/>
                          </a:solidFill>
                          <a:latin typeface="Poppins"/>
                          <a:ea typeface="Poppins"/>
                          <a:cs typeface="Poppins"/>
                          <a:sym typeface="Poppins"/>
                        </a:rPr>
                        <a:t>Base</a:t>
                      </a:r>
                      <a:endParaRPr sz="1500">
                        <a:solidFill>
                          <a:schemeClr val="lt1"/>
                        </a:solidFill>
                        <a:latin typeface="Poppins"/>
                        <a:ea typeface="Poppins"/>
                        <a:cs typeface="Poppins"/>
                        <a:sym typeface="Poppins"/>
                      </a:endParaRPr>
                    </a:p>
                  </a:txBody>
                  <a:tcPr marT="91425" marB="91425" marR="91425" marL="91425">
                    <a:lnL cap="flat" cmpd="sng" w="9525">
                      <a:solidFill>
                        <a:schemeClr val="accent1"/>
                      </a:solidFill>
                      <a:prstDash val="solid"/>
                      <a:round/>
                      <a:headEnd len="sm" w="sm" type="none"/>
                      <a:tailEnd len="sm" w="sm" type="none"/>
                    </a:lnL>
                    <a:lnR cap="flat" cmpd="sng" w="9525">
                      <a:solidFill>
                        <a:schemeClr val="accent1"/>
                      </a:solidFill>
                      <a:prstDash val="solid"/>
                      <a:round/>
                      <a:headEnd len="sm" w="sm" type="none"/>
                      <a:tailEnd len="sm" w="sm" type="none"/>
                    </a:lnR>
                    <a:lnT cap="flat" cmpd="sng" w="9525">
                      <a:solidFill>
                        <a:schemeClr val="accent1"/>
                      </a:solidFill>
                      <a:prstDash val="solid"/>
                      <a:round/>
                      <a:headEnd len="sm" w="sm" type="none"/>
                      <a:tailEnd len="sm" w="sm" type="none"/>
                    </a:lnT>
                    <a:lnB cap="flat" cmpd="sng" w="9525">
                      <a:solidFill>
                        <a:schemeClr val="accent1"/>
                      </a:solidFill>
                      <a:prstDash val="solid"/>
                      <a:round/>
                      <a:headEnd len="sm" w="sm" type="none"/>
                      <a:tailEnd len="sm" w="sm" type="none"/>
                    </a:lnB>
                  </a:tcPr>
                </a:tc>
              </a:tr>
              <a:tr h="180975">
                <a:tc>
                  <a:txBody>
                    <a:bodyPr/>
                    <a:lstStyle/>
                    <a:p>
                      <a:pPr indent="0" lvl="0" marL="0" rtl="0" algn="l">
                        <a:spcBef>
                          <a:spcPts val="0"/>
                        </a:spcBef>
                        <a:spcAft>
                          <a:spcPts val="0"/>
                        </a:spcAft>
                        <a:buNone/>
                      </a:pPr>
                      <a:r>
                        <a:rPr lang="en-US" sz="1500">
                          <a:solidFill>
                            <a:schemeClr val="lt1"/>
                          </a:solidFill>
                          <a:latin typeface="Poppins"/>
                          <a:ea typeface="Poppins"/>
                          <a:cs typeface="Poppins"/>
                          <a:sym typeface="Poppins"/>
                        </a:rPr>
                        <a:t>Float16</a:t>
                      </a:r>
                      <a:endParaRPr sz="1500">
                        <a:solidFill>
                          <a:schemeClr val="lt1"/>
                        </a:solidFill>
                        <a:latin typeface="Poppins"/>
                        <a:ea typeface="Poppins"/>
                        <a:cs typeface="Poppins"/>
                        <a:sym typeface="Poppins"/>
                      </a:endParaRPr>
                    </a:p>
                  </a:txBody>
                  <a:tcPr marT="91425" marB="91425" marR="91425" marL="91425">
                    <a:lnL cap="flat" cmpd="sng" w="9525">
                      <a:solidFill>
                        <a:schemeClr val="accent1"/>
                      </a:solidFill>
                      <a:prstDash val="solid"/>
                      <a:round/>
                      <a:headEnd len="sm" w="sm" type="none"/>
                      <a:tailEnd len="sm" w="sm" type="none"/>
                    </a:lnL>
                    <a:lnR cap="flat" cmpd="sng" w="9525">
                      <a:solidFill>
                        <a:schemeClr val="accent1"/>
                      </a:solidFill>
                      <a:prstDash val="solid"/>
                      <a:round/>
                      <a:headEnd len="sm" w="sm" type="none"/>
                      <a:tailEnd len="sm" w="sm" type="none"/>
                    </a:lnR>
                    <a:lnT cap="flat" cmpd="sng" w="9525">
                      <a:solidFill>
                        <a:schemeClr val="accent1"/>
                      </a:solidFill>
                      <a:prstDash val="solid"/>
                      <a:round/>
                      <a:headEnd len="sm" w="sm" type="none"/>
                      <a:tailEnd len="sm" w="sm" type="none"/>
                    </a:lnT>
                    <a:lnB cap="flat" cmpd="sng" w="9525">
                      <a:solidFill>
                        <a:schemeClr val="accent1"/>
                      </a:solidFill>
                      <a:prstDash val="solid"/>
                      <a:round/>
                      <a:headEnd len="sm" w="sm" type="none"/>
                      <a:tailEnd len="sm" w="sm" type="none"/>
                    </a:lnB>
                  </a:tcPr>
                </a:tc>
                <a:tc>
                  <a:txBody>
                    <a:bodyPr/>
                    <a:lstStyle/>
                    <a:p>
                      <a:pPr indent="0" lvl="0" marL="0" rtl="0" algn="l">
                        <a:spcBef>
                          <a:spcPts val="0"/>
                        </a:spcBef>
                        <a:spcAft>
                          <a:spcPts val="0"/>
                        </a:spcAft>
                        <a:buNone/>
                      </a:pPr>
                      <a:r>
                        <a:rPr lang="en-US" sz="1500">
                          <a:solidFill>
                            <a:schemeClr val="lt1"/>
                          </a:solidFill>
                          <a:latin typeface="Poppins"/>
                          <a:ea typeface="Poppins"/>
                          <a:cs typeface="Poppins"/>
                          <a:sym typeface="Poppins"/>
                        </a:rPr>
                        <a:t>16 bits</a:t>
                      </a:r>
                      <a:endParaRPr sz="1500">
                        <a:solidFill>
                          <a:schemeClr val="lt1"/>
                        </a:solidFill>
                        <a:latin typeface="Poppins"/>
                        <a:ea typeface="Poppins"/>
                        <a:cs typeface="Poppins"/>
                        <a:sym typeface="Poppins"/>
                      </a:endParaRPr>
                    </a:p>
                  </a:txBody>
                  <a:tcPr marT="91425" marB="91425" marR="91425" marL="91425">
                    <a:lnL cap="flat" cmpd="sng" w="9525">
                      <a:solidFill>
                        <a:schemeClr val="accent1"/>
                      </a:solidFill>
                      <a:prstDash val="solid"/>
                      <a:round/>
                      <a:headEnd len="sm" w="sm" type="none"/>
                      <a:tailEnd len="sm" w="sm" type="none"/>
                    </a:lnL>
                    <a:lnR cap="flat" cmpd="sng" w="9525">
                      <a:solidFill>
                        <a:schemeClr val="accent1"/>
                      </a:solidFill>
                      <a:prstDash val="solid"/>
                      <a:round/>
                      <a:headEnd len="sm" w="sm" type="none"/>
                      <a:tailEnd len="sm" w="sm" type="none"/>
                    </a:lnR>
                    <a:lnT cap="flat" cmpd="sng" w="9525">
                      <a:solidFill>
                        <a:schemeClr val="accent1"/>
                      </a:solidFill>
                      <a:prstDash val="solid"/>
                      <a:round/>
                      <a:headEnd len="sm" w="sm" type="none"/>
                      <a:tailEnd len="sm" w="sm" type="none"/>
                    </a:lnT>
                    <a:lnB cap="flat" cmpd="sng" w="9525">
                      <a:solidFill>
                        <a:schemeClr val="accent1"/>
                      </a:solidFill>
                      <a:prstDash val="solid"/>
                      <a:round/>
                      <a:headEnd len="sm" w="sm" type="none"/>
                      <a:tailEnd len="sm" w="sm" type="none"/>
                    </a:lnB>
                  </a:tcPr>
                </a:tc>
                <a:tc>
                  <a:txBody>
                    <a:bodyPr/>
                    <a:lstStyle/>
                    <a:p>
                      <a:pPr indent="0" lvl="0" marL="0" rtl="0" algn="l">
                        <a:spcBef>
                          <a:spcPts val="0"/>
                        </a:spcBef>
                        <a:spcAft>
                          <a:spcPts val="0"/>
                        </a:spcAft>
                        <a:buNone/>
                      </a:pPr>
                      <a:r>
                        <a:rPr lang="en-US" sz="1500">
                          <a:solidFill>
                            <a:schemeClr val="lt1"/>
                          </a:solidFill>
                          <a:latin typeface="Poppins"/>
                          <a:ea typeface="Poppins"/>
                          <a:cs typeface="Poppins"/>
                          <a:sym typeface="Poppins"/>
                        </a:rPr>
                        <a:t>~50%</a:t>
                      </a:r>
                      <a:endParaRPr sz="1500">
                        <a:solidFill>
                          <a:schemeClr val="lt1"/>
                        </a:solidFill>
                        <a:latin typeface="Poppins"/>
                        <a:ea typeface="Poppins"/>
                        <a:cs typeface="Poppins"/>
                        <a:sym typeface="Poppins"/>
                      </a:endParaRPr>
                    </a:p>
                  </a:txBody>
                  <a:tcPr marT="91425" marB="91425" marR="91425" marL="91425">
                    <a:lnL cap="flat" cmpd="sng" w="9525">
                      <a:solidFill>
                        <a:schemeClr val="accent1"/>
                      </a:solidFill>
                      <a:prstDash val="solid"/>
                      <a:round/>
                      <a:headEnd len="sm" w="sm" type="none"/>
                      <a:tailEnd len="sm" w="sm" type="none"/>
                    </a:lnL>
                    <a:lnR cap="flat" cmpd="sng" w="9525">
                      <a:solidFill>
                        <a:schemeClr val="accent1"/>
                      </a:solidFill>
                      <a:prstDash val="solid"/>
                      <a:round/>
                      <a:headEnd len="sm" w="sm" type="none"/>
                      <a:tailEnd len="sm" w="sm" type="none"/>
                    </a:lnR>
                    <a:lnT cap="flat" cmpd="sng" w="9525">
                      <a:solidFill>
                        <a:schemeClr val="accent1"/>
                      </a:solidFill>
                      <a:prstDash val="solid"/>
                      <a:round/>
                      <a:headEnd len="sm" w="sm" type="none"/>
                      <a:tailEnd len="sm" w="sm" type="none"/>
                    </a:lnT>
                    <a:lnB cap="flat" cmpd="sng" w="9525">
                      <a:solidFill>
                        <a:schemeClr val="accent1"/>
                      </a:solidFill>
                      <a:prstDash val="solid"/>
                      <a:round/>
                      <a:headEnd len="sm" w="sm" type="none"/>
                      <a:tailEnd len="sm" w="sm" type="none"/>
                    </a:lnB>
                  </a:tcPr>
                </a:tc>
                <a:tc>
                  <a:txBody>
                    <a:bodyPr/>
                    <a:lstStyle/>
                    <a:p>
                      <a:pPr indent="0" lvl="0" marL="0" rtl="0" algn="l">
                        <a:spcBef>
                          <a:spcPts val="0"/>
                        </a:spcBef>
                        <a:spcAft>
                          <a:spcPts val="0"/>
                        </a:spcAft>
                        <a:buNone/>
                      </a:pPr>
                      <a:r>
                        <a:rPr lang="en-US" sz="1500">
                          <a:solidFill>
                            <a:schemeClr val="lt1"/>
                          </a:solidFill>
                          <a:latin typeface="Poppins"/>
                          <a:ea typeface="Poppins"/>
                          <a:cs typeface="Poppins"/>
                          <a:sym typeface="Poppins"/>
                        </a:rPr>
                        <a:t>Mayor en hardware compatible</a:t>
                      </a:r>
                      <a:endParaRPr sz="1500">
                        <a:solidFill>
                          <a:schemeClr val="lt1"/>
                        </a:solidFill>
                        <a:latin typeface="Poppins"/>
                        <a:ea typeface="Poppins"/>
                        <a:cs typeface="Poppins"/>
                        <a:sym typeface="Poppins"/>
                      </a:endParaRPr>
                    </a:p>
                  </a:txBody>
                  <a:tcPr marT="91425" marB="91425" marR="91425" marL="91425">
                    <a:lnL cap="flat" cmpd="sng" w="9525">
                      <a:solidFill>
                        <a:schemeClr val="accent1"/>
                      </a:solidFill>
                      <a:prstDash val="solid"/>
                      <a:round/>
                      <a:headEnd len="sm" w="sm" type="none"/>
                      <a:tailEnd len="sm" w="sm" type="none"/>
                    </a:lnL>
                    <a:lnR cap="flat" cmpd="sng" w="9525">
                      <a:solidFill>
                        <a:schemeClr val="accent1"/>
                      </a:solidFill>
                      <a:prstDash val="solid"/>
                      <a:round/>
                      <a:headEnd len="sm" w="sm" type="none"/>
                      <a:tailEnd len="sm" w="sm" type="none"/>
                    </a:lnR>
                    <a:lnT cap="flat" cmpd="sng" w="9525">
                      <a:solidFill>
                        <a:schemeClr val="accent1"/>
                      </a:solidFill>
                      <a:prstDash val="solid"/>
                      <a:round/>
                      <a:headEnd len="sm" w="sm" type="none"/>
                      <a:tailEnd len="sm" w="sm" type="none"/>
                    </a:lnT>
                    <a:lnB cap="flat" cmpd="sng" w="9525">
                      <a:solidFill>
                        <a:schemeClr val="accent1"/>
                      </a:solidFill>
                      <a:prstDash val="solid"/>
                      <a:round/>
                      <a:headEnd len="sm" w="sm" type="none"/>
                      <a:tailEnd len="sm" w="sm" type="none"/>
                    </a:lnB>
                  </a:tcPr>
                </a:tc>
              </a:tr>
              <a:tr h="180975">
                <a:tc>
                  <a:txBody>
                    <a:bodyPr/>
                    <a:lstStyle/>
                    <a:p>
                      <a:pPr indent="0" lvl="0" marL="0" rtl="0" algn="l">
                        <a:spcBef>
                          <a:spcPts val="0"/>
                        </a:spcBef>
                        <a:spcAft>
                          <a:spcPts val="0"/>
                        </a:spcAft>
                        <a:buNone/>
                      </a:pPr>
                      <a:r>
                        <a:rPr lang="en-US" sz="1500">
                          <a:solidFill>
                            <a:schemeClr val="lt1"/>
                          </a:solidFill>
                          <a:latin typeface="Poppins"/>
                          <a:ea typeface="Poppins"/>
                          <a:cs typeface="Poppins"/>
                          <a:sym typeface="Poppins"/>
                        </a:rPr>
                        <a:t>INT8</a:t>
                      </a:r>
                      <a:endParaRPr sz="1500">
                        <a:solidFill>
                          <a:schemeClr val="lt1"/>
                        </a:solidFill>
                        <a:latin typeface="Poppins"/>
                        <a:ea typeface="Poppins"/>
                        <a:cs typeface="Poppins"/>
                        <a:sym typeface="Poppins"/>
                      </a:endParaRPr>
                    </a:p>
                  </a:txBody>
                  <a:tcPr marT="91425" marB="91425" marR="91425" marL="91425">
                    <a:lnL cap="flat" cmpd="sng" w="9525">
                      <a:solidFill>
                        <a:schemeClr val="accent1"/>
                      </a:solidFill>
                      <a:prstDash val="solid"/>
                      <a:round/>
                      <a:headEnd len="sm" w="sm" type="none"/>
                      <a:tailEnd len="sm" w="sm" type="none"/>
                    </a:lnL>
                    <a:lnR cap="flat" cmpd="sng" w="9525">
                      <a:solidFill>
                        <a:schemeClr val="accent1"/>
                      </a:solidFill>
                      <a:prstDash val="solid"/>
                      <a:round/>
                      <a:headEnd len="sm" w="sm" type="none"/>
                      <a:tailEnd len="sm" w="sm" type="none"/>
                    </a:lnR>
                    <a:lnT cap="flat" cmpd="sng" w="9525">
                      <a:solidFill>
                        <a:schemeClr val="accent1"/>
                      </a:solidFill>
                      <a:prstDash val="solid"/>
                      <a:round/>
                      <a:headEnd len="sm" w="sm" type="none"/>
                      <a:tailEnd len="sm" w="sm" type="none"/>
                    </a:lnT>
                    <a:lnB cap="flat" cmpd="sng" w="9525">
                      <a:solidFill>
                        <a:schemeClr val="accent1"/>
                      </a:solidFill>
                      <a:prstDash val="solid"/>
                      <a:round/>
                      <a:headEnd len="sm" w="sm" type="none"/>
                      <a:tailEnd len="sm" w="sm" type="none"/>
                    </a:lnB>
                  </a:tcPr>
                </a:tc>
                <a:tc>
                  <a:txBody>
                    <a:bodyPr/>
                    <a:lstStyle/>
                    <a:p>
                      <a:pPr indent="0" lvl="0" marL="0" rtl="0" algn="l">
                        <a:spcBef>
                          <a:spcPts val="0"/>
                        </a:spcBef>
                        <a:spcAft>
                          <a:spcPts val="0"/>
                        </a:spcAft>
                        <a:buNone/>
                      </a:pPr>
                      <a:r>
                        <a:rPr lang="en-US" sz="1500">
                          <a:solidFill>
                            <a:schemeClr val="lt1"/>
                          </a:solidFill>
                          <a:latin typeface="Poppins"/>
                          <a:ea typeface="Poppins"/>
                          <a:cs typeface="Poppins"/>
                          <a:sym typeface="Poppins"/>
                        </a:rPr>
                        <a:t>8 bits</a:t>
                      </a:r>
                      <a:endParaRPr sz="1500">
                        <a:solidFill>
                          <a:schemeClr val="lt1"/>
                        </a:solidFill>
                        <a:latin typeface="Poppins"/>
                        <a:ea typeface="Poppins"/>
                        <a:cs typeface="Poppins"/>
                        <a:sym typeface="Poppins"/>
                      </a:endParaRPr>
                    </a:p>
                  </a:txBody>
                  <a:tcPr marT="91425" marB="91425" marR="91425" marL="91425">
                    <a:lnL cap="flat" cmpd="sng" w="9525">
                      <a:solidFill>
                        <a:schemeClr val="accent1"/>
                      </a:solidFill>
                      <a:prstDash val="solid"/>
                      <a:round/>
                      <a:headEnd len="sm" w="sm" type="none"/>
                      <a:tailEnd len="sm" w="sm" type="none"/>
                    </a:lnL>
                    <a:lnR cap="flat" cmpd="sng" w="9525">
                      <a:solidFill>
                        <a:schemeClr val="accent1"/>
                      </a:solidFill>
                      <a:prstDash val="solid"/>
                      <a:round/>
                      <a:headEnd len="sm" w="sm" type="none"/>
                      <a:tailEnd len="sm" w="sm" type="none"/>
                    </a:lnR>
                    <a:lnT cap="flat" cmpd="sng" w="9525">
                      <a:solidFill>
                        <a:schemeClr val="accent1"/>
                      </a:solidFill>
                      <a:prstDash val="solid"/>
                      <a:round/>
                      <a:headEnd len="sm" w="sm" type="none"/>
                      <a:tailEnd len="sm" w="sm" type="none"/>
                    </a:lnT>
                    <a:lnB cap="flat" cmpd="sng" w="9525">
                      <a:solidFill>
                        <a:schemeClr val="accent1"/>
                      </a:solidFill>
                      <a:prstDash val="solid"/>
                      <a:round/>
                      <a:headEnd len="sm" w="sm" type="none"/>
                      <a:tailEnd len="sm" w="sm" type="none"/>
                    </a:lnB>
                  </a:tcPr>
                </a:tc>
                <a:tc>
                  <a:txBody>
                    <a:bodyPr/>
                    <a:lstStyle/>
                    <a:p>
                      <a:pPr indent="0" lvl="0" marL="0" rtl="0" algn="l">
                        <a:spcBef>
                          <a:spcPts val="0"/>
                        </a:spcBef>
                        <a:spcAft>
                          <a:spcPts val="0"/>
                        </a:spcAft>
                        <a:buNone/>
                      </a:pPr>
                      <a:r>
                        <a:rPr lang="en-US" sz="1500">
                          <a:solidFill>
                            <a:schemeClr val="lt1"/>
                          </a:solidFill>
                          <a:latin typeface="Poppins"/>
                          <a:ea typeface="Poppins"/>
                          <a:cs typeface="Poppins"/>
                          <a:sym typeface="Poppins"/>
                        </a:rPr>
                        <a:t>~25%</a:t>
                      </a:r>
                      <a:endParaRPr sz="1500">
                        <a:solidFill>
                          <a:schemeClr val="lt1"/>
                        </a:solidFill>
                        <a:latin typeface="Poppins"/>
                        <a:ea typeface="Poppins"/>
                        <a:cs typeface="Poppins"/>
                        <a:sym typeface="Poppins"/>
                      </a:endParaRPr>
                    </a:p>
                  </a:txBody>
                  <a:tcPr marT="91425" marB="91425" marR="91425" marL="91425">
                    <a:lnL cap="flat" cmpd="sng" w="9525">
                      <a:solidFill>
                        <a:schemeClr val="accent1"/>
                      </a:solidFill>
                      <a:prstDash val="solid"/>
                      <a:round/>
                      <a:headEnd len="sm" w="sm" type="none"/>
                      <a:tailEnd len="sm" w="sm" type="none"/>
                    </a:lnL>
                    <a:lnR cap="flat" cmpd="sng" w="9525">
                      <a:solidFill>
                        <a:schemeClr val="accent1"/>
                      </a:solidFill>
                      <a:prstDash val="solid"/>
                      <a:round/>
                      <a:headEnd len="sm" w="sm" type="none"/>
                      <a:tailEnd len="sm" w="sm" type="none"/>
                    </a:lnR>
                    <a:lnT cap="flat" cmpd="sng" w="9525">
                      <a:solidFill>
                        <a:schemeClr val="accent1"/>
                      </a:solidFill>
                      <a:prstDash val="solid"/>
                      <a:round/>
                      <a:headEnd len="sm" w="sm" type="none"/>
                      <a:tailEnd len="sm" w="sm" type="none"/>
                    </a:lnT>
                    <a:lnB cap="flat" cmpd="sng" w="9525">
                      <a:solidFill>
                        <a:schemeClr val="accent1"/>
                      </a:solidFill>
                      <a:prstDash val="solid"/>
                      <a:round/>
                      <a:headEnd len="sm" w="sm" type="none"/>
                      <a:tailEnd len="sm" w="sm" type="none"/>
                    </a:lnB>
                  </a:tcPr>
                </a:tc>
                <a:tc>
                  <a:txBody>
                    <a:bodyPr/>
                    <a:lstStyle/>
                    <a:p>
                      <a:pPr indent="0" lvl="0" marL="0" rtl="0" algn="l">
                        <a:spcBef>
                          <a:spcPts val="0"/>
                        </a:spcBef>
                        <a:spcAft>
                          <a:spcPts val="0"/>
                        </a:spcAft>
                        <a:buNone/>
                      </a:pPr>
                      <a:r>
                        <a:rPr lang="en-US" sz="1500">
                          <a:solidFill>
                            <a:schemeClr val="lt1"/>
                          </a:solidFill>
                          <a:latin typeface="Poppins"/>
                          <a:ea typeface="Poppins"/>
                          <a:cs typeface="Poppins"/>
                          <a:sym typeface="Poppins"/>
                        </a:rPr>
                        <a:t>Mayor en hardware compatible</a:t>
                      </a:r>
                      <a:endParaRPr sz="1500">
                        <a:solidFill>
                          <a:schemeClr val="lt1"/>
                        </a:solidFill>
                        <a:latin typeface="Poppins"/>
                        <a:ea typeface="Poppins"/>
                        <a:cs typeface="Poppins"/>
                        <a:sym typeface="Poppins"/>
                      </a:endParaRPr>
                    </a:p>
                  </a:txBody>
                  <a:tcPr marT="91425" marB="91425" marR="91425" marL="91425">
                    <a:lnL cap="flat" cmpd="sng" w="9525">
                      <a:solidFill>
                        <a:schemeClr val="accent1"/>
                      </a:solidFill>
                      <a:prstDash val="solid"/>
                      <a:round/>
                      <a:headEnd len="sm" w="sm" type="none"/>
                      <a:tailEnd len="sm" w="sm" type="none"/>
                    </a:lnL>
                    <a:lnR cap="flat" cmpd="sng" w="9525">
                      <a:solidFill>
                        <a:schemeClr val="accent1"/>
                      </a:solidFill>
                      <a:prstDash val="solid"/>
                      <a:round/>
                      <a:headEnd len="sm" w="sm" type="none"/>
                      <a:tailEnd len="sm" w="sm" type="none"/>
                    </a:lnR>
                    <a:lnT cap="flat" cmpd="sng" w="9525">
                      <a:solidFill>
                        <a:schemeClr val="accent1"/>
                      </a:solidFill>
                      <a:prstDash val="solid"/>
                      <a:round/>
                      <a:headEnd len="sm" w="sm" type="none"/>
                      <a:tailEnd len="sm" w="sm" type="none"/>
                    </a:lnT>
                    <a:lnB cap="flat" cmpd="sng" w="9525">
                      <a:solidFill>
                        <a:schemeClr val="accent1"/>
                      </a:solidFill>
                      <a:prstDash val="solid"/>
                      <a:round/>
                      <a:headEnd len="sm" w="sm" type="none"/>
                      <a:tailEnd len="sm" w="sm" type="none"/>
                    </a:lnB>
                  </a:tcPr>
                </a:tc>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90D16"/>
        </a:solidFill>
      </p:bgPr>
    </p:bg>
    <p:spTree>
      <p:nvGrpSpPr>
        <p:cNvPr id="152" name="Shape 152"/>
        <p:cNvGrpSpPr/>
        <p:nvPr/>
      </p:nvGrpSpPr>
      <p:grpSpPr>
        <a:xfrm>
          <a:off x="0" y="0"/>
          <a:ext cx="0" cy="0"/>
          <a:chOff x="0" y="0"/>
          <a:chExt cx="0" cy="0"/>
        </a:xfrm>
      </p:grpSpPr>
      <p:pic>
        <p:nvPicPr>
          <p:cNvPr descr="image.png" id="153" name="Google Shape;153;p19"/>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154" name="Google Shape;154;p19"/>
          <p:cNvPicPr preferRelativeResize="0"/>
          <p:nvPr/>
        </p:nvPicPr>
        <p:blipFill rotWithShape="1">
          <a:blip r:embed="rId4">
            <a:alphaModFix/>
          </a:blip>
          <a:srcRect b="0" l="0" r="0" t="0"/>
          <a:stretch/>
        </p:blipFill>
        <p:spPr>
          <a:xfrm>
            <a:off x="581025" y="2421325"/>
            <a:ext cx="5324451" cy="2514050"/>
          </a:xfrm>
          <a:prstGeom prst="rect">
            <a:avLst/>
          </a:prstGeom>
          <a:noFill/>
          <a:ln>
            <a:noFill/>
          </a:ln>
        </p:spPr>
      </p:pic>
      <p:pic>
        <p:nvPicPr>
          <p:cNvPr descr="image.png" id="155" name="Google Shape;155;p19"/>
          <p:cNvPicPr preferRelativeResize="0"/>
          <p:nvPr/>
        </p:nvPicPr>
        <p:blipFill rotWithShape="1">
          <a:blip r:embed="rId5">
            <a:alphaModFix/>
          </a:blip>
          <a:srcRect b="0" l="0" r="0" t="0"/>
          <a:stretch/>
        </p:blipFill>
        <p:spPr>
          <a:xfrm>
            <a:off x="6286500" y="2421325"/>
            <a:ext cx="5324451" cy="2514050"/>
          </a:xfrm>
          <a:prstGeom prst="rect">
            <a:avLst/>
          </a:prstGeom>
          <a:noFill/>
          <a:ln>
            <a:noFill/>
          </a:ln>
        </p:spPr>
      </p:pic>
      <p:sp>
        <p:nvSpPr>
          <p:cNvPr id="156" name="Google Shape;156;p19"/>
          <p:cNvSpPr/>
          <p:nvPr/>
        </p:nvSpPr>
        <p:spPr>
          <a:xfrm>
            <a:off x="3224212" y="1190625"/>
            <a:ext cx="38100" cy="2028825"/>
          </a:xfrm>
          <a:prstGeom prst="roundRect">
            <a:avLst>
              <a:gd fmla="val 50000" name="adj"/>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57" name="Google Shape;157;p19"/>
          <p:cNvSpPr txBox="1"/>
          <p:nvPr/>
        </p:nvSpPr>
        <p:spPr>
          <a:xfrm>
            <a:off x="876288" y="2614850"/>
            <a:ext cx="4970700" cy="2772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i="0" lang="en-US" sz="1800" u="none" cap="none" strike="noStrike">
                <a:solidFill>
                  <a:srgbClr val="06B6D4"/>
                </a:solidFill>
                <a:latin typeface="Poppins SemiBold"/>
                <a:ea typeface="Poppins SemiBold"/>
                <a:cs typeface="Poppins SemiBold"/>
                <a:sym typeface="Poppins SemiBold"/>
              </a:rPr>
              <a:t>Inferencia Base (Desktop)</a:t>
            </a:r>
            <a:endParaRPr>
              <a:latin typeface="Poppins"/>
              <a:ea typeface="Poppins"/>
              <a:cs typeface="Poppins"/>
              <a:sym typeface="Poppins"/>
            </a:endParaRPr>
          </a:p>
        </p:txBody>
      </p:sp>
      <p:sp>
        <p:nvSpPr>
          <p:cNvPr id="158" name="Google Shape;158;p19"/>
          <p:cNvSpPr txBox="1"/>
          <p:nvPr/>
        </p:nvSpPr>
        <p:spPr>
          <a:xfrm>
            <a:off x="876238" y="3198150"/>
            <a:ext cx="4734000" cy="461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i="0" lang="en-US" sz="1500" u="none" cap="none" strike="noStrike">
                <a:solidFill>
                  <a:srgbClr val="94A3B8"/>
                </a:solidFill>
                <a:latin typeface="Poppins"/>
                <a:ea typeface="Poppins"/>
                <a:cs typeface="Poppins"/>
                <a:sym typeface="Poppins"/>
              </a:rPr>
              <a:t>Entorno controlado para estimación matemática base y validación cruzada de precisión.</a:t>
            </a:r>
            <a:endParaRPr sz="1500">
              <a:latin typeface="Poppins"/>
              <a:ea typeface="Poppins"/>
              <a:cs typeface="Poppins"/>
              <a:sym typeface="Poppins"/>
            </a:endParaRPr>
          </a:p>
        </p:txBody>
      </p:sp>
      <p:sp>
        <p:nvSpPr>
          <p:cNvPr id="159" name="Google Shape;159;p19"/>
          <p:cNvSpPr txBox="1"/>
          <p:nvPr/>
        </p:nvSpPr>
        <p:spPr>
          <a:xfrm>
            <a:off x="876288" y="3835025"/>
            <a:ext cx="4734000" cy="692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500" u="none" cap="none" strike="noStrike">
                <a:solidFill>
                  <a:srgbClr val="94A3B8"/>
                </a:solidFill>
                <a:latin typeface="Poppins"/>
                <a:ea typeface="Poppins"/>
                <a:cs typeface="Poppins"/>
                <a:sym typeface="Poppins"/>
              </a:rPr>
              <a:t>Configuración:</a:t>
            </a:r>
            <a:r>
              <a:rPr i="0" lang="en-US" sz="1500" u="none" cap="none" strike="noStrike">
                <a:solidFill>
                  <a:srgbClr val="94A3B8"/>
                </a:solidFill>
                <a:latin typeface="Poppins"/>
                <a:ea typeface="Poppins"/>
                <a:cs typeface="Poppins"/>
                <a:sym typeface="Poppins"/>
              </a:rPr>
              <a:t> Arch Linux, Intel Core i5-12450H (8 núcleos, 12 hilos), GPU Intel UHD integrada y 8 GB de RAM.</a:t>
            </a:r>
            <a:endParaRPr sz="1500">
              <a:latin typeface="Poppins"/>
              <a:ea typeface="Poppins"/>
              <a:cs typeface="Poppins"/>
              <a:sym typeface="Poppins"/>
            </a:endParaRPr>
          </a:p>
        </p:txBody>
      </p:sp>
      <p:sp>
        <p:nvSpPr>
          <p:cNvPr id="160" name="Google Shape;160;p19"/>
          <p:cNvSpPr txBox="1"/>
          <p:nvPr/>
        </p:nvSpPr>
        <p:spPr>
          <a:xfrm>
            <a:off x="6581763" y="2614850"/>
            <a:ext cx="4970700" cy="2772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i="0" lang="en-US" sz="1800" u="none" cap="none" strike="noStrike">
                <a:solidFill>
                  <a:srgbClr val="06B6D4"/>
                </a:solidFill>
                <a:latin typeface="Poppins SemiBold"/>
                <a:ea typeface="Poppins SemiBold"/>
                <a:cs typeface="Poppins SemiBold"/>
                <a:sym typeface="Poppins SemiBold"/>
              </a:rPr>
              <a:t>Despliegue </a:t>
            </a:r>
            <a:r>
              <a:rPr i="0" lang="en-US" sz="1800" u="none" cap="none" strike="noStrike">
                <a:solidFill>
                  <a:srgbClr val="06B6D4"/>
                </a:solidFill>
                <a:latin typeface="Poppins SemiBold"/>
                <a:ea typeface="Poppins SemiBold"/>
                <a:cs typeface="Poppins SemiBold"/>
                <a:sym typeface="Poppins SemiBold"/>
              </a:rPr>
              <a:t>de Campo (</a:t>
            </a:r>
            <a:r>
              <a:rPr i="0" lang="en-US" sz="1800" u="none" cap="none" strike="noStrike">
                <a:solidFill>
                  <a:srgbClr val="06B6D4"/>
                </a:solidFill>
                <a:latin typeface="Poppins SemiBold"/>
                <a:ea typeface="Poppins SemiBold"/>
                <a:cs typeface="Poppins SemiBold"/>
                <a:sym typeface="Poppins SemiBold"/>
              </a:rPr>
              <a:t>Móvil</a:t>
            </a:r>
            <a:r>
              <a:rPr i="0" lang="en-US" sz="1800" u="none" cap="none" strike="noStrike">
                <a:solidFill>
                  <a:srgbClr val="06B6D4"/>
                </a:solidFill>
                <a:latin typeface="Poppins SemiBold"/>
                <a:ea typeface="Poppins SemiBold"/>
                <a:cs typeface="Poppins SemiBold"/>
                <a:sym typeface="Poppins SemiBold"/>
              </a:rPr>
              <a:t>)</a:t>
            </a:r>
            <a:endParaRPr>
              <a:latin typeface="Poppins"/>
              <a:ea typeface="Poppins"/>
              <a:cs typeface="Poppins"/>
              <a:sym typeface="Poppins"/>
            </a:endParaRPr>
          </a:p>
        </p:txBody>
      </p:sp>
      <p:sp>
        <p:nvSpPr>
          <p:cNvPr id="161" name="Google Shape;161;p19"/>
          <p:cNvSpPr txBox="1"/>
          <p:nvPr/>
        </p:nvSpPr>
        <p:spPr>
          <a:xfrm>
            <a:off x="6581713" y="3219450"/>
            <a:ext cx="4734000" cy="461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i="0" lang="en-US" sz="1500" u="none" cap="none" strike="noStrike">
                <a:solidFill>
                  <a:srgbClr val="94A3B8"/>
                </a:solidFill>
                <a:latin typeface="Poppins"/>
                <a:ea typeface="Poppins"/>
                <a:cs typeface="Poppins"/>
                <a:sym typeface="Poppins"/>
              </a:rPr>
              <a:t>Pruebas de latencia y tasa de refresco en hardware representativo de gama media.</a:t>
            </a:r>
            <a:endParaRPr sz="1500">
              <a:latin typeface="Poppins"/>
              <a:ea typeface="Poppins"/>
              <a:cs typeface="Poppins"/>
              <a:sym typeface="Poppins"/>
            </a:endParaRPr>
          </a:p>
        </p:txBody>
      </p:sp>
      <p:sp>
        <p:nvSpPr>
          <p:cNvPr id="162" name="Google Shape;162;p19"/>
          <p:cNvSpPr txBox="1"/>
          <p:nvPr/>
        </p:nvSpPr>
        <p:spPr>
          <a:xfrm>
            <a:off x="6581713" y="3835025"/>
            <a:ext cx="4734000" cy="692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500" u="none" cap="none" strike="noStrike">
                <a:solidFill>
                  <a:srgbClr val="94A3B8"/>
                </a:solidFill>
                <a:latin typeface="Poppins"/>
                <a:ea typeface="Poppins"/>
                <a:cs typeface="Poppins"/>
                <a:sym typeface="Poppins"/>
              </a:rPr>
              <a:t>Configuración:</a:t>
            </a:r>
            <a:r>
              <a:rPr i="0" lang="en-US" sz="1500" u="none" cap="none" strike="noStrike">
                <a:solidFill>
                  <a:srgbClr val="94A3B8"/>
                </a:solidFill>
                <a:latin typeface="Poppins"/>
                <a:ea typeface="Poppins"/>
                <a:cs typeface="Poppins"/>
                <a:sym typeface="Poppins"/>
              </a:rPr>
              <a:t> Xiaomi Redmi Note 13 4G, Snapdragon 685 Octa-core a 2.8 GHz, GPU Adreno 610, 8 GB de RAM y Android 15.</a:t>
            </a:r>
            <a:endParaRPr sz="1500">
              <a:latin typeface="Poppins"/>
              <a:ea typeface="Poppins"/>
              <a:cs typeface="Poppins"/>
              <a:sym typeface="Poppins"/>
            </a:endParaRPr>
          </a:p>
        </p:txBody>
      </p:sp>
      <p:sp>
        <p:nvSpPr>
          <p:cNvPr id="163" name="Google Shape;163;p19"/>
          <p:cNvSpPr txBox="1"/>
          <p:nvPr/>
        </p:nvSpPr>
        <p:spPr>
          <a:xfrm>
            <a:off x="581025" y="485775"/>
            <a:ext cx="5169600" cy="17238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i="0" lang="en-US" sz="5600" u="none" cap="none" strike="noStrike">
                <a:solidFill>
                  <a:srgbClr val="F8FAFC"/>
                </a:solidFill>
                <a:latin typeface="Poppins SemiBold"/>
                <a:ea typeface="Poppins SemiBold"/>
                <a:cs typeface="Poppins SemiBold"/>
                <a:sym typeface="Poppins SemiBold"/>
              </a:rPr>
              <a:t>Entornos de Evaluación</a:t>
            </a:r>
            <a:endParaRPr sz="5600">
              <a:latin typeface="Poppins"/>
              <a:ea typeface="Poppins"/>
              <a:cs typeface="Poppins"/>
              <a:sym typeface="Poppins"/>
            </a:endParaRPr>
          </a:p>
        </p:txBody>
      </p:sp>
      <p:sp>
        <p:nvSpPr>
          <p:cNvPr id="164" name="Google Shape;164;p19"/>
          <p:cNvSpPr/>
          <p:nvPr/>
        </p:nvSpPr>
        <p:spPr>
          <a:xfrm>
            <a:off x="5857875" y="700087"/>
            <a:ext cx="476250" cy="28575"/>
          </a:xfrm>
          <a:prstGeom prst="roundRect">
            <a:avLst>
              <a:gd fmla="val 50000" name="adj"/>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90D16"/>
        </a:solidFill>
      </p:bgPr>
    </p:bg>
    <p:spTree>
      <p:nvGrpSpPr>
        <p:cNvPr id="168" name="Shape 168"/>
        <p:cNvGrpSpPr/>
        <p:nvPr/>
      </p:nvGrpSpPr>
      <p:grpSpPr>
        <a:xfrm>
          <a:off x="0" y="0"/>
          <a:ext cx="0" cy="0"/>
          <a:chOff x="0" y="0"/>
          <a:chExt cx="0" cy="0"/>
        </a:xfrm>
      </p:grpSpPr>
      <p:pic>
        <p:nvPicPr>
          <p:cNvPr descr="image.png" id="169" name="Google Shape;169;p20"/>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170" name="Google Shape;170;p20"/>
          <p:cNvSpPr txBox="1"/>
          <p:nvPr/>
        </p:nvSpPr>
        <p:spPr>
          <a:xfrm>
            <a:off x="581025" y="2186400"/>
            <a:ext cx="2615100" cy="2485200"/>
          </a:xfrm>
          <a:prstGeom prst="rect">
            <a:avLst/>
          </a:prstGeom>
          <a:noFill/>
          <a:ln>
            <a:noFill/>
          </a:ln>
        </p:spPr>
        <p:txBody>
          <a:bodyPr anchorCtr="0" anchor="t" bIns="0" lIns="0" spcFirstLastPara="1" rIns="0" wrap="square" tIns="0">
            <a:spAutoFit/>
          </a:bodyPr>
          <a:lstStyle/>
          <a:p>
            <a:pPr indent="0" lvl="0" marL="0" marR="0" rtl="0" algn="l">
              <a:lnSpc>
                <a:spcPct val="149960"/>
              </a:lnSpc>
              <a:spcBef>
                <a:spcPts val="0"/>
              </a:spcBef>
              <a:spcAft>
                <a:spcPts val="0"/>
              </a:spcAft>
              <a:buNone/>
            </a:pPr>
            <a:r>
              <a:rPr b="1" lang="en-US" sz="1700">
                <a:solidFill>
                  <a:srgbClr val="06B6D4"/>
                </a:solidFill>
                <a:latin typeface="Poppins"/>
                <a:ea typeface="Poppins"/>
                <a:cs typeface="Poppins"/>
                <a:sym typeface="Poppins"/>
              </a:rPr>
              <a:t>Modelos Evaluados</a:t>
            </a:r>
            <a:endParaRPr b="1" sz="1700">
              <a:solidFill>
                <a:srgbClr val="06B6D4"/>
              </a:solidFill>
              <a:latin typeface="Poppins"/>
              <a:ea typeface="Poppins"/>
              <a:cs typeface="Poppins"/>
              <a:sym typeface="Poppins"/>
            </a:endParaRPr>
          </a:p>
          <a:p>
            <a:pPr indent="0" lvl="0" marL="0" rtl="0" algn="l">
              <a:lnSpc>
                <a:spcPct val="149960"/>
              </a:lnSpc>
              <a:spcBef>
                <a:spcPts val="0"/>
              </a:spcBef>
              <a:spcAft>
                <a:spcPts val="0"/>
              </a:spcAft>
              <a:buSzPts val="1100"/>
              <a:buNone/>
            </a:pPr>
            <a:r>
              <a:rPr b="1" lang="en-US" sz="1600">
                <a:solidFill>
                  <a:srgbClr val="94A3B8"/>
                </a:solidFill>
                <a:latin typeface="Poppins"/>
                <a:ea typeface="Poppins"/>
                <a:cs typeface="Poppins"/>
                <a:sym typeface="Poppins"/>
              </a:rPr>
              <a:t>YOLOv8s Float32</a:t>
            </a:r>
            <a:endParaRPr b="1" sz="1600">
              <a:solidFill>
                <a:srgbClr val="94A3B8"/>
              </a:solidFill>
              <a:latin typeface="Poppins"/>
              <a:ea typeface="Poppins"/>
              <a:cs typeface="Poppins"/>
              <a:sym typeface="Poppins"/>
            </a:endParaRPr>
          </a:p>
          <a:p>
            <a:pPr indent="0" lvl="0" marL="0" rtl="0" algn="l">
              <a:lnSpc>
                <a:spcPct val="149960"/>
              </a:lnSpc>
              <a:spcBef>
                <a:spcPts val="0"/>
              </a:spcBef>
              <a:spcAft>
                <a:spcPts val="0"/>
              </a:spcAft>
              <a:buSzPts val="1100"/>
              <a:buNone/>
            </a:pPr>
            <a:r>
              <a:rPr b="1" lang="en-US" sz="1600">
                <a:solidFill>
                  <a:srgbClr val="94A3B8"/>
                </a:solidFill>
                <a:latin typeface="Poppins"/>
                <a:ea typeface="Poppins"/>
                <a:cs typeface="Poppins"/>
                <a:sym typeface="Poppins"/>
              </a:rPr>
              <a:t>YOLOv8s Float16</a:t>
            </a:r>
            <a:endParaRPr b="1" sz="1600">
              <a:solidFill>
                <a:srgbClr val="94A3B8"/>
              </a:solidFill>
              <a:latin typeface="Poppins"/>
              <a:ea typeface="Poppins"/>
              <a:cs typeface="Poppins"/>
              <a:sym typeface="Poppins"/>
            </a:endParaRPr>
          </a:p>
          <a:p>
            <a:pPr indent="0" lvl="0" marL="0" rtl="0" algn="l">
              <a:lnSpc>
                <a:spcPct val="149960"/>
              </a:lnSpc>
              <a:spcBef>
                <a:spcPts val="0"/>
              </a:spcBef>
              <a:spcAft>
                <a:spcPts val="0"/>
              </a:spcAft>
              <a:buSzPts val="1100"/>
              <a:buNone/>
            </a:pPr>
            <a:r>
              <a:rPr b="1" lang="en-US" sz="1600">
                <a:solidFill>
                  <a:srgbClr val="94A3B8"/>
                </a:solidFill>
                <a:latin typeface="Poppins"/>
                <a:ea typeface="Poppins"/>
                <a:cs typeface="Poppins"/>
                <a:sym typeface="Poppins"/>
              </a:rPr>
              <a:t>YOLO11n Float32</a:t>
            </a:r>
            <a:endParaRPr b="1" sz="1600">
              <a:solidFill>
                <a:srgbClr val="94A3B8"/>
              </a:solidFill>
              <a:latin typeface="Poppins"/>
              <a:ea typeface="Poppins"/>
              <a:cs typeface="Poppins"/>
              <a:sym typeface="Poppins"/>
            </a:endParaRPr>
          </a:p>
          <a:p>
            <a:pPr indent="0" lvl="0" marL="0" rtl="0" algn="l">
              <a:lnSpc>
                <a:spcPct val="149960"/>
              </a:lnSpc>
              <a:spcBef>
                <a:spcPts val="0"/>
              </a:spcBef>
              <a:spcAft>
                <a:spcPts val="0"/>
              </a:spcAft>
              <a:buSzPts val="1100"/>
              <a:buNone/>
            </a:pPr>
            <a:r>
              <a:rPr b="1" lang="en-US" sz="1600">
                <a:solidFill>
                  <a:srgbClr val="94A3B8"/>
                </a:solidFill>
                <a:latin typeface="Poppins"/>
                <a:ea typeface="Poppins"/>
                <a:cs typeface="Poppins"/>
                <a:sym typeface="Poppins"/>
              </a:rPr>
              <a:t>YOLO11n Float16</a:t>
            </a:r>
            <a:endParaRPr b="1" sz="1600">
              <a:solidFill>
                <a:srgbClr val="94A3B8"/>
              </a:solidFill>
              <a:latin typeface="Poppins"/>
              <a:ea typeface="Poppins"/>
              <a:cs typeface="Poppins"/>
              <a:sym typeface="Poppins"/>
            </a:endParaRPr>
          </a:p>
          <a:p>
            <a:pPr indent="0" lvl="0" marL="0" rtl="0" algn="l">
              <a:lnSpc>
                <a:spcPct val="149960"/>
              </a:lnSpc>
              <a:spcBef>
                <a:spcPts val="0"/>
              </a:spcBef>
              <a:spcAft>
                <a:spcPts val="0"/>
              </a:spcAft>
              <a:buSzPts val="1100"/>
              <a:buNone/>
            </a:pPr>
            <a:r>
              <a:rPr b="1" lang="en-US" sz="1600">
                <a:solidFill>
                  <a:srgbClr val="94A3B8"/>
                </a:solidFill>
                <a:latin typeface="Poppins"/>
                <a:ea typeface="Poppins"/>
                <a:cs typeface="Poppins"/>
                <a:sym typeface="Poppins"/>
              </a:rPr>
              <a:t>SSD MobileNetV1  EfficientDet-Lite2</a:t>
            </a:r>
            <a:endParaRPr b="1" sz="1600">
              <a:solidFill>
                <a:srgbClr val="94A3B8"/>
              </a:solidFill>
              <a:latin typeface="Poppins"/>
              <a:ea typeface="Poppins"/>
              <a:cs typeface="Poppins"/>
              <a:sym typeface="Poppins"/>
            </a:endParaRPr>
          </a:p>
        </p:txBody>
      </p:sp>
      <p:sp>
        <p:nvSpPr>
          <p:cNvPr id="171" name="Google Shape;171;p20"/>
          <p:cNvSpPr txBox="1"/>
          <p:nvPr/>
        </p:nvSpPr>
        <p:spPr>
          <a:xfrm>
            <a:off x="5015025" y="2186400"/>
            <a:ext cx="3115500" cy="2115900"/>
          </a:xfrm>
          <a:prstGeom prst="rect">
            <a:avLst/>
          </a:prstGeom>
          <a:noFill/>
          <a:ln>
            <a:noFill/>
          </a:ln>
        </p:spPr>
        <p:txBody>
          <a:bodyPr anchorCtr="0" anchor="t" bIns="0" lIns="0" spcFirstLastPara="1" rIns="0" wrap="square" tIns="0">
            <a:spAutoFit/>
          </a:bodyPr>
          <a:lstStyle/>
          <a:p>
            <a:pPr indent="0" lvl="0" marL="0" marR="0" rtl="0" algn="l">
              <a:lnSpc>
                <a:spcPct val="149960"/>
              </a:lnSpc>
              <a:spcBef>
                <a:spcPts val="0"/>
              </a:spcBef>
              <a:spcAft>
                <a:spcPts val="0"/>
              </a:spcAft>
              <a:buNone/>
            </a:pPr>
            <a:r>
              <a:rPr b="1" i="0" lang="en-US" sz="1700" u="none" cap="none" strike="noStrike">
                <a:solidFill>
                  <a:srgbClr val="06B6D4"/>
                </a:solidFill>
                <a:latin typeface="Poppins"/>
                <a:ea typeface="Poppins"/>
                <a:cs typeface="Poppins"/>
                <a:sym typeface="Poppins"/>
              </a:rPr>
              <a:t>Clases </a:t>
            </a:r>
            <a:r>
              <a:rPr b="1" lang="en-US" sz="1700">
                <a:solidFill>
                  <a:srgbClr val="06B6D4"/>
                </a:solidFill>
                <a:latin typeface="Poppins"/>
                <a:ea typeface="Poppins"/>
                <a:cs typeface="Poppins"/>
                <a:sym typeface="Poppins"/>
              </a:rPr>
              <a:t>Evaluadas</a:t>
            </a:r>
            <a:endParaRPr b="1" sz="1700">
              <a:solidFill>
                <a:srgbClr val="06B6D4"/>
              </a:solidFill>
              <a:latin typeface="Poppins"/>
              <a:ea typeface="Poppins"/>
              <a:cs typeface="Poppins"/>
              <a:sym typeface="Poppins"/>
            </a:endParaRPr>
          </a:p>
          <a:p>
            <a:pPr indent="0" lvl="0" marL="0" marR="0" rtl="0" algn="l">
              <a:lnSpc>
                <a:spcPct val="149960"/>
              </a:lnSpc>
              <a:spcBef>
                <a:spcPts val="0"/>
              </a:spcBef>
              <a:spcAft>
                <a:spcPts val="0"/>
              </a:spcAft>
              <a:buNone/>
            </a:pPr>
            <a:r>
              <a:rPr b="1" i="0" lang="en-US" sz="1600" u="none" cap="none" strike="noStrike">
                <a:solidFill>
                  <a:srgbClr val="94A3B8"/>
                </a:solidFill>
                <a:latin typeface="Poppins"/>
                <a:ea typeface="Poppins"/>
                <a:cs typeface="Poppins"/>
                <a:sym typeface="Poppins"/>
              </a:rPr>
              <a:t>Persona</a:t>
            </a:r>
            <a:r>
              <a:rPr b="1" lang="en-US" sz="1600">
                <a:solidFill>
                  <a:srgbClr val="94A3B8"/>
                </a:solidFill>
                <a:latin typeface="Poppins"/>
                <a:ea typeface="Poppins"/>
                <a:cs typeface="Poppins"/>
                <a:sym typeface="Poppins"/>
              </a:rPr>
              <a:t>		S</a:t>
            </a:r>
            <a:r>
              <a:rPr b="1" i="0" lang="en-US" sz="1600" u="none" cap="none" strike="noStrike">
                <a:solidFill>
                  <a:srgbClr val="94A3B8"/>
                </a:solidFill>
                <a:latin typeface="Poppins"/>
                <a:ea typeface="Poppins"/>
                <a:cs typeface="Poppins"/>
                <a:sym typeface="Poppins"/>
              </a:rPr>
              <a:t>illa</a:t>
            </a:r>
            <a:endParaRPr b="1" sz="1600">
              <a:solidFill>
                <a:srgbClr val="94A3B8"/>
              </a:solidFill>
              <a:latin typeface="Poppins"/>
              <a:ea typeface="Poppins"/>
              <a:cs typeface="Poppins"/>
              <a:sym typeface="Poppins"/>
            </a:endParaRPr>
          </a:p>
          <a:p>
            <a:pPr indent="0" lvl="0" marL="0" marR="0" rtl="0" algn="l">
              <a:lnSpc>
                <a:spcPct val="149960"/>
              </a:lnSpc>
              <a:spcBef>
                <a:spcPts val="0"/>
              </a:spcBef>
              <a:spcAft>
                <a:spcPts val="0"/>
              </a:spcAft>
              <a:buNone/>
            </a:pPr>
            <a:r>
              <a:rPr b="1" lang="en-US" sz="1600">
                <a:solidFill>
                  <a:srgbClr val="94A3B8"/>
                </a:solidFill>
                <a:latin typeface="Poppins"/>
                <a:ea typeface="Poppins"/>
                <a:cs typeface="Poppins"/>
                <a:sym typeface="Poppins"/>
              </a:rPr>
              <a:t>S</a:t>
            </a:r>
            <a:r>
              <a:rPr b="1" i="0" lang="en-US" sz="1600" u="none" cap="none" strike="noStrike">
                <a:solidFill>
                  <a:srgbClr val="94A3B8"/>
                </a:solidFill>
                <a:latin typeface="Poppins"/>
                <a:ea typeface="Poppins"/>
                <a:cs typeface="Poppins"/>
                <a:sym typeface="Poppins"/>
              </a:rPr>
              <a:t>ofá</a:t>
            </a:r>
            <a:r>
              <a:rPr b="1" lang="en-US" sz="1600">
                <a:solidFill>
                  <a:srgbClr val="94A3B8"/>
                </a:solidFill>
                <a:latin typeface="Poppins"/>
                <a:ea typeface="Poppins"/>
                <a:cs typeface="Poppins"/>
                <a:sym typeface="Poppins"/>
              </a:rPr>
              <a:t>		C</a:t>
            </a:r>
            <a:r>
              <a:rPr b="1" i="0" lang="en-US" sz="1600" u="none" cap="none" strike="noStrike">
                <a:solidFill>
                  <a:srgbClr val="94A3B8"/>
                </a:solidFill>
                <a:latin typeface="Poppins"/>
                <a:ea typeface="Poppins"/>
                <a:cs typeface="Poppins"/>
                <a:sym typeface="Poppins"/>
              </a:rPr>
              <a:t>ama</a:t>
            </a:r>
            <a:endParaRPr b="1" sz="1600">
              <a:solidFill>
                <a:srgbClr val="94A3B8"/>
              </a:solidFill>
              <a:latin typeface="Poppins"/>
              <a:ea typeface="Poppins"/>
              <a:cs typeface="Poppins"/>
              <a:sym typeface="Poppins"/>
            </a:endParaRPr>
          </a:p>
          <a:p>
            <a:pPr indent="0" lvl="0" marL="0" marR="0" rtl="0" algn="l">
              <a:lnSpc>
                <a:spcPct val="149960"/>
              </a:lnSpc>
              <a:spcBef>
                <a:spcPts val="0"/>
              </a:spcBef>
              <a:spcAft>
                <a:spcPts val="0"/>
              </a:spcAft>
              <a:buNone/>
            </a:pPr>
            <a:r>
              <a:rPr b="1" lang="en-US" sz="1600">
                <a:solidFill>
                  <a:srgbClr val="94A3B8"/>
                </a:solidFill>
                <a:latin typeface="Poppins"/>
                <a:ea typeface="Poppins"/>
                <a:cs typeface="Poppins"/>
                <a:sym typeface="Poppins"/>
              </a:rPr>
              <a:t>M</a:t>
            </a:r>
            <a:r>
              <a:rPr b="1" i="0" lang="en-US" sz="1600" u="none" cap="none" strike="noStrike">
                <a:solidFill>
                  <a:srgbClr val="94A3B8"/>
                </a:solidFill>
                <a:latin typeface="Poppins"/>
                <a:ea typeface="Poppins"/>
                <a:cs typeface="Poppins"/>
                <a:sym typeface="Poppins"/>
              </a:rPr>
              <a:t>esa</a:t>
            </a:r>
            <a:r>
              <a:rPr b="1" lang="en-US" sz="1600">
                <a:solidFill>
                  <a:srgbClr val="94A3B8"/>
                </a:solidFill>
                <a:latin typeface="Poppins"/>
                <a:ea typeface="Poppins"/>
                <a:cs typeface="Poppins"/>
                <a:sym typeface="Poppins"/>
              </a:rPr>
              <a:t>		I</a:t>
            </a:r>
            <a:r>
              <a:rPr b="1" i="0" lang="en-US" sz="1600" u="none" cap="none" strike="noStrike">
                <a:solidFill>
                  <a:srgbClr val="94A3B8"/>
                </a:solidFill>
                <a:latin typeface="Poppins"/>
                <a:ea typeface="Poppins"/>
                <a:cs typeface="Poppins"/>
                <a:sym typeface="Poppins"/>
              </a:rPr>
              <a:t>nodoro</a:t>
            </a:r>
            <a:endParaRPr b="1" sz="1600">
              <a:solidFill>
                <a:srgbClr val="94A3B8"/>
              </a:solidFill>
              <a:latin typeface="Poppins"/>
              <a:ea typeface="Poppins"/>
              <a:cs typeface="Poppins"/>
              <a:sym typeface="Poppins"/>
            </a:endParaRPr>
          </a:p>
          <a:p>
            <a:pPr indent="0" lvl="0" marL="0" marR="0" rtl="0" algn="l">
              <a:lnSpc>
                <a:spcPct val="149960"/>
              </a:lnSpc>
              <a:spcBef>
                <a:spcPts val="0"/>
              </a:spcBef>
              <a:spcAft>
                <a:spcPts val="0"/>
              </a:spcAft>
              <a:buNone/>
            </a:pPr>
            <a:r>
              <a:rPr b="1" lang="en-US" sz="1600">
                <a:solidFill>
                  <a:srgbClr val="94A3B8"/>
                </a:solidFill>
                <a:latin typeface="Poppins"/>
                <a:ea typeface="Poppins"/>
                <a:cs typeface="Poppins"/>
                <a:sym typeface="Poppins"/>
              </a:rPr>
              <a:t>T</a:t>
            </a:r>
            <a:r>
              <a:rPr b="1" i="0" lang="en-US" sz="1600" u="none" cap="none" strike="noStrike">
                <a:solidFill>
                  <a:srgbClr val="94A3B8"/>
                </a:solidFill>
                <a:latin typeface="Poppins"/>
                <a:ea typeface="Poppins"/>
                <a:cs typeface="Poppins"/>
                <a:sym typeface="Poppins"/>
              </a:rPr>
              <a:t>elevisor</a:t>
            </a:r>
            <a:r>
              <a:rPr b="1" lang="en-US" sz="1600">
                <a:solidFill>
                  <a:srgbClr val="94A3B8"/>
                </a:solidFill>
                <a:latin typeface="Poppins"/>
                <a:ea typeface="Poppins"/>
                <a:cs typeface="Poppins"/>
                <a:sym typeface="Poppins"/>
              </a:rPr>
              <a:t>	C</a:t>
            </a:r>
            <a:r>
              <a:rPr b="1" i="0" lang="en-US" sz="1600" u="none" cap="none" strike="noStrike">
                <a:solidFill>
                  <a:srgbClr val="94A3B8"/>
                </a:solidFill>
                <a:latin typeface="Poppins"/>
                <a:ea typeface="Poppins"/>
                <a:cs typeface="Poppins"/>
                <a:sym typeface="Poppins"/>
              </a:rPr>
              <a:t>omputador</a:t>
            </a:r>
            <a:endParaRPr b="1" sz="1600">
              <a:solidFill>
                <a:srgbClr val="94A3B8"/>
              </a:solidFill>
              <a:latin typeface="Poppins"/>
              <a:ea typeface="Poppins"/>
              <a:cs typeface="Poppins"/>
              <a:sym typeface="Poppins"/>
            </a:endParaRPr>
          </a:p>
          <a:p>
            <a:pPr indent="0" lvl="0" marL="0" marR="0" rtl="0" algn="l">
              <a:lnSpc>
                <a:spcPct val="149960"/>
              </a:lnSpc>
              <a:spcBef>
                <a:spcPts val="0"/>
              </a:spcBef>
              <a:spcAft>
                <a:spcPts val="0"/>
              </a:spcAft>
              <a:buNone/>
            </a:pPr>
            <a:r>
              <a:rPr b="1" lang="en-US" sz="1600">
                <a:solidFill>
                  <a:srgbClr val="94A3B8"/>
                </a:solidFill>
                <a:latin typeface="Poppins"/>
                <a:ea typeface="Poppins"/>
                <a:cs typeface="Poppins"/>
                <a:sym typeface="Poppins"/>
              </a:rPr>
              <a:t>L</a:t>
            </a:r>
            <a:r>
              <a:rPr b="1" i="0" lang="en-US" sz="1600" u="none" cap="none" strike="noStrike">
                <a:solidFill>
                  <a:srgbClr val="94A3B8"/>
                </a:solidFill>
                <a:latin typeface="Poppins"/>
                <a:ea typeface="Poppins"/>
                <a:cs typeface="Poppins"/>
                <a:sym typeface="Poppins"/>
              </a:rPr>
              <a:t>avamanos</a:t>
            </a:r>
            <a:r>
              <a:rPr b="1" lang="en-US" sz="1600">
                <a:solidFill>
                  <a:srgbClr val="94A3B8"/>
                </a:solidFill>
                <a:latin typeface="Poppins"/>
                <a:ea typeface="Poppins"/>
                <a:cs typeface="Poppins"/>
                <a:sym typeface="Poppins"/>
              </a:rPr>
              <a:t>	R</a:t>
            </a:r>
            <a:r>
              <a:rPr b="1" i="0" lang="en-US" sz="1600" u="none" cap="none" strike="noStrike">
                <a:solidFill>
                  <a:srgbClr val="94A3B8"/>
                </a:solidFill>
                <a:latin typeface="Poppins"/>
                <a:ea typeface="Poppins"/>
                <a:cs typeface="Poppins"/>
                <a:sym typeface="Poppins"/>
              </a:rPr>
              <a:t>efrigerador</a:t>
            </a:r>
            <a:endParaRPr b="1" sz="1600">
              <a:latin typeface="Poppins"/>
              <a:ea typeface="Poppins"/>
              <a:cs typeface="Poppins"/>
              <a:sym typeface="Poppins"/>
            </a:endParaRPr>
          </a:p>
        </p:txBody>
      </p:sp>
      <p:sp>
        <p:nvSpPr>
          <p:cNvPr id="172" name="Google Shape;172;p20"/>
          <p:cNvSpPr txBox="1"/>
          <p:nvPr/>
        </p:nvSpPr>
        <p:spPr>
          <a:xfrm>
            <a:off x="581025" y="485775"/>
            <a:ext cx="6219000" cy="13854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i="0" lang="en-US" sz="4500" u="none" cap="none" strike="noStrike">
                <a:solidFill>
                  <a:srgbClr val="F8FAFC"/>
                </a:solidFill>
                <a:latin typeface="Poppins SemiBold"/>
                <a:ea typeface="Poppins SemiBold"/>
                <a:cs typeface="Poppins SemiBold"/>
                <a:sym typeface="Poppins SemiBold"/>
              </a:rPr>
              <a:t>Metodología de Evaluaci</a:t>
            </a:r>
            <a:r>
              <a:rPr lang="en-US" sz="4500">
                <a:solidFill>
                  <a:srgbClr val="F8FAFC"/>
                </a:solidFill>
                <a:latin typeface="Poppins SemiBold"/>
                <a:ea typeface="Poppins SemiBold"/>
                <a:cs typeface="Poppins SemiBold"/>
                <a:sym typeface="Poppins SemiBold"/>
              </a:rPr>
              <a:t>ón</a:t>
            </a:r>
            <a:endParaRPr sz="4500">
              <a:latin typeface="Poppins"/>
              <a:ea typeface="Poppins"/>
              <a:cs typeface="Poppins"/>
              <a:sym typeface="Poppins"/>
            </a:endParaRPr>
          </a:p>
        </p:txBody>
      </p:sp>
      <p:sp>
        <p:nvSpPr>
          <p:cNvPr id="173" name="Google Shape;173;p20"/>
          <p:cNvSpPr/>
          <p:nvPr/>
        </p:nvSpPr>
        <p:spPr>
          <a:xfrm>
            <a:off x="5857875" y="700087"/>
            <a:ext cx="476250" cy="28575"/>
          </a:xfrm>
          <a:prstGeom prst="roundRect">
            <a:avLst>
              <a:gd fmla="val 50000" name="adj"/>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74" name="Google Shape;174;p20"/>
          <p:cNvSpPr txBox="1"/>
          <p:nvPr/>
        </p:nvSpPr>
        <p:spPr>
          <a:xfrm>
            <a:off x="581025" y="5048900"/>
            <a:ext cx="9514200" cy="969600"/>
          </a:xfrm>
          <a:prstGeom prst="rect">
            <a:avLst/>
          </a:prstGeom>
          <a:noFill/>
          <a:ln>
            <a:noFill/>
          </a:ln>
        </p:spPr>
        <p:txBody>
          <a:bodyPr anchorCtr="0" anchor="t" bIns="0" lIns="0" spcFirstLastPara="1" rIns="0" wrap="square" tIns="0">
            <a:spAutoFit/>
          </a:bodyPr>
          <a:lstStyle/>
          <a:p>
            <a:pPr indent="0" lvl="0" marL="0" marR="0" rtl="0" algn="l">
              <a:lnSpc>
                <a:spcPct val="149960"/>
              </a:lnSpc>
              <a:spcBef>
                <a:spcPts val="0"/>
              </a:spcBef>
              <a:spcAft>
                <a:spcPts val="0"/>
              </a:spcAft>
              <a:buNone/>
            </a:pPr>
            <a:r>
              <a:rPr b="1" lang="en-US" sz="1700">
                <a:solidFill>
                  <a:srgbClr val="06B6D4"/>
                </a:solidFill>
                <a:latin typeface="Poppins"/>
                <a:ea typeface="Poppins"/>
                <a:cs typeface="Poppins"/>
                <a:sym typeface="Poppins"/>
              </a:rPr>
              <a:t>Dataset</a:t>
            </a:r>
            <a:endParaRPr b="1" sz="1700">
              <a:solidFill>
                <a:srgbClr val="06B6D4"/>
              </a:solidFill>
              <a:latin typeface="Poppins"/>
              <a:ea typeface="Poppins"/>
              <a:cs typeface="Poppins"/>
              <a:sym typeface="Poppins"/>
            </a:endParaRPr>
          </a:p>
          <a:p>
            <a:pPr indent="0" lvl="0" marL="0" rtl="0" algn="l">
              <a:lnSpc>
                <a:spcPct val="149960"/>
              </a:lnSpc>
              <a:spcBef>
                <a:spcPts val="0"/>
              </a:spcBef>
              <a:spcAft>
                <a:spcPts val="0"/>
              </a:spcAft>
              <a:buSzPts val="1100"/>
              <a:buNone/>
            </a:pPr>
            <a:r>
              <a:rPr b="1" lang="en-US" sz="1500">
                <a:solidFill>
                  <a:schemeClr val="lt1"/>
                </a:solidFill>
                <a:latin typeface="Poppins"/>
                <a:ea typeface="Poppins"/>
                <a:cs typeface="Poppins"/>
                <a:sym typeface="Poppins"/>
              </a:rPr>
              <a:t>Entrenamiento: </a:t>
            </a:r>
            <a:r>
              <a:rPr b="1" lang="en-US" sz="1500">
                <a:solidFill>
                  <a:srgbClr val="94A3B8"/>
                </a:solidFill>
                <a:latin typeface="Poppins"/>
                <a:ea typeface="Poppins"/>
                <a:cs typeface="Poppins"/>
                <a:sym typeface="Poppins"/>
              </a:rPr>
              <a:t>MS COCO Dataset</a:t>
            </a:r>
            <a:endParaRPr b="1" sz="1500">
              <a:solidFill>
                <a:srgbClr val="94A3B8"/>
              </a:solidFill>
              <a:latin typeface="Poppins"/>
              <a:ea typeface="Poppins"/>
              <a:cs typeface="Poppins"/>
              <a:sym typeface="Poppins"/>
            </a:endParaRPr>
          </a:p>
          <a:p>
            <a:pPr indent="0" lvl="0" marL="0" rtl="0" algn="l">
              <a:lnSpc>
                <a:spcPct val="149960"/>
              </a:lnSpc>
              <a:spcBef>
                <a:spcPts val="0"/>
              </a:spcBef>
              <a:spcAft>
                <a:spcPts val="0"/>
              </a:spcAft>
              <a:buSzPts val="1100"/>
              <a:buNone/>
            </a:pPr>
            <a:r>
              <a:rPr b="1" lang="en-US" sz="1500">
                <a:solidFill>
                  <a:schemeClr val="lt1"/>
                </a:solidFill>
                <a:latin typeface="Poppins"/>
                <a:ea typeface="Poppins"/>
                <a:cs typeface="Poppins"/>
                <a:sym typeface="Poppins"/>
              </a:rPr>
              <a:t>Validación: </a:t>
            </a:r>
            <a:r>
              <a:rPr b="1" lang="en-US" sz="1500">
                <a:solidFill>
                  <a:srgbClr val="94A3B8"/>
                </a:solidFill>
                <a:latin typeface="Poppins"/>
                <a:ea typeface="Poppins"/>
                <a:cs typeface="Poppins"/>
                <a:sym typeface="Poppins"/>
              </a:rPr>
              <a:t>Dataset Personalizado (80 imágenes + 257 bounding boxes)</a:t>
            </a:r>
            <a:endParaRPr b="1" sz="1500">
              <a:solidFill>
                <a:srgbClr val="94A3B8"/>
              </a:solidFill>
              <a:latin typeface="Poppins"/>
              <a:ea typeface="Poppins"/>
              <a:cs typeface="Poppins"/>
              <a:sym typeface="Poppins"/>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90D16"/>
        </a:solidFill>
      </p:bgPr>
    </p:bg>
    <p:spTree>
      <p:nvGrpSpPr>
        <p:cNvPr id="178" name="Shape 178"/>
        <p:cNvGrpSpPr/>
        <p:nvPr/>
      </p:nvGrpSpPr>
      <p:grpSpPr>
        <a:xfrm>
          <a:off x="0" y="0"/>
          <a:ext cx="0" cy="0"/>
          <a:chOff x="0" y="0"/>
          <a:chExt cx="0" cy="0"/>
        </a:xfrm>
      </p:grpSpPr>
      <p:pic>
        <p:nvPicPr>
          <p:cNvPr descr="image.png" id="179" name="Google Shape;179;p21"/>
          <p:cNvPicPr preferRelativeResize="0"/>
          <p:nvPr/>
        </p:nvPicPr>
        <p:blipFill rotWithShape="1">
          <a:blip r:embed="rId3">
            <a:alphaModFix/>
          </a:blip>
          <a:srcRect b="0" l="0" r="0" t="0"/>
          <a:stretch/>
        </p:blipFill>
        <p:spPr>
          <a:xfrm>
            <a:off x="75" y="0"/>
            <a:ext cx="12192000" cy="6858000"/>
          </a:xfrm>
          <a:prstGeom prst="rect">
            <a:avLst/>
          </a:prstGeom>
          <a:noFill/>
          <a:ln>
            <a:noFill/>
          </a:ln>
        </p:spPr>
      </p:pic>
      <p:pic>
        <p:nvPicPr>
          <p:cNvPr descr="image.png" id="180" name="Google Shape;180;p21"/>
          <p:cNvPicPr preferRelativeResize="0"/>
          <p:nvPr/>
        </p:nvPicPr>
        <p:blipFill rotWithShape="1">
          <a:blip r:embed="rId4">
            <a:alphaModFix/>
          </a:blip>
          <a:srcRect b="0" l="0" r="0" t="0"/>
          <a:stretch/>
        </p:blipFill>
        <p:spPr>
          <a:xfrm>
            <a:off x="758075" y="2329125"/>
            <a:ext cx="2265000" cy="2335250"/>
          </a:xfrm>
          <a:prstGeom prst="rect">
            <a:avLst/>
          </a:prstGeom>
          <a:noFill/>
          <a:ln>
            <a:noFill/>
          </a:ln>
        </p:spPr>
      </p:pic>
      <p:sp>
        <p:nvSpPr>
          <p:cNvPr id="181" name="Google Shape;181;p21"/>
          <p:cNvSpPr/>
          <p:nvPr/>
        </p:nvSpPr>
        <p:spPr>
          <a:xfrm>
            <a:off x="3224212" y="1190625"/>
            <a:ext cx="38100" cy="2229000"/>
          </a:xfrm>
          <a:prstGeom prst="roundRect">
            <a:avLst>
              <a:gd fmla="val 50000" name="adj"/>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82" name="Google Shape;182;p21"/>
          <p:cNvSpPr txBox="1"/>
          <p:nvPr/>
        </p:nvSpPr>
        <p:spPr>
          <a:xfrm>
            <a:off x="1064292" y="2572375"/>
            <a:ext cx="1701300" cy="3078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2000">
                <a:solidFill>
                  <a:srgbClr val="06B6D4"/>
                </a:solidFill>
                <a:latin typeface="Poppins SemiBold"/>
                <a:ea typeface="Poppins SemiBold"/>
                <a:cs typeface="Poppins SemiBold"/>
                <a:sym typeface="Poppins SemiBold"/>
              </a:rPr>
              <a:t>pycocotools</a:t>
            </a:r>
            <a:endParaRPr sz="2000">
              <a:latin typeface="Poppins"/>
              <a:ea typeface="Poppins"/>
              <a:cs typeface="Poppins"/>
              <a:sym typeface="Poppins"/>
            </a:endParaRPr>
          </a:p>
        </p:txBody>
      </p:sp>
      <p:sp>
        <p:nvSpPr>
          <p:cNvPr id="183" name="Google Shape;183;p21"/>
          <p:cNvSpPr txBox="1"/>
          <p:nvPr/>
        </p:nvSpPr>
        <p:spPr>
          <a:xfrm>
            <a:off x="1053292" y="3102800"/>
            <a:ext cx="1701300" cy="9234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500">
                <a:solidFill>
                  <a:srgbClr val="94A3B8"/>
                </a:solidFill>
                <a:latin typeface="Poppins"/>
                <a:ea typeface="Poppins"/>
                <a:cs typeface="Poppins"/>
                <a:sym typeface="Poppins"/>
              </a:rPr>
              <a:t>Librería oficial de evaluación del dataset MS COCO en Python.</a:t>
            </a:r>
            <a:endParaRPr sz="1500">
              <a:latin typeface="Poppins"/>
              <a:ea typeface="Poppins"/>
              <a:cs typeface="Poppins"/>
              <a:sym typeface="Poppins"/>
            </a:endParaRPr>
          </a:p>
        </p:txBody>
      </p:sp>
      <p:sp>
        <p:nvSpPr>
          <p:cNvPr id="184" name="Google Shape;184;p21"/>
          <p:cNvSpPr/>
          <p:nvPr/>
        </p:nvSpPr>
        <p:spPr>
          <a:xfrm>
            <a:off x="8929687" y="1190625"/>
            <a:ext cx="38100" cy="2229000"/>
          </a:xfrm>
          <a:prstGeom prst="roundRect">
            <a:avLst>
              <a:gd fmla="val 50000" name="adj"/>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85" name="Google Shape;185;p21"/>
          <p:cNvSpPr txBox="1"/>
          <p:nvPr/>
        </p:nvSpPr>
        <p:spPr>
          <a:xfrm>
            <a:off x="581025" y="851900"/>
            <a:ext cx="6853800" cy="10776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3500">
                <a:solidFill>
                  <a:srgbClr val="F8FAFC"/>
                </a:solidFill>
                <a:latin typeface="Poppins"/>
                <a:ea typeface="Poppins"/>
                <a:cs typeface="Poppins"/>
                <a:sym typeface="Poppins"/>
              </a:rPr>
              <a:t>Herramientas utilizadas para las pruebas de escritorio</a:t>
            </a:r>
            <a:endParaRPr b="1" sz="3500">
              <a:latin typeface="Poppins"/>
              <a:ea typeface="Poppins"/>
              <a:cs typeface="Poppins"/>
              <a:sym typeface="Poppins"/>
            </a:endParaRPr>
          </a:p>
        </p:txBody>
      </p:sp>
      <p:sp>
        <p:nvSpPr>
          <p:cNvPr id="186" name="Google Shape;186;p21"/>
          <p:cNvSpPr/>
          <p:nvPr/>
        </p:nvSpPr>
        <p:spPr>
          <a:xfrm>
            <a:off x="5857875" y="700087"/>
            <a:ext cx="476400" cy="28500"/>
          </a:xfrm>
          <a:prstGeom prst="roundRect">
            <a:avLst>
              <a:gd fmla="val 50000" name="adj"/>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pic>
        <p:nvPicPr>
          <p:cNvPr descr="image.png" id="187" name="Google Shape;187;p21"/>
          <p:cNvPicPr preferRelativeResize="0"/>
          <p:nvPr/>
        </p:nvPicPr>
        <p:blipFill rotWithShape="1">
          <a:blip r:embed="rId4">
            <a:alphaModFix/>
          </a:blip>
          <a:srcRect b="0" l="0" r="0" t="0"/>
          <a:stretch/>
        </p:blipFill>
        <p:spPr>
          <a:xfrm>
            <a:off x="3376000" y="2329125"/>
            <a:ext cx="2881276" cy="2335250"/>
          </a:xfrm>
          <a:prstGeom prst="rect">
            <a:avLst/>
          </a:prstGeom>
          <a:noFill/>
          <a:ln>
            <a:noFill/>
          </a:ln>
        </p:spPr>
      </p:pic>
      <p:sp>
        <p:nvSpPr>
          <p:cNvPr id="188" name="Google Shape;188;p21"/>
          <p:cNvSpPr txBox="1"/>
          <p:nvPr/>
        </p:nvSpPr>
        <p:spPr>
          <a:xfrm>
            <a:off x="3626192" y="2572375"/>
            <a:ext cx="1701300" cy="3078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2000">
                <a:solidFill>
                  <a:srgbClr val="06B6D4"/>
                </a:solidFill>
                <a:latin typeface="Poppins SemiBold"/>
                <a:ea typeface="Poppins SemiBold"/>
                <a:cs typeface="Poppins SemiBold"/>
                <a:sym typeface="Poppins SemiBold"/>
              </a:rPr>
              <a:t>Tensorflow</a:t>
            </a:r>
            <a:endParaRPr sz="2000">
              <a:latin typeface="Poppins"/>
              <a:ea typeface="Poppins"/>
              <a:cs typeface="Poppins"/>
              <a:sym typeface="Poppins"/>
            </a:endParaRPr>
          </a:p>
        </p:txBody>
      </p:sp>
      <p:sp>
        <p:nvSpPr>
          <p:cNvPr id="189" name="Google Shape;189;p21"/>
          <p:cNvSpPr txBox="1"/>
          <p:nvPr/>
        </p:nvSpPr>
        <p:spPr>
          <a:xfrm>
            <a:off x="3615200" y="3102800"/>
            <a:ext cx="2593200" cy="11544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500">
                <a:solidFill>
                  <a:srgbClr val="94A3B8"/>
                </a:solidFill>
                <a:latin typeface="Poppins"/>
                <a:ea typeface="Poppins"/>
                <a:cs typeface="Poppins"/>
                <a:sym typeface="Poppins"/>
              </a:rPr>
              <a:t>Librería de inferencia de Google para ejecutar modelos de aprendizaje profundo en dispositivos móviles y embebidos.</a:t>
            </a:r>
            <a:endParaRPr sz="1500">
              <a:latin typeface="Poppins"/>
              <a:ea typeface="Poppins"/>
              <a:cs typeface="Poppins"/>
              <a:sym typeface="Poppins"/>
            </a:endParaRPr>
          </a:p>
        </p:txBody>
      </p:sp>
      <p:pic>
        <p:nvPicPr>
          <p:cNvPr descr="image.png" id="190" name="Google Shape;190;p21"/>
          <p:cNvPicPr preferRelativeResize="0"/>
          <p:nvPr/>
        </p:nvPicPr>
        <p:blipFill rotWithShape="1">
          <a:blip r:embed="rId4">
            <a:alphaModFix/>
          </a:blip>
          <a:srcRect b="0" l="0" r="0" t="0"/>
          <a:stretch/>
        </p:blipFill>
        <p:spPr>
          <a:xfrm>
            <a:off x="6370988" y="2329125"/>
            <a:ext cx="2881276" cy="2335250"/>
          </a:xfrm>
          <a:prstGeom prst="rect">
            <a:avLst/>
          </a:prstGeom>
          <a:noFill/>
          <a:ln>
            <a:noFill/>
          </a:ln>
        </p:spPr>
      </p:pic>
      <p:sp>
        <p:nvSpPr>
          <p:cNvPr id="191" name="Google Shape;191;p21"/>
          <p:cNvSpPr txBox="1"/>
          <p:nvPr/>
        </p:nvSpPr>
        <p:spPr>
          <a:xfrm>
            <a:off x="6621179" y="2572375"/>
            <a:ext cx="1701300" cy="3078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2000">
                <a:solidFill>
                  <a:srgbClr val="06B6D4"/>
                </a:solidFill>
                <a:latin typeface="Poppins SemiBold"/>
                <a:ea typeface="Poppins SemiBold"/>
                <a:cs typeface="Poppins SemiBold"/>
                <a:sym typeface="Poppins SemiBold"/>
              </a:rPr>
              <a:t>OpenCV</a:t>
            </a:r>
            <a:endParaRPr sz="2000">
              <a:latin typeface="Poppins"/>
              <a:ea typeface="Poppins"/>
              <a:cs typeface="Poppins"/>
              <a:sym typeface="Poppins"/>
            </a:endParaRPr>
          </a:p>
        </p:txBody>
      </p:sp>
      <p:sp>
        <p:nvSpPr>
          <p:cNvPr id="192" name="Google Shape;192;p21"/>
          <p:cNvSpPr txBox="1"/>
          <p:nvPr/>
        </p:nvSpPr>
        <p:spPr>
          <a:xfrm>
            <a:off x="6610188" y="3102800"/>
            <a:ext cx="2593200" cy="11544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500">
                <a:solidFill>
                  <a:srgbClr val="94A3B8"/>
                </a:solidFill>
                <a:latin typeface="Poppins"/>
                <a:ea typeface="Poppins"/>
                <a:cs typeface="Poppins"/>
                <a:sym typeface="Poppins"/>
              </a:rPr>
              <a:t>Librería de visión por computador de código abierto para procesamiento de imágenes y video.</a:t>
            </a:r>
            <a:endParaRPr sz="1500">
              <a:latin typeface="Poppins"/>
              <a:ea typeface="Poppins"/>
              <a:cs typeface="Poppins"/>
              <a:sym typeface="Poppins"/>
            </a:endParaRPr>
          </a:p>
        </p:txBody>
      </p:sp>
      <p:pic>
        <p:nvPicPr>
          <p:cNvPr descr="image.png" id="193" name="Google Shape;193;p21"/>
          <p:cNvPicPr preferRelativeResize="0"/>
          <p:nvPr/>
        </p:nvPicPr>
        <p:blipFill rotWithShape="1">
          <a:blip r:embed="rId4">
            <a:alphaModFix/>
          </a:blip>
          <a:srcRect b="0" l="0" r="0" t="0"/>
          <a:stretch/>
        </p:blipFill>
        <p:spPr>
          <a:xfrm>
            <a:off x="9419125" y="2329125"/>
            <a:ext cx="2372574" cy="2335250"/>
          </a:xfrm>
          <a:prstGeom prst="rect">
            <a:avLst/>
          </a:prstGeom>
          <a:noFill/>
          <a:ln>
            <a:noFill/>
          </a:ln>
        </p:spPr>
      </p:pic>
      <p:sp>
        <p:nvSpPr>
          <p:cNvPr id="194" name="Google Shape;194;p21"/>
          <p:cNvSpPr txBox="1"/>
          <p:nvPr/>
        </p:nvSpPr>
        <p:spPr>
          <a:xfrm>
            <a:off x="9669317" y="2572375"/>
            <a:ext cx="1701300" cy="3078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2000">
                <a:solidFill>
                  <a:srgbClr val="06B6D4"/>
                </a:solidFill>
                <a:latin typeface="Poppins SemiBold"/>
                <a:ea typeface="Poppins SemiBold"/>
                <a:cs typeface="Poppins SemiBold"/>
                <a:sym typeface="Poppins SemiBold"/>
              </a:rPr>
              <a:t>Pillow</a:t>
            </a:r>
            <a:endParaRPr sz="2000">
              <a:latin typeface="Poppins"/>
              <a:ea typeface="Poppins"/>
              <a:cs typeface="Poppins"/>
              <a:sym typeface="Poppins"/>
            </a:endParaRPr>
          </a:p>
        </p:txBody>
      </p:sp>
      <p:sp>
        <p:nvSpPr>
          <p:cNvPr id="195" name="Google Shape;195;p21"/>
          <p:cNvSpPr txBox="1"/>
          <p:nvPr/>
        </p:nvSpPr>
        <p:spPr>
          <a:xfrm>
            <a:off x="9658350" y="3035050"/>
            <a:ext cx="1701300" cy="11544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500">
                <a:solidFill>
                  <a:srgbClr val="94A3B8"/>
                </a:solidFill>
                <a:latin typeface="Poppins"/>
                <a:ea typeface="Poppins"/>
                <a:cs typeface="Poppins"/>
                <a:sym typeface="Poppins"/>
              </a:rPr>
              <a:t>Librería</a:t>
            </a:r>
            <a:r>
              <a:rPr lang="en-US" sz="1500">
                <a:solidFill>
                  <a:srgbClr val="94A3B8"/>
                </a:solidFill>
                <a:latin typeface="Poppins"/>
                <a:ea typeface="Poppins"/>
                <a:cs typeface="Poppins"/>
                <a:sym typeface="Poppins"/>
              </a:rPr>
              <a:t> de Python para carga, manipulación y transformación de imágenes.</a:t>
            </a:r>
            <a:endParaRPr sz="1500">
              <a:latin typeface="Poppins"/>
              <a:ea typeface="Poppins"/>
              <a:cs typeface="Poppins"/>
              <a:sym typeface="Poppins"/>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90D16"/>
        </a:solidFill>
      </p:bgPr>
    </p:bg>
    <p:spTree>
      <p:nvGrpSpPr>
        <p:cNvPr id="199" name="Shape 199"/>
        <p:cNvGrpSpPr/>
        <p:nvPr/>
      </p:nvGrpSpPr>
      <p:grpSpPr>
        <a:xfrm>
          <a:off x="0" y="0"/>
          <a:ext cx="0" cy="0"/>
          <a:chOff x="0" y="0"/>
          <a:chExt cx="0" cy="0"/>
        </a:xfrm>
      </p:grpSpPr>
      <p:pic>
        <p:nvPicPr>
          <p:cNvPr descr="image.png" id="200" name="Google Shape;200;p22"/>
          <p:cNvPicPr preferRelativeResize="0"/>
          <p:nvPr/>
        </p:nvPicPr>
        <p:blipFill rotWithShape="1">
          <a:blip r:embed="rId3">
            <a:alphaModFix/>
          </a:blip>
          <a:srcRect b="0" l="0" r="0" t="0"/>
          <a:stretch/>
        </p:blipFill>
        <p:spPr>
          <a:xfrm>
            <a:off x="75" y="0"/>
            <a:ext cx="12192000" cy="6858000"/>
          </a:xfrm>
          <a:prstGeom prst="rect">
            <a:avLst/>
          </a:prstGeom>
          <a:noFill/>
          <a:ln>
            <a:noFill/>
          </a:ln>
        </p:spPr>
      </p:pic>
      <p:sp>
        <p:nvSpPr>
          <p:cNvPr id="201" name="Google Shape;201;p22"/>
          <p:cNvSpPr/>
          <p:nvPr/>
        </p:nvSpPr>
        <p:spPr>
          <a:xfrm>
            <a:off x="3224212" y="1190625"/>
            <a:ext cx="38100" cy="2229000"/>
          </a:xfrm>
          <a:prstGeom prst="roundRect">
            <a:avLst>
              <a:gd fmla="val 50000" name="adj"/>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02" name="Google Shape;202;p22"/>
          <p:cNvSpPr/>
          <p:nvPr/>
        </p:nvSpPr>
        <p:spPr>
          <a:xfrm>
            <a:off x="8929687" y="1190625"/>
            <a:ext cx="38100" cy="2229000"/>
          </a:xfrm>
          <a:prstGeom prst="roundRect">
            <a:avLst>
              <a:gd fmla="val 50000" name="adj"/>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03" name="Google Shape;203;p22"/>
          <p:cNvSpPr txBox="1"/>
          <p:nvPr/>
        </p:nvSpPr>
        <p:spPr>
          <a:xfrm>
            <a:off x="581025" y="851900"/>
            <a:ext cx="6463200" cy="10776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3500">
                <a:solidFill>
                  <a:srgbClr val="F8FAFC"/>
                </a:solidFill>
                <a:latin typeface="Poppins"/>
                <a:ea typeface="Poppins"/>
                <a:cs typeface="Poppins"/>
                <a:sym typeface="Poppins"/>
              </a:rPr>
              <a:t>Herramientas utilizadas para las pruebas en m</a:t>
            </a:r>
            <a:r>
              <a:rPr b="1" lang="en-US" sz="3500">
                <a:solidFill>
                  <a:srgbClr val="F8FAFC"/>
                </a:solidFill>
                <a:latin typeface="Poppins"/>
                <a:ea typeface="Poppins"/>
                <a:cs typeface="Poppins"/>
                <a:sym typeface="Poppins"/>
              </a:rPr>
              <a:t>óvil</a:t>
            </a:r>
            <a:endParaRPr b="1" sz="3500">
              <a:latin typeface="Poppins"/>
              <a:ea typeface="Poppins"/>
              <a:cs typeface="Poppins"/>
              <a:sym typeface="Poppins"/>
            </a:endParaRPr>
          </a:p>
        </p:txBody>
      </p:sp>
      <p:sp>
        <p:nvSpPr>
          <p:cNvPr id="204" name="Google Shape;204;p22"/>
          <p:cNvSpPr/>
          <p:nvPr/>
        </p:nvSpPr>
        <p:spPr>
          <a:xfrm>
            <a:off x="5857875" y="700087"/>
            <a:ext cx="476400" cy="28500"/>
          </a:xfrm>
          <a:prstGeom prst="roundRect">
            <a:avLst>
              <a:gd fmla="val 50000" name="adj"/>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pic>
        <p:nvPicPr>
          <p:cNvPr descr="image.png" id="205" name="Google Shape;205;p22"/>
          <p:cNvPicPr preferRelativeResize="0"/>
          <p:nvPr/>
        </p:nvPicPr>
        <p:blipFill rotWithShape="1">
          <a:blip r:embed="rId4">
            <a:alphaModFix/>
          </a:blip>
          <a:srcRect b="0" l="0" r="0" t="0"/>
          <a:stretch/>
        </p:blipFill>
        <p:spPr>
          <a:xfrm>
            <a:off x="4397137" y="2261375"/>
            <a:ext cx="2768926" cy="2335250"/>
          </a:xfrm>
          <a:prstGeom prst="rect">
            <a:avLst/>
          </a:prstGeom>
          <a:noFill/>
          <a:ln>
            <a:noFill/>
          </a:ln>
        </p:spPr>
      </p:pic>
      <p:sp>
        <p:nvSpPr>
          <p:cNvPr id="206" name="Google Shape;206;p22"/>
          <p:cNvSpPr txBox="1"/>
          <p:nvPr/>
        </p:nvSpPr>
        <p:spPr>
          <a:xfrm>
            <a:off x="4703354" y="2504625"/>
            <a:ext cx="2462700" cy="6156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2000">
                <a:solidFill>
                  <a:srgbClr val="06B6D4"/>
                </a:solidFill>
                <a:latin typeface="Poppins SemiBold"/>
                <a:ea typeface="Poppins SemiBold"/>
                <a:cs typeface="Poppins SemiBold"/>
                <a:sym typeface="Poppins SemiBold"/>
              </a:rPr>
              <a:t>LiteRT Benchmark Tools</a:t>
            </a:r>
            <a:endParaRPr sz="2000">
              <a:latin typeface="Poppins"/>
              <a:ea typeface="Poppins"/>
              <a:cs typeface="Poppins"/>
              <a:sym typeface="Poppins"/>
            </a:endParaRPr>
          </a:p>
        </p:txBody>
      </p:sp>
      <p:pic>
        <p:nvPicPr>
          <p:cNvPr descr="image.png" id="207" name="Google Shape;207;p22"/>
          <p:cNvPicPr preferRelativeResize="0"/>
          <p:nvPr/>
        </p:nvPicPr>
        <p:blipFill rotWithShape="1">
          <a:blip r:embed="rId4">
            <a:alphaModFix/>
          </a:blip>
          <a:srcRect b="0" l="0" r="0" t="0"/>
          <a:stretch/>
        </p:blipFill>
        <p:spPr>
          <a:xfrm>
            <a:off x="904475" y="2261375"/>
            <a:ext cx="2654450" cy="2335250"/>
          </a:xfrm>
          <a:prstGeom prst="rect">
            <a:avLst/>
          </a:prstGeom>
          <a:noFill/>
          <a:ln>
            <a:noFill/>
          </a:ln>
        </p:spPr>
      </p:pic>
      <p:sp>
        <p:nvSpPr>
          <p:cNvPr id="208" name="Google Shape;208;p22"/>
          <p:cNvSpPr txBox="1"/>
          <p:nvPr/>
        </p:nvSpPr>
        <p:spPr>
          <a:xfrm>
            <a:off x="1210625" y="2504625"/>
            <a:ext cx="2265000" cy="6156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2000">
                <a:solidFill>
                  <a:srgbClr val="06B6D4"/>
                </a:solidFill>
                <a:latin typeface="Poppins SemiBold"/>
                <a:ea typeface="Poppins SemiBold"/>
                <a:cs typeface="Poppins SemiBold"/>
                <a:sym typeface="Poppins SemiBold"/>
              </a:rPr>
              <a:t>Android Debug Bridge (adb)</a:t>
            </a:r>
            <a:endParaRPr sz="2000">
              <a:latin typeface="Poppins"/>
              <a:ea typeface="Poppins"/>
              <a:cs typeface="Poppins"/>
              <a:sym typeface="Poppins"/>
            </a:endParaRPr>
          </a:p>
        </p:txBody>
      </p:sp>
      <p:sp>
        <p:nvSpPr>
          <p:cNvPr id="209" name="Google Shape;209;p22"/>
          <p:cNvSpPr txBox="1"/>
          <p:nvPr/>
        </p:nvSpPr>
        <p:spPr>
          <a:xfrm>
            <a:off x="1210628" y="3230325"/>
            <a:ext cx="2265000" cy="11544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500">
                <a:solidFill>
                  <a:srgbClr val="94A3B8"/>
                </a:solidFill>
                <a:latin typeface="Poppins"/>
                <a:ea typeface="Poppins"/>
                <a:cs typeface="Poppins"/>
                <a:sym typeface="Poppins"/>
              </a:rPr>
              <a:t>Herramienta de línea de comandos versátil que permite comunicarse con un dispositivo. </a:t>
            </a:r>
            <a:endParaRPr sz="1500">
              <a:latin typeface="Poppins"/>
              <a:ea typeface="Poppins"/>
              <a:cs typeface="Poppins"/>
              <a:sym typeface="Poppins"/>
            </a:endParaRPr>
          </a:p>
        </p:txBody>
      </p:sp>
      <p:sp>
        <p:nvSpPr>
          <p:cNvPr id="210" name="Google Shape;210;p22"/>
          <p:cNvSpPr txBox="1"/>
          <p:nvPr/>
        </p:nvSpPr>
        <p:spPr>
          <a:xfrm>
            <a:off x="3446475" y="4807850"/>
            <a:ext cx="5299200" cy="1339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1500">
                <a:solidFill>
                  <a:schemeClr val="lt1"/>
                </a:solidFill>
                <a:latin typeface="Poppins"/>
                <a:ea typeface="Poppins"/>
                <a:cs typeface="Poppins"/>
                <a:sym typeface="Poppins"/>
              </a:rPr>
              <a:t>adb shell /data/local/tmp/android_benchmark \</a:t>
            </a:r>
            <a:endParaRPr sz="1500">
              <a:solidFill>
                <a:schemeClr val="lt1"/>
              </a:solidFill>
              <a:latin typeface="Poppins"/>
              <a:ea typeface="Poppins"/>
              <a:cs typeface="Poppins"/>
              <a:sym typeface="Poppins"/>
            </a:endParaRPr>
          </a:p>
          <a:p>
            <a:pPr indent="0" lvl="0" marL="0" rtl="0" algn="l">
              <a:spcBef>
                <a:spcPts val="0"/>
              </a:spcBef>
              <a:spcAft>
                <a:spcPts val="0"/>
              </a:spcAft>
              <a:buNone/>
            </a:pPr>
            <a:r>
              <a:rPr lang="en-US" sz="1500">
                <a:solidFill>
                  <a:schemeClr val="lt1"/>
                </a:solidFill>
                <a:latin typeface="Poppins"/>
                <a:ea typeface="Poppins"/>
                <a:cs typeface="Poppins"/>
                <a:sym typeface="Poppins"/>
              </a:rPr>
              <a:t>    --graph=/data/local/tmp/model.tflite \</a:t>
            </a:r>
            <a:endParaRPr sz="1500">
              <a:solidFill>
                <a:schemeClr val="lt1"/>
              </a:solidFill>
              <a:latin typeface="Poppins"/>
              <a:ea typeface="Poppins"/>
              <a:cs typeface="Poppins"/>
              <a:sym typeface="Poppins"/>
            </a:endParaRPr>
          </a:p>
          <a:p>
            <a:pPr indent="0" lvl="0" marL="0" rtl="0" algn="l">
              <a:spcBef>
                <a:spcPts val="0"/>
              </a:spcBef>
              <a:spcAft>
                <a:spcPts val="0"/>
              </a:spcAft>
              <a:buNone/>
            </a:pPr>
            <a:r>
              <a:rPr lang="en-US" sz="1500">
                <a:solidFill>
                  <a:schemeClr val="lt1"/>
                </a:solidFill>
                <a:latin typeface="Poppins"/>
                <a:ea typeface="Poppins"/>
                <a:cs typeface="Poppins"/>
                <a:sym typeface="Poppins"/>
              </a:rPr>
              <a:t>    --num_threads=4 \</a:t>
            </a:r>
            <a:endParaRPr sz="1500">
              <a:solidFill>
                <a:schemeClr val="lt1"/>
              </a:solidFill>
              <a:latin typeface="Poppins"/>
              <a:ea typeface="Poppins"/>
              <a:cs typeface="Poppins"/>
              <a:sym typeface="Poppins"/>
            </a:endParaRPr>
          </a:p>
          <a:p>
            <a:pPr indent="0" lvl="0" marL="0" rtl="0" algn="l">
              <a:spcBef>
                <a:spcPts val="0"/>
              </a:spcBef>
              <a:spcAft>
                <a:spcPts val="0"/>
              </a:spcAft>
              <a:buNone/>
            </a:pPr>
            <a:r>
              <a:rPr lang="en-US" sz="1500">
                <a:solidFill>
                  <a:schemeClr val="lt1"/>
                </a:solidFill>
                <a:latin typeface="Poppins"/>
                <a:ea typeface="Poppins"/>
                <a:cs typeface="Poppins"/>
                <a:sym typeface="Poppins"/>
              </a:rPr>
              <a:t>    --num_runs=50 \</a:t>
            </a:r>
            <a:endParaRPr sz="1500">
              <a:solidFill>
                <a:schemeClr val="lt1"/>
              </a:solidFill>
              <a:latin typeface="Poppins"/>
              <a:ea typeface="Poppins"/>
              <a:cs typeface="Poppins"/>
              <a:sym typeface="Poppins"/>
            </a:endParaRPr>
          </a:p>
          <a:p>
            <a:pPr indent="0" lvl="0" marL="0" rtl="0" algn="l">
              <a:spcBef>
                <a:spcPts val="0"/>
              </a:spcBef>
              <a:spcAft>
                <a:spcPts val="0"/>
              </a:spcAft>
              <a:buNone/>
            </a:pPr>
            <a:r>
              <a:rPr lang="en-US" sz="1500">
                <a:solidFill>
                  <a:schemeClr val="lt1"/>
                </a:solidFill>
                <a:latin typeface="Poppins"/>
                <a:ea typeface="Poppins"/>
                <a:cs typeface="Poppins"/>
                <a:sym typeface="Poppins"/>
              </a:rPr>
              <a:t>    --use_gpu=true</a:t>
            </a:r>
            <a:endParaRPr sz="1500">
              <a:solidFill>
                <a:schemeClr val="lt1"/>
              </a:solidFill>
              <a:latin typeface="Poppins"/>
              <a:ea typeface="Poppins"/>
              <a:cs typeface="Poppins"/>
              <a:sym typeface="Poppins"/>
            </a:endParaRPr>
          </a:p>
        </p:txBody>
      </p:sp>
      <p:sp>
        <p:nvSpPr>
          <p:cNvPr id="211" name="Google Shape;211;p22"/>
          <p:cNvSpPr txBox="1"/>
          <p:nvPr/>
        </p:nvSpPr>
        <p:spPr>
          <a:xfrm>
            <a:off x="4703353" y="3230325"/>
            <a:ext cx="2265000" cy="11544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500">
                <a:solidFill>
                  <a:srgbClr val="94A3B8"/>
                </a:solidFill>
                <a:latin typeface="Poppins"/>
                <a:ea typeface="Poppins"/>
                <a:cs typeface="Poppins"/>
                <a:sym typeface="Poppins"/>
              </a:rPr>
              <a:t>Conjunto de utilidades de medición de rendimiento proporcionadas por Google AI Edge.</a:t>
            </a:r>
            <a:endParaRPr sz="1500">
              <a:latin typeface="Poppins"/>
              <a:ea typeface="Poppins"/>
              <a:cs typeface="Poppins"/>
              <a:sym typeface="Poppins"/>
            </a:endParaRPr>
          </a:p>
        </p:txBody>
      </p:sp>
      <p:pic>
        <p:nvPicPr>
          <p:cNvPr descr="image.png" id="212" name="Google Shape;212;p22"/>
          <p:cNvPicPr preferRelativeResize="0"/>
          <p:nvPr/>
        </p:nvPicPr>
        <p:blipFill rotWithShape="1">
          <a:blip r:embed="rId4">
            <a:alphaModFix/>
          </a:blip>
          <a:srcRect b="0" l="0" r="0" t="0"/>
          <a:stretch/>
        </p:blipFill>
        <p:spPr>
          <a:xfrm>
            <a:off x="8087549" y="2261375"/>
            <a:ext cx="2948400" cy="2335250"/>
          </a:xfrm>
          <a:prstGeom prst="rect">
            <a:avLst/>
          </a:prstGeom>
          <a:noFill/>
          <a:ln>
            <a:noFill/>
          </a:ln>
        </p:spPr>
      </p:pic>
      <p:sp>
        <p:nvSpPr>
          <p:cNvPr id="213" name="Google Shape;213;p22"/>
          <p:cNvSpPr txBox="1"/>
          <p:nvPr/>
        </p:nvSpPr>
        <p:spPr>
          <a:xfrm>
            <a:off x="8320550" y="2504625"/>
            <a:ext cx="2654400" cy="6156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2000">
                <a:solidFill>
                  <a:srgbClr val="06B6D4"/>
                </a:solidFill>
                <a:latin typeface="Poppins SemiBold"/>
                <a:ea typeface="Poppins SemiBold"/>
                <a:cs typeface="Poppins SemiBold"/>
                <a:sym typeface="Poppins SemiBold"/>
              </a:rPr>
              <a:t>android_aarch64_benchmark_model</a:t>
            </a:r>
            <a:endParaRPr sz="2000">
              <a:latin typeface="Poppins"/>
              <a:ea typeface="Poppins"/>
              <a:cs typeface="Poppins"/>
              <a:sym typeface="Poppins"/>
            </a:endParaRPr>
          </a:p>
        </p:txBody>
      </p:sp>
      <p:sp>
        <p:nvSpPr>
          <p:cNvPr id="214" name="Google Shape;214;p22"/>
          <p:cNvSpPr txBox="1"/>
          <p:nvPr/>
        </p:nvSpPr>
        <p:spPr>
          <a:xfrm>
            <a:off x="8393778" y="3230325"/>
            <a:ext cx="2265000" cy="10005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300">
                <a:solidFill>
                  <a:srgbClr val="94A3B8"/>
                </a:solidFill>
                <a:latin typeface="Poppins"/>
                <a:ea typeface="Poppins"/>
                <a:cs typeface="Poppins"/>
                <a:sym typeface="Poppins"/>
              </a:rPr>
              <a:t>Versión binaria nativa en C++ de la herramienta de evaluación comparativa LiteRT para dispositivos Android ARM de 64 bits.</a:t>
            </a:r>
            <a:endParaRPr sz="1300">
              <a:latin typeface="Poppins"/>
              <a:ea typeface="Poppins"/>
              <a:cs typeface="Poppins"/>
              <a:sym typeface="Poppins"/>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90D16"/>
        </a:solidFill>
      </p:bgPr>
    </p:bg>
    <p:spTree>
      <p:nvGrpSpPr>
        <p:cNvPr id="218" name="Shape 218"/>
        <p:cNvGrpSpPr/>
        <p:nvPr/>
      </p:nvGrpSpPr>
      <p:grpSpPr>
        <a:xfrm>
          <a:off x="0" y="0"/>
          <a:ext cx="0" cy="0"/>
          <a:chOff x="0" y="0"/>
          <a:chExt cx="0" cy="0"/>
        </a:xfrm>
      </p:grpSpPr>
      <p:pic>
        <p:nvPicPr>
          <p:cNvPr descr="image.png" id="219" name="Google Shape;219;p23"/>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220" name="Google Shape;220;p23"/>
          <p:cNvSpPr txBox="1"/>
          <p:nvPr/>
        </p:nvSpPr>
        <p:spPr>
          <a:xfrm>
            <a:off x="3397801" y="1597075"/>
            <a:ext cx="5396400" cy="7695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lang="en-US" sz="5000">
                <a:solidFill>
                  <a:srgbClr val="F8FAFC"/>
                </a:solidFill>
                <a:latin typeface="Poppins"/>
                <a:ea typeface="Poppins"/>
                <a:cs typeface="Poppins"/>
                <a:sym typeface="Poppins"/>
              </a:rPr>
              <a:t>GPU Delegate</a:t>
            </a:r>
            <a:endParaRPr sz="5000">
              <a:latin typeface="Poppins"/>
              <a:ea typeface="Poppins"/>
              <a:cs typeface="Poppins"/>
              <a:sym typeface="Poppins"/>
            </a:endParaRPr>
          </a:p>
        </p:txBody>
      </p:sp>
      <p:sp>
        <p:nvSpPr>
          <p:cNvPr id="221" name="Google Shape;221;p23"/>
          <p:cNvSpPr txBox="1"/>
          <p:nvPr/>
        </p:nvSpPr>
        <p:spPr>
          <a:xfrm>
            <a:off x="2975100" y="2960100"/>
            <a:ext cx="6241800" cy="15393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lang="en-US" sz="2000">
                <a:solidFill>
                  <a:srgbClr val="64748B"/>
                </a:solidFill>
                <a:latin typeface="Poppins"/>
                <a:ea typeface="Poppins"/>
                <a:cs typeface="Poppins"/>
                <a:sym typeface="Poppins"/>
              </a:rPr>
              <a:t>Acelerador de hardware que ejecuta modelos de aprendizaje automático en la GPU en lugar de la CPU, utilizando OpenCL como la API estándar en Android para comunicarse con el hardware gráfico.</a:t>
            </a:r>
            <a:endParaRPr sz="2000">
              <a:latin typeface="Poppins"/>
              <a:ea typeface="Poppins"/>
              <a:cs typeface="Poppins"/>
              <a:sym typeface="Poppins"/>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90D16"/>
        </a:solidFill>
      </p:bgPr>
    </p:bg>
    <p:spTree>
      <p:nvGrpSpPr>
        <p:cNvPr id="225" name="Shape 225"/>
        <p:cNvGrpSpPr/>
        <p:nvPr/>
      </p:nvGrpSpPr>
      <p:grpSpPr>
        <a:xfrm>
          <a:off x="0" y="0"/>
          <a:ext cx="0" cy="0"/>
          <a:chOff x="0" y="0"/>
          <a:chExt cx="0" cy="0"/>
        </a:xfrm>
      </p:grpSpPr>
      <p:pic>
        <p:nvPicPr>
          <p:cNvPr descr="image.png" id="226" name="Google Shape;226;p24"/>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227" name="Google Shape;227;p24"/>
          <p:cNvSpPr txBox="1"/>
          <p:nvPr/>
        </p:nvSpPr>
        <p:spPr>
          <a:xfrm>
            <a:off x="581025" y="485775"/>
            <a:ext cx="11581500" cy="692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i="0" lang="en-US" sz="4500" u="none" cap="none" strike="noStrike">
                <a:solidFill>
                  <a:srgbClr val="F8FAFC"/>
                </a:solidFill>
                <a:latin typeface="Poppins SemiBold"/>
                <a:ea typeface="Poppins SemiBold"/>
                <a:cs typeface="Poppins SemiBold"/>
                <a:sym typeface="Poppins SemiBold"/>
              </a:rPr>
              <a:t>Resultados en Escritorio</a:t>
            </a:r>
            <a:endParaRPr sz="4500">
              <a:latin typeface="Poppins"/>
              <a:ea typeface="Poppins"/>
              <a:cs typeface="Poppins"/>
              <a:sym typeface="Poppins"/>
            </a:endParaRPr>
          </a:p>
        </p:txBody>
      </p:sp>
      <p:sp>
        <p:nvSpPr>
          <p:cNvPr id="228" name="Google Shape;228;p24"/>
          <p:cNvSpPr/>
          <p:nvPr/>
        </p:nvSpPr>
        <p:spPr>
          <a:xfrm>
            <a:off x="5857875" y="700087"/>
            <a:ext cx="476250" cy="28575"/>
          </a:xfrm>
          <a:prstGeom prst="roundRect">
            <a:avLst>
              <a:gd fmla="val 50000" name="adj"/>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aphicFrame>
        <p:nvGraphicFramePr>
          <p:cNvPr id="229" name="Google Shape;229;p24"/>
          <p:cNvGraphicFramePr/>
          <p:nvPr/>
        </p:nvGraphicFramePr>
        <p:xfrm>
          <a:off x="581025" y="1583875"/>
          <a:ext cx="3000000" cy="3000000"/>
        </p:xfrm>
        <a:graphic>
          <a:graphicData uri="http://schemas.openxmlformats.org/drawingml/2006/table">
            <a:tbl>
              <a:tblPr bandRow="1" firstRow="1">
                <a:noFill/>
                <a:tableStyleId>{73BF9BE0-EF4A-4F0A-BF5C-C545904F7FFB}</a:tableStyleId>
              </a:tblPr>
              <a:tblGrid>
                <a:gridCol w="3860025"/>
                <a:gridCol w="2131850"/>
                <a:gridCol w="2692900"/>
              </a:tblGrid>
              <a:tr h="568475">
                <a:tc>
                  <a:txBody>
                    <a:bodyPr/>
                    <a:lstStyle/>
                    <a:p>
                      <a:pPr indent="0" lvl="0" marL="0" marR="0" rtl="0" algn="l">
                        <a:spcBef>
                          <a:spcPts val="0"/>
                        </a:spcBef>
                        <a:spcAft>
                          <a:spcPts val="0"/>
                        </a:spcAft>
                        <a:buNone/>
                      </a:pPr>
                      <a:r>
                        <a:rPr b="0" i="0" lang="en-US" sz="1500" u="none" cap="none" strike="noStrike">
                          <a:solidFill>
                            <a:srgbClr val="06B6D4"/>
                          </a:solidFill>
                          <a:latin typeface="Poppins SemiBold"/>
                          <a:ea typeface="Poppins SemiBold"/>
                          <a:cs typeface="Poppins SemiBold"/>
                          <a:sym typeface="Poppins SemiBold"/>
                        </a:rPr>
                        <a:t>Arquitectura</a:t>
                      </a:r>
                      <a:endParaRPr sz="1500">
                        <a:latin typeface="Poppins"/>
                        <a:ea typeface="Poppins"/>
                        <a:cs typeface="Poppins"/>
                        <a:sym typeface="Poppins"/>
                      </a:endParaRPr>
                    </a:p>
                  </a:txBody>
                  <a:tcPr marT="25400" marB="25400" marR="63500" marL="63500" anchor="ctr">
                    <a:lnL cap="flat" cmpd="sng" w="28575">
                      <a:solidFill>
                        <a:srgbClr val="06B6D4"/>
                      </a:solidFill>
                      <a:prstDash val="solid"/>
                      <a:round/>
                      <a:headEnd len="sm" w="sm" type="none"/>
                      <a:tailEnd len="sm" w="sm" type="none"/>
                    </a:lnL>
                    <a:lnR cap="flat" cmpd="sng" w="28575">
                      <a:solidFill>
                        <a:srgbClr val="06B6D4"/>
                      </a:solidFill>
                      <a:prstDash val="solid"/>
                      <a:round/>
                      <a:headEnd len="sm" w="sm" type="none"/>
                      <a:tailEnd len="sm" w="sm" type="none"/>
                    </a:lnR>
                    <a:lnT cap="flat" cmpd="sng" w="28575">
                      <a:solidFill>
                        <a:srgbClr val="06B6D4"/>
                      </a:solidFill>
                      <a:prstDash val="solid"/>
                      <a:round/>
                      <a:headEnd len="sm" w="sm" type="none"/>
                      <a:tailEnd len="sm" w="sm" type="none"/>
                    </a:lnT>
                    <a:lnB cap="flat" cmpd="sng" w="28575">
                      <a:solidFill>
                        <a:srgbClr val="06B6D4"/>
                      </a:solidFill>
                      <a:prstDash val="solid"/>
                      <a:round/>
                      <a:headEnd len="sm" w="sm" type="none"/>
                      <a:tailEnd len="sm" w="sm" type="none"/>
                    </a:lnB>
                    <a:solidFill>
                      <a:srgbClr val="0F172A"/>
                    </a:solidFill>
                  </a:tcPr>
                </a:tc>
                <a:tc>
                  <a:txBody>
                    <a:bodyPr/>
                    <a:lstStyle/>
                    <a:p>
                      <a:pPr indent="0" lvl="0" marL="0" marR="0" rtl="0" algn="l">
                        <a:spcBef>
                          <a:spcPts val="0"/>
                        </a:spcBef>
                        <a:spcAft>
                          <a:spcPts val="0"/>
                        </a:spcAft>
                        <a:buNone/>
                      </a:pPr>
                      <a:r>
                        <a:rPr b="0" i="0" lang="en-US" sz="1500" u="none" cap="none" strike="noStrike">
                          <a:solidFill>
                            <a:srgbClr val="06B6D4"/>
                          </a:solidFill>
                          <a:latin typeface="Poppins SemiBold"/>
                          <a:ea typeface="Poppins SemiBold"/>
                          <a:cs typeface="Poppins SemiBold"/>
                          <a:sym typeface="Poppins SemiBold"/>
                        </a:rPr>
                        <a:t>mAP50</a:t>
                      </a:r>
                      <a:endParaRPr sz="1500">
                        <a:latin typeface="Poppins"/>
                        <a:ea typeface="Poppins"/>
                        <a:cs typeface="Poppins"/>
                        <a:sym typeface="Poppins"/>
                      </a:endParaRPr>
                    </a:p>
                  </a:txBody>
                  <a:tcPr marT="25400" marB="25400" marR="63500" marL="63500" anchor="ctr">
                    <a:lnL cap="flat" cmpd="sng" w="28575">
                      <a:solidFill>
                        <a:srgbClr val="06B6D4"/>
                      </a:solidFill>
                      <a:prstDash val="solid"/>
                      <a:round/>
                      <a:headEnd len="sm" w="sm" type="none"/>
                      <a:tailEnd len="sm" w="sm" type="none"/>
                    </a:lnL>
                    <a:lnR cap="flat" cmpd="sng" w="28575">
                      <a:solidFill>
                        <a:srgbClr val="06B6D4"/>
                      </a:solidFill>
                      <a:prstDash val="solid"/>
                      <a:round/>
                      <a:headEnd len="sm" w="sm" type="none"/>
                      <a:tailEnd len="sm" w="sm" type="none"/>
                    </a:lnR>
                    <a:lnT cap="flat" cmpd="sng" w="28575">
                      <a:solidFill>
                        <a:srgbClr val="06B6D4"/>
                      </a:solidFill>
                      <a:prstDash val="solid"/>
                      <a:round/>
                      <a:headEnd len="sm" w="sm" type="none"/>
                      <a:tailEnd len="sm" w="sm" type="none"/>
                    </a:lnT>
                    <a:lnB cap="flat" cmpd="sng" w="28575">
                      <a:solidFill>
                        <a:srgbClr val="06B6D4"/>
                      </a:solidFill>
                      <a:prstDash val="solid"/>
                      <a:round/>
                      <a:headEnd len="sm" w="sm" type="none"/>
                      <a:tailEnd len="sm" w="sm" type="none"/>
                    </a:lnB>
                    <a:solidFill>
                      <a:srgbClr val="0F172A"/>
                    </a:solidFill>
                  </a:tcPr>
                </a:tc>
                <a:tc>
                  <a:txBody>
                    <a:bodyPr/>
                    <a:lstStyle/>
                    <a:p>
                      <a:pPr indent="0" lvl="0" marL="0" marR="0" rtl="0" algn="l">
                        <a:spcBef>
                          <a:spcPts val="0"/>
                        </a:spcBef>
                        <a:spcAft>
                          <a:spcPts val="0"/>
                        </a:spcAft>
                        <a:buNone/>
                      </a:pPr>
                      <a:r>
                        <a:rPr b="0" i="0" lang="en-US" sz="1500" u="none" cap="none" strike="noStrike">
                          <a:solidFill>
                            <a:srgbClr val="06B6D4"/>
                          </a:solidFill>
                          <a:latin typeface="Poppins SemiBold"/>
                          <a:ea typeface="Poppins SemiBold"/>
                          <a:cs typeface="Poppins SemiBold"/>
                          <a:sym typeface="Poppins SemiBold"/>
                        </a:rPr>
                        <a:t>mAP50-95</a:t>
                      </a:r>
                      <a:endParaRPr sz="1500">
                        <a:latin typeface="Poppins"/>
                        <a:ea typeface="Poppins"/>
                        <a:cs typeface="Poppins"/>
                        <a:sym typeface="Poppins"/>
                      </a:endParaRPr>
                    </a:p>
                  </a:txBody>
                  <a:tcPr marT="25400" marB="25400" marR="63500" marL="63500" anchor="ctr">
                    <a:lnL cap="flat" cmpd="sng" w="28575">
                      <a:solidFill>
                        <a:srgbClr val="06B6D4"/>
                      </a:solidFill>
                      <a:prstDash val="solid"/>
                      <a:round/>
                      <a:headEnd len="sm" w="sm" type="none"/>
                      <a:tailEnd len="sm" w="sm" type="none"/>
                    </a:lnL>
                    <a:lnR cap="flat" cmpd="sng" w="28575">
                      <a:solidFill>
                        <a:srgbClr val="06B6D4"/>
                      </a:solidFill>
                      <a:prstDash val="solid"/>
                      <a:round/>
                      <a:headEnd len="sm" w="sm" type="none"/>
                      <a:tailEnd len="sm" w="sm" type="none"/>
                    </a:lnR>
                    <a:lnT cap="flat" cmpd="sng" w="28575">
                      <a:solidFill>
                        <a:srgbClr val="06B6D4"/>
                      </a:solidFill>
                      <a:prstDash val="solid"/>
                      <a:round/>
                      <a:headEnd len="sm" w="sm" type="none"/>
                      <a:tailEnd len="sm" w="sm" type="none"/>
                    </a:lnT>
                    <a:lnB cap="flat" cmpd="sng" w="28575">
                      <a:solidFill>
                        <a:srgbClr val="06B6D4"/>
                      </a:solidFill>
                      <a:prstDash val="solid"/>
                      <a:round/>
                      <a:headEnd len="sm" w="sm" type="none"/>
                      <a:tailEnd len="sm" w="sm" type="none"/>
                    </a:lnB>
                    <a:solidFill>
                      <a:srgbClr val="0F172A"/>
                    </a:solidFill>
                  </a:tcPr>
                </a:tc>
              </a:tr>
              <a:tr h="568475">
                <a:tc>
                  <a:txBody>
                    <a:bodyPr/>
                    <a:lstStyle/>
                    <a:p>
                      <a:pPr indent="0" lvl="0" marL="0" marR="0" rtl="0" algn="l">
                        <a:spcBef>
                          <a:spcPts val="0"/>
                        </a:spcBef>
                        <a:spcAft>
                          <a:spcPts val="0"/>
                        </a:spcAft>
                        <a:buNone/>
                      </a:pPr>
                      <a:r>
                        <a:rPr b="1" i="0" lang="en-US" sz="1500" u="none" cap="none" strike="noStrike">
                          <a:latin typeface="Poppins"/>
                          <a:ea typeface="Poppins"/>
                          <a:cs typeface="Poppins"/>
                          <a:sym typeface="Poppins"/>
                        </a:rPr>
                        <a:t>YOLOv8s </a:t>
                      </a:r>
                      <a:r>
                        <a:rPr b="1" lang="en-US" sz="1500">
                          <a:latin typeface="Poppins"/>
                          <a:ea typeface="Poppins"/>
                          <a:cs typeface="Poppins"/>
                          <a:sym typeface="Poppins"/>
                        </a:rPr>
                        <a:t>Float32</a:t>
                      </a:r>
                      <a:endParaRPr b="1" sz="1500">
                        <a:latin typeface="Poppins"/>
                        <a:ea typeface="Poppins"/>
                        <a:cs typeface="Poppins"/>
                        <a:sym typeface="Poppins"/>
                      </a:endParaRPr>
                    </a:p>
                  </a:txBody>
                  <a:tcPr marT="25400" marB="25400" marR="63500" marL="63500" anchor="ctr">
                    <a:lnL cap="flat" cmpd="sng" w="28575">
                      <a:solidFill>
                        <a:srgbClr val="06B6D4"/>
                      </a:solidFill>
                      <a:prstDash val="solid"/>
                      <a:round/>
                      <a:headEnd len="sm" w="sm" type="none"/>
                      <a:tailEnd len="sm" w="sm" type="none"/>
                    </a:lnL>
                    <a:lnR cap="flat" cmpd="sng" w="28575">
                      <a:solidFill>
                        <a:srgbClr val="06B6D4"/>
                      </a:solidFill>
                      <a:prstDash val="solid"/>
                      <a:round/>
                      <a:headEnd len="sm" w="sm" type="none"/>
                      <a:tailEnd len="sm" w="sm" type="none"/>
                    </a:lnR>
                    <a:lnT cap="flat" cmpd="sng" w="28575">
                      <a:solidFill>
                        <a:srgbClr val="06B6D4"/>
                      </a:solidFill>
                      <a:prstDash val="solid"/>
                      <a:round/>
                      <a:headEnd len="sm" w="sm" type="none"/>
                      <a:tailEnd len="sm" w="sm" type="none"/>
                    </a:lnT>
                    <a:lnB cap="flat" cmpd="sng" w="28575">
                      <a:solidFill>
                        <a:srgbClr val="06B6D4"/>
                      </a:solidFill>
                      <a:prstDash val="solid"/>
                      <a:round/>
                      <a:headEnd len="sm" w="sm" type="none"/>
                      <a:tailEnd len="sm" w="sm" type="none"/>
                    </a:lnB>
                  </a:tcPr>
                </a:tc>
                <a:tc>
                  <a:txBody>
                    <a:bodyPr/>
                    <a:lstStyle/>
                    <a:p>
                      <a:pPr indent="0" lvl="0" marL="0" marR="0" rtl="0" algn="l">
                        <a:spcBef>
                          <a:spcPts val="0"/>
                        </a:spcBef>
                        <a:spcAft>
                          <a:spcPts val="0"/>
                        </a:spcAft>
                        <a:buNone/>
                      </a:pPr>
                      <a:r>
                        <a:rPr i="0" lang="en-US" sz="1500" u="none" cap="none" strike="noStrike">
                          <a:latin typeface="Poppins"/>
                          <a:ea typeface="Poppins"/>
                          <a:cs typeface="Poppins"/>
                          <a:sym typeface="Poppins"/>
                        </a:rPr>
                        <a:t>0.6</a:t>
                      </a:r>
                      <a:r>
                        <a:rPr lang="en-US" sz="1500">
                          <a:latin typeface="Poppins"/>
                          <a:ea typeface="Poppins"/>
                          <a:cs typeface="Poppins"/>
                          <a:sym typeface="Poppins"/>
                        </a:rPr>
                        <a:t>30</a:t>
                      </a:r>
                      <a:endParaRPr sz="1500">
                        <a:latin typeface="Poppins"/>
                        <a:ea typeface="Poppins"/>
                        <a:cs typeface="Poppins"/>
                        <a:sym typeface="Poppins"/>
                      </a:endParaRPr>
                    </a:p>
                  </a:txBody>
                  <a:tcPr marT="25400" marB="25400" marR="63500" marL="63500" anchor="ctr">
                    <a:lnL cap="flat" cmpd="sng" w="28575">
                      <a:solidFill>
                        <a:srgbClr val="06B6D4"/>
                      </a:solidFill>
                      <a:prstDash val="solid"/>
                      <a:round/>
                      <a:headEnd len="sm" w="sm" type="none"/>
                      <a:tailEnd len="sm" w="sm" type="none"/>
                    </a:lnL>
                    <a:lnR cap="flat" cmpd="sng" w="28575">
                      <a:solidFill>
                        <a:srgbClr val="06B6D4"/>
                      </a:solidFill>
                      <a:prstDash val="solid"/>
                      <a:round/>
                      <a:headEnd len="sm" w="sm" type="none"/>
                      <a:tailEnd len="sm" w="sm" type="none"/>
                    </a:lnR>
                    <a:lnT cap="flat" cmpd="sng" w="28575">
                      <a:solidFill>
                        <a:srgbClr val="06B6D4"/>
                      </a:solidFill>
                      <a:prstDash val="solid"/>
                      <a:round/>
                      <a:headEnd len="sm" w="sm" type="none"/>
                      <a:tailEnd len="sm" w="sm" type="none"/>
                    </a:lnT>
                    <a:lnB cap="flat" cmpd="sng" w="28575">
                      <a:solidFill>
                        <a:srgbClr val="06B6D4"/>
                      </a:solidFill>
                      <a:prstDash val="solid"/>
                      <a:round/>
                      <a:headEnd len="sm" w="sm" type="none"/>
                      <a:tailEnd len="sm" w="sm" type="none"/>
                    </a:lnB>
                  </a:tcPr>
                </a:tc>
                <a:tc>
                  <a:txBody>
                    <a:bodyPr/>
                    <a:lstStyle/>
                    <a:p>
                      <a:pPr indent="0" lvl="0" marL="0" marR="0" rtl="0" algn="l">
                        <a:spcBef>
                          <a:spcPts val="0"/>
                        </a:spcBef>
                        <a:spcAft>
                          <a:spcPts val="0"/>
                        </a:spcAft>
                        <a:buNone/>
                      </a:pPr>
                      <a:r>
                        <a:rPr b="1" i="0" lang="en-US" sz="1500" u="none" cap="none" strike="noStrike">
                          <a:latin typeface="Poppins"/>
                          <a:ea typeface="Poppins"/>
                          <a:cs typeface="Poppins"/>
                          <a:sym typeface="Poppins"/>
                        </a:rPr>
                        <a:t>0.50</a:t>
                      </a:r>
                      <a:r>
                        <a:rPr b="1" lang="en-US" sz="1500">
                          <a:latin typeface="Poppins"/>
                          <a:ea typeface="Poppins"/>
                          <a:cs typeface="Poppins"/>
                          <a:sym typeface="Poppins"/>
                        </a:rPr>
                        <a:t>8</a:t>
                      </a:r>
                      <a:endParaRPr b="1" sz="1500">
                        <a:latin typeface="Poppins"/>
                        <a:ea typeface="Poppins"/>
                        <a:cs typeface="Poppins"/>
                        <a:sym typeface="Poppins"/>
                      </a:endParaRPr>
                    </a:p>
                  </a:txBody>
                  <a:tcPr marT="25400" marB="25400" marR="63500" marL="63500" anchor="ctr">
                    <a:lnL cap="flat" cmpd="sng" w="28575">
                      <a:solidFill>
                        <a:srgbClr val="06B6D4"/>
                      </a:solidFill>
                      <a:prstDash val="solid"/>
                      <a:round/>
                      <a:headEnd len="sm" w="sm" type="none"/>
                      <a:tailEnd len="sm" w="sm" type="none"/>
                    </a:lnL>
                    <a:lnR cap="flat" cmpd="sng" w="28575">
                      <a:solidFill>
                        <a:srgbClr val="06B6D4"/>
                      </a:solidFill>
                      <a:prstDash val="solid"/>
                      <a:round/>
                      <a:headEnd len="sm" w="sm" type="none"/>
                      <a:tailEnd len="sm" w="sm" type="none"/>
                    </a:lnR>
                    <a:lnT cap="flat" cmpd="sng" w="28575">
                      <a:solidFill>
                        <a:srgbClr val="06B6D4"/>
                      </a:solidFill>
                      <a:prstDash val="solid"/>
                      <a:round/>
                      <a:headEnd len="sm" w="sm" type="none"/>
                      <a:tailEnd len="sm" w="sm" type="none"/>
                    </a:lnT>
                    <a:lnB cap="flat" cmpd="sng" w="28575">
                      <a:solidFill>
                        <a:srgbClr val="06B6D4"/>
                      </a:solidFill>
                      <a:prstDash val="solid"/>
                      <a:round/>
                      <a:headEnd len="sm" w="sm" type="none"/>
                      <a:tailEnd len="sm" w="sm" type="none"/>
                    </a:lnB>
                  </a:tcPr>
                </a:tc>
              </a:tr>
              <a:tr h="568475">
                <a:tc>
                  <a:txBody>
                    <a:bodyPr/>
                    <a:lstStyle/>
                    <a:p>
                      <a:pPr indent="0" lvl="0" marL="0" marR="0" rtl="0" algn="l">
                        <a:spcBef>
                          <a:spcPts val="0"/>
                        </a:spcBef>
                        <a:spcAft>
                          <a:spcPts val="0"/>
                        </a:spcAft>
                        <a:buNone/>
                      </a:pPr>
                      <a:r>
                        <a:rPr b="1" i="0" lang="en-US" sz="1500" u="none" cap="none" strike="noStrike">
                          <a:latin typeface="Poppins"/>
                          <a:ea typeface="Poppins"/>
                          <a:cs typeface="Poppins"/>
                          <a:sym typeface="Poppins"/>
                        </a:rPr>
                        <a:t>YOLOv8s </a:t>
                      </a:r>
                      <a:r>
                        <a:rPr b="1" lang="en-US" sz="1500">
                          <a:latin typeface="Poppins"/>
                          <a:ea typeface="Poppins"/>
                          <a:cs typeface="Poppins"/>
                          <a:sym typeface="Poppins"/>
                        </a:rPr>
                        <a:t>Float16</a:t>
                      </a:r>
                      <a:endParaRPr b="1" sz="1500">
                        <a:latin typeface="Poppins"/>
                        <a:ea typeface="Poppins"/>
                        <a:cs typeface="Poppins"/>
                        <a:sym typeface="Poppins"/>
                      </a:endParaRPr>
                    </a:p>
                  </a:txBody>
                  <a:tcPr marT="25400" marB="25400" marR="63500" marL="63500" anchor="ctr">
                    <a:lnL cap="flat" cmpd="sng" w="28575">
                      <a:solidFill>
                        <a:srgbClr val="06B6D4"/>
                      </a:solidFill>
                      <a:prstDash val="solid"/>
                      <a:round/>
                      <a:headEnd len="sm" w="sm" type="none"/>
                      <a:tailEnd len="sm" w="sm" type="none"/>
                    </a:lnL>
                    <a:lnR cap="flat" cmpd="sng" w="28575">
                      <a:solidFill>
                        <a:srgbClr val="06B6D4"/>
                      </a:solidFill>
                      <a:prstDash val="solid"/>
                      <a:round/>
                      <a:headEnd len="sm" w="sm" type="none"/>
                      <a:tailEnd len="sm" w="sm" type="none"/>
                    </a:lnR>
                    <a:lnT cap="flat" cmpd="sng" w="28575">
                      <a:solidFill>
                        <a:srgbClr val="06B6D4"/>
                      </a:solidFill>
                      <a:prstDash val="solid"/>
                      <a:round/>
                      <a:headEnd len="sm" w="sm" type="none"/>
                      <a:tailEnd len="sm" w="sm" type="none"/>
                    </a:lnT>
                    <a:lnB cap="flat" cmpd="sng" w="28575">
                      <a:solidFill>
                        <a:srgbClr val="06B6D4"/>
                      </a:solidFill>
                      <a:prstDash val="solid"/>
                      <a:round/>
                      <a:headEnd len="sm" w="sm" type="none"/>
                      <a:tailEnd len="sm" w="sm" type="none"/>
                    </a:lnB>
                  </a:tcPr>
                </a:tc>
                <a:tc>
                  <a:txBody>
                    <a:bodyPr/>
                    <a:lstStyle/>
                    <a:p>
                      <a:pPr indent="0" lvl="0" marL="0" marR="0" rtl="0" algn="l">
                        <a:spcBef>
                          <a:spcPts val="0"/>
                        </a:spcBef>
                        <a:spcAft>
                          <a:spcPts val="0"/>
                        </a:spcAft>
                        <a:buNone/>
                      </a:pPr>
                      <a:r>
                        <a:rPr i="0" lang="en-US" sz="1500" u="none" cap="none" strike="noStrike">
                          <a:latin typeface="Poppins"/>
                          <a:ea typeface="Poppins"/>
                          <a:cs typeface="Poppins"/>
                          <a:sym typeface="Poppins"/>
                        </a:rPr>
                        <a:t>0.6</a:t>
                      </a:r>
                      <a:r>
                        <a:rPr lang="en-US" sz="1500">
                          <a:latin typeface="Poppins"/>
                          <a:ea typeface="Poppins"/>
                          <a:cs typeface="Poppins"/>
                          <a:sym typeface="Poppins"/>
                        </a:rPr>
                        <a:t>31</a:t>
                      </a:r>
                      <a:endParaRPr sz="1500">
                        <a:latin typeface="Poppins"/>
                        <a:ea typeface="Poppins"/>
                        <a:cs typeface="Poppins"/>
                        <a:sym typeface="Poppins"/>
                      </a:endParaRPr>
                    </a:p>
                  </a:txBody>
                  <a:tcPr marT="25400" marB="25400" marR="63500" marL="63500" anchor="ctr">
                    <a:lnL cap="flat" cmpd="sng" w="28575">
                      <a:solidFill>
                        <a:srgbClr val="06B6D4"/>
                      </a:solidFill>
                      <a:prstDash val="solid"/>
                      <a:round/>
                      <a:headEnd len="sm" w="sm" type="none"/>
                      <a:tailEnd len="sm" w="sm" type="none"/>
                    </a:lnL>
                    <a:lnR cap="flat" cmpd="sng" w="28575">
                      <a:solidFill>
                        <a:srgbClr val="06B6D4"/>
                      </a:solidFill>
                      <a:prstDash val="solid"/>
                      <a:round/>
                      <a:headEnd len="sm" w="sm" type="none"/>
                      <a:tailEnd len="sm" w="sm" type="none"/>
                    </a:lnR>
                    <a:lnT cap="flat" cmpd="sng" w="28575">
                      <a:solidFill>
                        <a:srgbClr val="06B6D4"/>
                      </a:solidFill>
                      <a:prstDash val="solid"/>
                      <a:round/>
                      <a:headEnd len="sm" w="sm" type="none"/>
                      <a:tailEnd len="sm" w="sm" type="none"/>
                    </a:lnT>
                    <a:lnB cap="flat" cmpd="sng" w="28575">
                      <a:solidFill>
                        <a:srgbClr val="06B6D4"/>
                      </a:solidFill>
                      <a:prstDash val="solid"/>
                      <a:round/>
                      <a:headEnd len="sm" w="sm" type="none"/>
                      <a:tailEnd len="sm" w="sm" type="none"/>
                    </a:lnB>
                  </a:tcPr>
                </a:tc>
                <a:tc>
                  <a:txBody>
                    <a:bodyPr/>
                    <a:lstStyle/>
                    <a:p>
                      <a:pPr indent="0" lvl="0" marL="0" marR="0" rtl="0" algn="l">
                        <a:spcBef>
                          <a:spcPts val="0"/>
                        </a:spcBef>
                        <a:spcAft>
                          <a:spcPts val="0"/>
                        </a:spcAft>
                        <a:buNone/>
                      </a:pPr>
                      <a:r>
                        <a:rPr b="1" i="0" lang="en-US" sz="1500" u="none" cap="none" strike="noStrike">
                          <a:latin typeface="Poppins"/>
                          <a:ea typeface="Poppins"/>
                          <a:cs typeface="Poppins"/>
                          <a:sym typeface="Poppins"/>
                        </a:rPr>
                        <a:t>0.50</a:t>
                      </a:r>
                      <a:r>
                        <a:rPr b="1" lang="en-US" sz="1500">
                          <a:latin typeface="Poppins"/>
                          <a:ea typeface="Poppins"/>
                          <a:cs typeface="Poppins"/>
                          <a:sym typeface="Poppins"/>
                        </a:rPr>
                        <a:t>8</a:t>
                      </a:r>
                      <a:endParaRPr b="1" sz="1500">
                        <a:latin typeface="Poppins"/>
                        <a:ea typeface="Poppins"/>
                        <a:cs typeface="Poppins"/>
                        <a:sym typeface="Poppins"/>
                      </a:endParaRPr>
                    </a:p>
                  </a:txBody>
                  <a:tcPr marT="25400" marB="25400" marR="63500" marL="63500" anchor="ctr">
                    <a:lnL cap="flat" cmpd="sng" w="28575">
                      <a:solidFill>
                        <a:srgbClr val="06B6D4"/>
                      </a:solidFill>
                      <a:prstDash val="solid"/>
                      <a:round/>
                      <a:headEnd len="sm" w="sm" type="none"/>
                      <a:tailEnd len="sm" w="sm" type="none"/>
                    </a:lnL>
                    <a:lnR cap="flat" cmpd="sng" w="28575">
                      <a:solidFill>
                        <a:srgbClr val="06B6D4"/>
                      </a:solidFill>
                      <a:prstDash val="solid"/>
                      <a:round/>
                      <a:headEnd len="sm" w="sm" type="none"/>
                      <a:tailEnd len="sm" w="sm" type="none"/>
                    </a:lnR>
                    <a:lnT cap="flat" cmpd="sng" w="28575">
                      <a:solidFill>
                        <a:srgbClr val="06B6D4"/>
                      </a:solidFill>
                      <a:prstDash val="solid"/>
                      <a:round/>
                      <a:headEnd len="sm" w="sm" type="none"/>
                      <a:tailEnd len="sm" w="sm" type="none"/>
                    </a:lnT>
                    <a:lnB cap="flat" cmpd="sng" w="28575">
                      <a:solidFill>
                        <a:srgbClr val="06B6D4"/>
                      </a:solidFill>
                      <a:prstDash val="solid"/>
                      <a:round/>
                      <a:headEnd len="sm" w="sm" type="none"/>
                      <a:tailEnd len="sm" w="sm" type="none"/>
                    </a:lnB>
                  </a:tcPr>
                </a:tc>
              </a:tr>
              <a:tr h="568475">
                <a:tc>
                  <a:txBody>
                    <a:bodyPr/>
                    <a:lstStyle/>
                    <a:p>
                      <a:pPr indent="0" lvl="0" marL="0" marR="0" rtl="0" algn="l">
                        <a:spcBef>
                          <a:spcPts val="0"/>
                        </a:spcBef>
                        <a:spcAft>
                          <a:spcPts val="0"/>
                        </a:spcAft>
                        <a:buNone/>
                      </a:pPr>
                      <a:r>
                        <a:rPr b="1" i="0" lang="en-US" sz="1500" u="none" cap="none" strike="noStrike">
                          <a:latin typeface="Poppins"/>
                          <a:ea typeface="Poppins"/>
                          <a:cs typeface="Poppins"/>
                          <a:sym typeface="Poppins"/>
                        </a:rPr>
                        <a:t>YOLO11n </a:t>
                      </a:r>
                      <a:r>
                        <a:rPr b="1" lang="en-US" sz="1500">
                          <a:latin typeface="Poppins"/>
                          <a:ea typeface="Poppins"/>
                          <a:cs typeface="Poppins"/>
                          <a:sym typeface="Poppins"/>
                        </a:rPr>
                        <a:t>Float32</a:t>
                      </a:r>
                      <a:endParaRPr b="1" sz="1500">
                        <a:latin typeface="Poppins"/>
                        <a:ea typeface="Poppins"/>
                        <a:cs typeface="Poppins"/>
                        <a:sym typeface="Poppins"/>
                      </a:endParaRPr>
                    </a:p>
                  </a:txBody>
                  <a:tcPr marT="25400" marB="25400" marR="63500" marL="63500" anchor="ctr">
                    <a:lnL cap="flat" cmpd="sng" w="28575">
                      <a:solidFill>
                        <a:srgbClr val="06B6D4"/>
                      </a:solidFill>
                      <a:prstDash val="solid"/>
                      <a:round/>
                      <a:headEnd len="sm" w="sm" type="none"/>
                      <a:tailEnd len="sm" w="sm" type="none"/>
                    </a:lnL>
                    <a:lnR cap="flat" cmpd="sng" w="28575">
                      <a:solidFill>
                        <a:srgbClr val="06B6D4"/>
                      </a:solidFill>
                      <a:prstDash val="solid"/>
                      <a:round/>
                      <a:headEnd len="sm" w="sm" type="none"/>
                      <a:tailEnd len="sm" w="sm" type="none"/>
                    </a:lnR>
                    <a:lnT cap="flat" cmpd="sng" w="28575">
                      <a:solidFill>
                        <a:srgbClr val="06B6D4"/>
                      </a:solidFill>
                      <a:prstDash val="solid"/>
                      <a:round/>
                      <a:headEnd len="sm" w="sm" type="none"/>
                      <a:tailEnd len="sm" w="sm" type="none"/>
                    </a:lnT>
                    <a:lnB cap="flat" cmpd="sng" w="28575">
                      <a:solidFill>
                        <a:srgbClr val="06B6D4"/>
                      </a:solidFill>
                      <a:prstDash val="solid"/>
                      <a:round/>
                      <a:headEnd len="sm" w="sm" type="none"/>
                      <a:tailEnd len="sm" w="sm" type="none"/>
                    </a:lnB>
                  </a:tcPr>
                </a:tc>
                <a:tc>
                  <a:txBody>
                    <a:bodyPr/>
                    <a:lstStyle/>
                    <a:p>
                      <a:pPr indent="0" lvl="0" marL="0" marR="0" rtl="0" algn="l">
                        <a:spcBef>
                          <a:spcPts val="0"/>
                        </a:spcBef>
                        <a:spcAft>
                          <a:spcPts val="0"/>
                        </a:spcAft>
                        <a:buNone/>
                      </a:pPr>
                      <a:r>
                        <a:rPr i="0" lang="en-US" sz="1500" u="none" cap="none" strike="noStrike">
                          <a:latin typeface="Poppins"/>
                          <a:ea typeface="Poppins"/>
                          <a:cs typeface="Poppins"/>
                          <a:sym typeface="Poppins"/>
                        </a:rPr>
                        <a:t>0.6</a:t>
                      </a:r>
                      <a:r>
                        <a:rPr lang="en-US" sz="1500">
                          <a:latin typeface="Poppins"/>
                          <a:ea typeface="Poppins"/>
                          <a:cs typeface="Poppins"/>
                          <a:sym typeface="Poppins"/>
                        </a:rPr>
                        <a:t>09</a:t>
                      </a:r>
                      <a:endParaRPr sz="1500">
                        <a:latin typeface="Poppins"/>
                        <a:ea typeface="Poppins"/>
                        <a:cs typeface="Poppins"/>
                        <a:sym typeface="Poppins"/>
                      </a:endParaRPr>
                    </a:p>
                  </a:txBody>
                  <a:tcPr marT="25400" marB="25400" marR="63500" marL="63500" anchor="ctr">
                    <a:lnL cap="flat" cmpd="sng" w="28575">
                      <a:solidFill>
                        <a:srgbClr val="06B6D4"/>
                      </a:solidFill>
                      <a:prstDash val="solid"/>
                      <a:round/>
                      <a:headEnd len="sm" w="sm" type="none"/>
                      <a:tailEnd len="sm" w="sm" type="none"/>
                    </a:lnL>
                    <a:lnR cap="flat" cmpd="sng" w="28575">
                      <a:solidFill>
                        <a:srgbClr val="06B6D4"/>
                      </a:solidFill>
                      <a:prstDash val="solid"/>
                      <a:round/>
                      <a:headEnd len="sm" w="sm" type="none"/>
                      <a:tailEnd len="sm" w="sm" type="none"/>
                    </a:lnR>
                    <a:lnT cap="flat" cmpd="sng" w="28575">
                      <a:solidFill>
                        <a:srgbClr val="06B6D4"/>
                      </a:solidFill>
                      <a:prstDash val="solid"/>
                      <a:round/>
                      <a:headEnd len="sm" w="sm" type="none"/>
                      <a:tailEnd len="sm" w="sm" type="none"/>
                    </a:lnT>
                    <a:lnB cap="flat" cmpd="sng" w="28575">
                      <a:solidFill>
                        <a:srgbClr val="06B6D4"/>
                      </a:solidFill>
                      <a:prstDash val="solid"/>
                      <a:round/>
                      <a:headEnd len="sm" w="sm" type="none"/>
                      <a:tailEnd len="sm" w="sm" type="none"/>
                    </a:lnB>
                  </a:tcPr>
                </a:tc>
                <a:tc>
                  <a:txBody>
                    <a:bodyPr/>
                    <a:lstStyle/>
                    <a:p>
                      <a:pPr indent="0" lvl="0" marL="0" marR="0" rtl="0" algn="l">
                        <a:spcBef>
                          <a:spcPts val="0"/>
                        </a:spcBef>
                        <a:spcAft>
                          <a:spcPts val="0"/>
                        </a:spcAft>
                        <a:buNone/>
                      </a:pPr>
                      <a:r>
                        <a:rPr i="0" lang="en-US" sz="1500" u="none" cap="none" strike="noStrike">
                          <a:latin typeface="Poppins"/>
                          <a:ea typeface="Poppins"/>
                          <a:cs typeface="Poppins"/>
                          <a:sym typeface="Poppins"/>
                        </a:rPr>
                        <a:t>0.49</a:t>
                      </a:r>
                      <a:r>
                        <a:rPr lang="en-US" sz="1500">
                          <a:latin typeface="Poppins"/>
                          <a:ea typeface="Poppins"/>
                          <a:cs typeface="Poppins"/>
                          <a:sym typeface="Poppins"/>
                        </a:rPr>
                        <a:t>5</a:t>
                      </a:r>
                      <a:endParaRPr sz="1500">
                        <a:latin typeface="Poppins"/>
                        <a:ea typeface="Poppins"/>
                        <a:cs typeface="Poppins"/>
                        <a:sym typeface="Poppins"/>
                      </a:endParaRPr>
                    </a:p>
                  </a:txBody>
                  <a:tcPr marT="25400" marB="25400" marR="63500" marL="63500" anchor="ctr">
                    <a:lnL cap="flat" cmpd="sng" w="28575">
                      <a:solidFill>
                        <a:srgbClr val="06B6D4"/>
                      </a:solidFill>
                      <a:prstDash val="solid"/>
                      <a:round/>
                      <a:headEnd len="sm" w="sm" type="none"/>
                      <a:tailEnd len="sm" w="sm" type="none"/>
                    </a:lnL>
                    <a:lnR cap="flat" cmpd="sng" w="28575">
                      <a:solidFill>
                        <a:srgbClr val="06B6D4"/>
                      </a:solidFill>
                      <a:prstDash val="solid"/>
                      <a:round/>
                      <a:headEnd len="sm" w="sm" type="none"/>
                      <a:tailEnd len="sm" w="sm" type="none"/>
                    </a:lnR>
                    <a:lnT cap="flat" cmpd="sng" w="28575">
                      <a:solidFill>
                        <a:srgbClr val="06B6D4"/>
                      </a:solidFill>
                      <a:prstDash val="solid"/>
                      <a:round/>
                      <a:headEnd len="sm" w="sm" type="none"/>
                      <a:tailEnd len="sm" w="sm" type="none"/>
                    </a:lnT>
                    <a:lnB cap="flat" cmpd="sng" w="28575">
                      <a:solidFill>
                        <a:srgbClr val="06B6D4"/>
                      </a:solidFill>
                      <a:prstDash val="solid"/>
                      <a:round/>
                      <a:headEnd len="sm" w="sm" type="none"/>
                      <a:tailEnd len="sm" w="sm" type="none"/>
                    </a:lnB>
                  </a:tcPr>
                </a:tc>
              </a:tr>
              <a:tr h="568475">
                <a:tc>
                  <a:txBody>
                    <a:bodyPr/>
                    <a:lstStyle/>
                    <a:p>
                      <a:pPr indent="0" lvl="0" marL="0" marR="0" rtl="0" algn="l">
                        <a:spcBef>
                          <a:spcPts val="0"/>
                        </a:spcBef>
                        <a:spcAft>
                          <a:spcPts val="0"/>
                        </a:spcAft>
                        <a:buNone/>
                      </a:pPr>
                      <a:r>
                        <a:rPr b="1" i="0" lang="en-US" sz="1500" u="none" cap="none" strike="noStrike">
                          <a:latin typeface="Poppins"/>
                          <a:ea typeface="Poppins"/>
                          <a:cs typeface="Poppins"/>
                          <a:sym typeface="Poppins"/>
                        </a:rPr>
                        <a:t>YOLO11n </a:t>
                      </a:r>
                      <a:r>
                        <a:rPr b="1" lang="en-US" sz="1500">
                          <a:latin typeface="Poppins"/>
                          <a:ea typeface="Poppins"/>
                          <a:cs typeface="Poppins"/>
                          <a:sym typeface="Poppins"/>
                        </a:rPr>
                        <a:t>Float16</a:t>
                      </a:r>
                      <a:endParaRPr b="1" sz="1500">
                        <a:latin typeface="Poppins"/>
                        <a:ea typeface="Poppins"/>
                        <a:cs typeface="Poppins"/>
                        <a:sym typeface="Poppins"/>
                      </a:endParaRPr>
                    </a:p>
                  </a:txBody>
                  <a:tcPr marT="25400" marB="25400" marR="63500" marL="63500" anchor="ctr">
                    <a:lnL cap="flat" cmpd="sng" w="28575">
                      <a:solidFill>
                        <a:srgbClr val="06B6D4"/>
                      </a:solidFill>
                      <a:prstDash val="solid"/>
                      <a:round/>
                      <a:headEnd len="sm" w="sm" type="none"/>
                      <a:tailEnd len="sm" w="sm" type="none"/>
                    </a:lnL>
                    <a:lnR cap="flat" cmpd="sng" w="28575">
                      <a:solidFill>
                        <a:srgbClr val="06B6D4"/>
                      </a:solidFill>
                      <a:prstDash val="solid"/>
                      <a:round/>
                      <a:headEnd len="sm" w="sm" type="none"/>
                      <a:tailEnd len="sm" w="sm" type="none"/>
                    </a:lnR>
                    <a:lnT cap="flat" cmpd="sng" w="28575">
                      <a:solidFill>
                        <a:srgbClr val="06B6D4"/>
                      </a:solidFill>
                      <a:prstDash val="solid"/>
                      <a:round/>
                      <a:headEnd len="sm" w="sm" type="none"/>
                      <a:tailEnd len="sm" w="sm" type="none"/>
                    </a:lnT>
                    <a:lnB cap="flat" cmpd="sng" w="28575">
                      <a:solidFill>
                        <a:srgbClr val="06B6D4"/>
                      </a:solidFill>
                      <a:prstDash val="solid"/>
                      <a:round/>
                      <a:headEnd len="sm" w="sm" type="none"/>
                      <a:tailEnd len="sm" w="sm" type="none"/>
                    </a:lnB>
                  </a:tcPr>
                </a:tc>
                <a:tc>
                  <a:txBody>
                    <a:bodyPr/>
                    <a:lstStyle/>
                    <a:p>
                      <a:pPr indent="0" lvl="0" marL="0" marR="0" rtl="0" algn="l">
                        <a:spcBef>
                          <a:spcPts val="0"/>
                        </a:spcBef>
                        <a:spcAft>
                          <a:spcPts val="0"/>
                        </a:spcAft>
                        <a:buNone/>
                      </a:pPr>
                      <a:r>
                        <a:rPr i="0" lang="en-US" sz="1500" u="none" cap="none" strike="noStrike">
                          <a:latin typeface="Poppins"/>
                          <a:ea typeface="Poppins"/>
                          <a:cs typeface="Poppins"/>
                          <a:sym typeface="Poppins"/>
                        </a:rPr>
                        <a:t>0.60</a:t>
                      </a:r>
                      <a:r>
                        <a:rPr lang="en-US" sz="1500">
                          <a:latin typeface="Poppins"/>
                          <a:ea typeface="Poppins"/>
                          <a:cs typeface="Poppins"/>
                          <a:sym typeface="Poppins"/>
                        </a:rPr>
                        <a:t>8</a:t>
                      </a:r>
                      <a:endParaRPr sz="1500">
                        <a:latin typeface="Poppins"/>
                        <a:ea typeface="Poppins"/>
                        <a:cs typeface="Poppins"/>
                        <a:sym typeface="Poppins"/>
                      </a:endParaRPr>
                    </a:p>
                  </a:txBody>
                  <a:tcPr marT="25400" marB="25400" marR="63500" marL="63500" anchor="ctr">
                    <a:lnL cap="flat" cmpd="sng" w="28575">
                      <a:solidFill>
                        <a:srgbClr val="06B6D4"/>
                      </a:solidFill>
                      <a:prstDash val="solid"/>
                      <a:round/>
                      <a:headEnd len="sm" w="sm" type="none"/>
                      <a:tailEnd len="sm" w="sm" type="none"/>
                    </a:lnL>
                    <a:lnR cap="flat" cmpd="sng" w="28575">
                      <a:solidFill>
                        <a:srgbClr val="06B6D4"/>
                      </a:solidFill>
                      <a:prstDash val="solid"/>
                      <a:round/>
                      <a:headEnd len="sm" w="sm" type="none"/>
                      <a:tailEnd len="sm" w="sm" type="none"/>
                    </a:lnR>
                    <a:lnT cap="flat" cmpd="sng" w="28575">
                      <a:solidFill>
                        <a:srgbClr val="06B6D4"/>
                      </a:solidFill>
                      <a:prstDash val="solid"/>
                      <a:round/>
                      <a:headEnd len="sm" w="sm" type="none"/>
                      <a:tailEnd len="sm" w="sm" type="none"/>
                    </a:lnT>
                    <a:lnB cap="flat" cmpd="sng" w="28575">
                      <a:solidFill>
                        <a:srgbClr val="06B6D4"/>
                      </a:solidFill>
                      <a:prstDash val="solid"/>
                      <a:round/>
                      <a:headEnd len="sm" w="sm" type="none"/>
                      <a:tailEnd len="sm" w="sm" type="none"/>
                    </a:lnB>
                  </a:tcPr>
                </a:tc>
                <a:tc>
                  <a:txBody>
                    <a:bodyPr/>
                    <a:lstStyle/>
                    <a:p>
                      <a:pPr indent="0" lvl="0" marL="0" marR="0" rtl="0" algn="l">
                        <a:spcBef>
                          <a:spcPts val="0"/>
                        </a:spcBef>
                        <a:spcAft>
                          <a:spcPts val="0"/>
                        </a:spcAft>
                        <a:buNone/>
                      </a:pPr>
                      <a:r>
                        <a:rPr i="0" lang="en-US" sz="1500" u="none" cap="none" strike="noStrike">
                          <a:latin typeface="Poppins"/>
                          <a:ea typeface="Poppins"/>
                          <a:cs typeface="Poppins"/>
                          <a:sym typeface="Poppins"/>
                        </a:rPr>
                        <a:t>0.49</a:t>
                      </a:r>
                      <a:r>
                        <a:rPr lang="en-US" sz="1500">
                          <a:latin typeface="Poppins"/>
                          <a:ea typeface="Poppins"/>
                          <a:cs typeface="Poppins"/>
                          <a:sym typeface="Poppins"/>
                        </a:rPr>
                        <a:t>5</a:t>
                      </a:r>
                      <a:endParaRPr sz="1500">
                        <a:latin typeface="Poppins"/>
                        <a:ea typeface="Poppins"/>
                        <a:cs typeface="Poppins"/>
                        <a:sym typeface="Poppins"/>
                      </a:endParaRPr>
                    </a:p>
                  </a:txBody>
                  <a:tcPr marT="25400" marB="25400" marR="63500" marL="63500" anchor="ctr">
                    <a:lnL cap="flat" cmpd="sng" w="28575">
                      <a:solidFill>
                        <a:srgbClr val="06B6D4"/>
                      </a:solidFill>
                      <a:prstDash val="solid"/>
                      <a:round/>
                      <a:headEnd len="sm" w="sm" type="none"/>
                      <a:tailEnd len="sm" w="sm" type="none"/>
                    </a:lnL>
                    <a:lnR cap="flat" cmpd="sng" w="28575">
                      <a:solidFill>
                        <a:srgbClr val="06B6D4"/>
                      </a:solidFill>
                      <a:prstDash val="solid"/>
                      <a:round/>
                      <a:headEnd len="sm" w="sm" type="none"/>
                      <a:tailEnd len="sm" w="sm" type="none"/>
                    </a:lnR>
                    <a:lnT cap="flat" cmpd="sng" w="28575">
                      <a:solidFill>
                        <a:srgbClr val="06B6D4"/>
                      </a:solidFill>
                      <a:prstDash val="solid"/>
                      <a:round/>
                      <a:headEnd len="sm" w="sm" type="none"/>
                      <a:tailEnd len="sm" w="sm" type="none"/>
                    </a:lnT>
                    <a:lnB cap="flat" cmpd="sng" w="28575">
                      <a:solidFill>
                        <a:srgbClr val="06B6D4"/>
                      </a:solidFill>
                      <a:prstDash val="solid"/>
                      <a:round/>
                      <a:headEnd len="sm" w="sm" type="none"/>
                      <a:tailEnd len="sm" w="sm" type="none"/>
                    </a:lnB>
                  </a:tcPr>
                </a:tc>
              </a:tr>
              <a:tr h="568475">
                <a:tc>
                  <a:txBody>
                    <a:bodyPr/>
                    <a:lstStyle/>
                    <a:p>
                      <a:pPr indent="0" lvl="0" marL="0" marR="0" rtl="0" algn="l">
                        <a:spcBef>
                          <a:spcPts val="0"/>
                        </a:spcBef>
                        <a:spcAft>
                          <a:spcPts val="0"/>
                        </a:spcAft>
                        <a:buNone/>
                      </a:pPr>
                      <a:r>
                        <a:rPr b="1" i="0" lang="en-US" sz="1500" u="none" cap="none" strike="noStrike">
                          <a:latin typeface="Poppins"/>
                          <a:ea typeface="Poppins"/>
                          <a:cs typeface="Poppins"/>
                          <a:sym typeface="Poppins"/>
                        </a:rPr>
                        <a:t>SSD MobileNetV1</a:t>
                      </a:r>
                      <a:endParaRPr sz="1500">
                        <a:latin typeface="Poppins"/>
                        <a:ea typeface="Poppins"/>
                        <a:cs typeface="Poppins"/>
                        <a:sym typeface="Poppins"/>
                      </a:endParaRPr>
                    </a:p>
                  </a:txBody>
                  <a:tcPr marT="25400" marB="25400" marR="63500" marL="63500" anchor="ctr">
                    <a:lnL cap="flat" cmpd="sng" w="28575">
                      <a:solidFill>
                        <a:srgbClr val="06B6D4"/>
                      </a:solidFill>
                      <a:prstDash val="solid"/>
                      <a:round/>
                      <a:headEnd len="sm" w="sm" type="none"/>
                      <a:tailEnd len="sm" w="sm" type="none"/>
                    </a:lnL>
                    <a:lnR cap="flat" cmpd="sng" w="28575">
                      <a:solidFill>
                        <a:srgbClr val="06B6D4"/>
                      </a:solidFill>
                      <a:prstDash val="solid"/>
                      <a:round/>
                      <a:headEnd len="sm" w="sm" type="none"/>
                      <a:tailEnd len="sm" w="sm" type="none"/>
                    </a:lnR>
                    <a:lnT cap="flat" cmpd="sng" w="28575">
                      <a:solidFill>
                        <a:srgbClr val="06B6D4"/>
                      </a:solidFill>
                      <a:prstDash val="solid"/>
                      <a:round/>
                      <a:headEnd len="sm" w="sm" type="none"/>
                      <a:tailEnd len="sm" w="sm" type="none"/>
                    </a:lnT>
                    <a:lnB cap="flat" cmpd="sng" w="28575">
                      <a:solidFill>
                        <a:srgbClr val="06B6D4"/>
                      </a:solidFill>
                      <a:prstDash val="solid"/>
                      <a:round/>
                      <a:headEnd len="sm" w="sm" type="none"/>
                      <a:tailEnd len="sm" w="sm" type="none"/>
                    </a:lnB>
                  </a:tcPr>
                </a:tc>
                <a:tc>
                  <a:txBody>
                    <a:bodyPr/>
                    <a:lstStyle/>
                    <a:p>
                      <a:pPr indent="0" lvl="0" marL="0" marR="0" rtl="0" algn="l">
                        <a:spcBef>
                          <a:spcPts val="0"/>
                        </a:spcBef>
                        <a:spcAft>
                          <a:spcPts val="0"/>
                        </a:spcAft>
                        <a:buNone/>
                      </a:pPr>
                      <a:r>
                        <a:rPr i="0" lang="en-US" sz="1500" u="none" cap="none" strike="noStrike">
                          <a:solidFill>
                            <a:schemeClr val="accent2"/>
                          </a:solidFill>
                          <a:latin typeface="Poppins"/>
                          <a:ea typeface="Poppins"/>
                          <a:cs typeface="Poppins"/>
                          <a:sym typeface="Poppins"/>
                        </a:rPr>
                        <a:t>0.52</a:t>
                      </a:r>
                      <a:r>
                        <a:rPr lang="en-US" sz="1500">
                          <a:solidFill>
                            <a:schemeClr val="accent2"/>
                          </a:solidFill>
                          <a:latin typeface="Poppins"/>
                          <a:ea typeface="Poppins"/>
                          <a:cs typeface="Poppins"/>
                          <a:sym typeface="Poppins"/>
                        </a:rPr>
                        <a:t>3</a:t>
                      </a:r>
                      <a:endParaRPr sz="1500">
                        <a:solidFill>
                          <a:schemeClr val="accent2"/>
                        </a:solidFill>
                        <a:latin typeface="Poppins"/>
                        <a:ea typeface="Poppins"/>
                        <a:cs typeface="Poppins"/>
                        <a:sym typeface="Poppins"/>
                      </a:endParaRPr>
                    </a:p>
                  </a:txBody>
                  <a:tcPr marT="25400" marB="25400" marR="63500" marL="63500" anchor="ctr">
                    <a:lnL cap="flat" cmpd="sng" w="28575">
                      <a:solidFill>
                        <a:srgbClr val="06B6D4"/>
                      </a:solidFill>
                      <a:prstDash val="solid"/>
                      <a:round/>
                      <a:headEnd len="sm" w="sm" type="none"/>
                      <a:tailEnd len="sm" w="sm" type="none"/>
                    </a:lnL>
                    <a:lnR cap="flat" cmpd="sng" w="28575">
                      <a:solidFill>
                        <a:srgbClr val="06B6D4"/>
                      </a:solidFill>
                      <a:prstDash val="solid"/>
                      <a:round/>
                      <a:headEnd len="sm" w="sm" type="none"/>
                      <a:tailEnd len="sm" w="sm" type="none"/>
                    </a:lnR>
                    <a:lnT cap="flat" cmpd="sng" w="28575">
                      <a:solidFill>
                        <a:srgbClr val="06B6D4"/>
                      </a:solidFill>
                      <a:prstDash val="solid"/>
                      <a:round/>
                      <a:headEnd len="sm" w="sm" type="none"/>
                      <a:tailEnd len="sm" w="sm" type="none"/>
                    </a:lnT>
                    <a:lnB cap="flat" cmpd="sng" w="28575">
                      <a:solidFill>
                        <a:srgbClr val="06B6D4"/>
                      </a:solidFill>
                      <a:prstDash val="solid"/>
                      <a:round/>
                      <a:headEnd len="sm" w="sm" type="none"/>
                      <a:tailEnd len="sm" w="sm" type="none"/>
                    </a:lnB>
                  </a:tcPr>
                </a:tc>
                <a:tc>
                  <a:txBody>
                    <a:bodyPr/>
                    <a:lstStyle/>
                    <a:p>
                      <a:pPr indent="0" lvl="0" marL="0" marR="0" rtl="0" algn="l">
                        <a:spcBef>
                          <a:spcPts val="0"/>
                        </a:spcBef>
                        <a:spcAft>
                          <a:spcPts val="0"/>
                        </a:spcAft>
                        <a:buNone/>
                      </a:pPr>
                      <a:r>
                        <a:rPr i="0" lang="en-US" sz="1500" u="none" cap="none" strike="noStrike">
                          <a:solidFill>
                            <a:schemeClr val="accent2"/>
                          </a:solidFill>
                          <a:latin typeface="Poppins"/>
                          <a:ea typeface="Poppins"/>
                          <a:cs typeface="Poppins"/>
                          <a:sym typeface="Poppins"/>
                        </a:rPr>
                        <a:t>0.34</a:t>
                      </a:r>
                      <a:r>
                        <a:rPr lang="en-US" sz="1500">
                          <a:solidFill>
                            <a:schemeClr val="accent2"/>
                          </a:solidFill>
                          <a:latin typeface="Poppins"/>
                          <a:ea typeface="Poppins"/>
                          <a:cs typeface="Poppins"/>
                          <a:sym typeface="Poppins"/>
                        </a:rPr>
                        <a:t>7</a:t>
                      </a:r>
                      <a:endParaRPr sz="1500">
                        <a:solidFill>
                          <a:schemeClr val="accent2"/>
                        </a:solidFill>
                        <a:latin typeface="Poppins"/>
                        <a:ea typeface="Poppins"/>
                        <a:cs typeface="Poppins"/>
                        <a:sym typeface="Poppins"/>
                      </a:endParaRPr>
                    </a:p>
                  </a:txBody>
                  <a:tcPr marT="25400" marB="25400" marR="63500" marL="63500" anchor="ctr">
                    <a:lnL cap="flat" cmpd="sng" w="28575">
                      <a:solidFill>
                        <a:srgbClr val="06B6D4"/>
                      </a:solidFill>
                      <a:prstDash val="solid"/>
                      <a:round/>
                      <a:headEnd len="sm" w="sm" type="none"/>
                      <a:tailEnd len="sm" w="sm" type="none"/>
                    </a:lnL>
                    <a:lnR cap="flat" cmpd="sng" w="28575">
                      <a:solidFill>
                        <a:srgbClr val="06B6D4"/>
                      </a:solidFill>
                      <a:prstDash val="solid"/>
                      <a:round/>
                      <a:headEnd len="sm" w="sm" type="none"/>
                      <a:tailEnd len="sm" w="sm" type="none"/>
                    </a:lnR>
                    <a:lnT cap="flat" cmpd="sng" w="28575">
                      <a:solidFill>
                        <a:srgbClr val="06B6D4"/>
                      </a:solidFill>
                      <a:prstDash val="solid"/>
                      <a:round/>
                      <a:headEnd len="sm" w="sm" type="none"/>
                      <a:tailEnd len="sm" w="sm" type="none"/>
                    </a:lnT>
                    <a:lnB cap="flat" cmpd="sng" w="28575">
                      <a:solidFill>
                        <a:srgbClr val="06B6D4"/>
                      </a:solidFill>
                      <a:prstDash val="solid"/>
                      <a:round/>
                      <a:headEnd len="sm" w="sm" type="none"/>
                      <a:tailEnd len="sm" w="sm" type="none"/>
                    </a:lnB>
                  </a:tcPr>
                </a:tc>
              </a:tr>
              <a:tr h="568475">
                <a:tc>
                  <a:txBody>
                    <a:bodyPr/>
                    <a:lstStyle/>
                    <a:p>
                      <a:pPr indent="0" lvl="0" marL="0" marR="0" rtl="0" algn="l">
                        <a:spcBef>
                          <a:spcPts val="0"/>
                        </a:spcBef>
                        <a:spcAft>
                          <a:spcPts val="0"/>
                        </a:spcAft>
                        <a:buNone/>
                      </a:pPr>
                      <a:r>
                        <a:rPr b="1" i="0" lang="en-US" sz="1500" u="none" cap="none" strike="noStrike">
                          <a:latin typeface="Poppins"/>
                          <a:ea typeface="Poppins"/>
                          <a:cs typeface="Poppins"/>
                          <a:sym typeface="Poppins"/>
                        </a:rPr>
                        <a:t>EfficientDet-Lite2</a:t>
                      </a:r>
                      <a:endParaRPr b="1" i="0" sz="1500" u="none" cap="none" strike="noStrike">
                        <a:latin typeface="Poppins"/>
                        <a:ea typeface="Poppins"/>
                        <a:cs typeface="Poppins"/>
                        <a:sym typeface="Poppins"/>
                      </a:endParaRPr>
                    </a:p>
                  </a:txBody>
                  <a:tcPr marT="25400" marB="25400" marR="63500" marL="63500" anchor="ctr">
                    <a:lnL cap="flat" cmpd="sng" w="28575">
                      <a:solidFill>
                        <a:srgbClr val="06B6D4"/>
                      </a:solidFill>
                      <a:prstDash val="solid"/>
                      <a:round/>
                      <a:headEnd len="sm" w="sm" type="none"/>
                      <a:tailEnd len="sm" w="sm" type="none"/>
                    </a:lnL>
                    <a:lnR cap="flat" cmpd="sng" w="28575">
                      <a:solidFill>
                        <a:srgbClr val="06B6D4"/>
                      </a:solidFill>
                      <a:prstDash val="solid"/>
                      <a:round/>
                      <a:headEnd len="sm" w="sm" type="none"/>
                      <a:tailEnd len="sm" w="sm" type="none"/>
                    </a:lnR>
                    <a:lnT cap="flat" cmpd="sng" w="28575">
                      <a:solidFill>
                        <a:srgbClr val="06B6D4"/>
                      </a:solidFill>
                      <a:prstDash val="solid"/>
                      <a:round/>
                      <a:headEnd len="sm" w="sm" type="none"/>
                      <a:tailEnd len="sm" w="sm" type="none"/>
                    </a:lnT>
                    <a:lnB cap="flat" cmpd="sng" w="28575">
                      <a:solidFill>
                        <a:srgbClr val="06B6D4"/>
                      </a:solidFill>
                      <a:prstDash val="solid"/>
                      <a:round/>
                      <a:headEnd len="sm" w="sm" type="none"/>
                      <a:tailEnd len="sm" w="sm" type="none"/>
                    </a:lnB>
                  </a:tcPr>
                </a:tc>
                <a:tc>
                  <a:txBody>
                    <a:bodyPr/>
                    <a:lstStyle/>
                    <a:p>
                      <a:pPr indent="0" lvl="0" marL="0" marR="0" rtl="0" algn="l">
                        <a:spcBef>
                          <a:spcPts val="0"/>
                        </a:spcBef>
                        <a:spcAft>
                          <a:spcPts val="0"/>
                        </a:spcAft>
                        <a:buNone/>
                      </a:pPr>
                      <a:r>
                        <a:rPr b="1" i="0" lang="en-US" sz="1500" u="none" cap="none" strike="noStrike">
                          <a:latin typeface="Poppins"/>
                          <a:ea typeface="Poppins"/>
                          <a:cs typeface="Poppins"/>
                          <a:sym typeface="Poppins"/>
                        </a:rPr>
                        <a:t>0.6</a:t>
                      </a:r>
                      <a:r>
                        <a:rPr b="1" lang="en-US" sz="1500">
                          <a:latin typeface="Poppins"/>
                          <a:ea typeface="Poppins"/>
                          <a:cs typeface="Poppins"/>
                          <a:sym typeface="Poppins"/>
                        </a:rPr>
                        <a:t>40</a:t>
                      </a:r>
                      <a:endParaRPr b="1" i="0" sz="1500" u="none" cap="none" strike="noStrike">
                        <a:solidFill>
                          <a:schemeClr val="accent2"/>
                        </a:solidFill>
                        <a:latin typeface="Poppins"/>
                        <a:ea typeface="Poppins"/>
                        <a:cs typeface="Poppins"/>
                        <a:sym typeface="Poppins"/>
                      </a:endParaRPr>
                    </a:p>
                  </a:txBody>
                  <a:tcPr marT="25400" marB="25400" marR="63500" marL="63500" anchor="ctr">
                    <a:lnL cap="flat" cmpd="sng" w="28575">
                      <a:solidFill>
                        <a:srgbClr val="06B6D4"/>
                      </a:solidFill>
                      <a:prstDash val="solid"/>
                      <a:round/>
                      <a:headEnd len="sm" w="sm" type="none"/>
                      <a:tailEnd len="sm" w="sm" type="none"/>
                    </a:lnL>
                    <a:lnR cap="flat" cmpd="sng" w="28575">
                      <a:solidFill>
                        <a:srgbClr val="06B6D4"/>
                      </a:solidFill>
                      <a:prstDash val="solid"/>
                      <a:round/>
                      <a:headEnd len="sm" w="sm" type="none"/>
                      <a:tailEnd len="sm" w="sm" type="none"/>
                    </a:lnR>
                    <a:lnT cap="flat" cmpd="sng" w="28575">
                      <a:solidFill>
                        <a:srgbClr val="06B6D4"/>
                      </a:solidFill>
                      <a:prstDash val="solid"/>
                      <a:round/>
                      <a:headEnd len="sm" w="sm" type="none"/>
                      <a:tailEnd len="sm" w="sm" type="none"/>
                    </a:lnT>
                    <a:lnB cap="flat" cmpd="sng" w="28575">
                      <a:solidFill>
                        <a:srgbClr val="06B6D4"/>
                      </a:solidFill>
                      <a:prstDash val="solid"/>
                      <a:round/>
                      <a:headEnd len="sm" w="sm" type="none"/>
                      <a:tailEnd len="sm" w="sm" type="none"/>
                    </a:lnB>
                  </a:tcPr>
                </a:tc>
                <a:tc>
                  <a:txBody>
                    <a:bodyPr/>
                    <a:lstStyle/>
                    <a:p>
                      <a:pPr indent="0" lvl="0" marL="0" marR="0" rtl="0" algn="l">
                        <a:spcBef>
                          <a:spcPts val="0"/>
                        </a:spcBef>
                        <a:spcAft>
                          <a:spcPts val="0"/>
                        </a:spcAft>
                        <a:buNone/>
                      </a:pPr>
                      <a:r>
                        <a:rPr i="0" lang="en-US" sz="1500" u="none" cap="none" strike="noStrike">
                          <a:latin typeface="Poppins"/>
                          <a:ea typeface="Poppins"/>
                          <a:cs typeface="Poppins"/>
                          <a:sym typeface="Poppins"/>
                        </a:rPr>
                        <a:t>0.48</a:t>
                      </a:r>
                      <a:r>
                        <a:rPr lang="en-US" sz="1500">
                          <a:latin typeface="Poppins"/>
                          <a:ea typeface="Poppins"/>
                          <a:cs typeface="Poppins"/>
                          <a:sym typeface="Poppins"/>
                        </a:rPr>
                        <a:t>7</a:t>
                      </a:r>
                      <a:endParaRPr i="0" sz="1500" u="none" cap="none" strike="noStrike">
                        <a:solidFill>
                          <a:schemeClr val="accent2"/>
                        </a:solidFill>
                        <a:latin typeface="Poppins"/>
                        <a:ea typeface="Poppins"/>
                        <a:cs typeface="Poppins"/>
                        <a:sym typeface="Poppins"/>
                      </a:endParaRPr>
                    </a:p>
                  </a:txBody>
                  <a:tcPr marT="25400" marB="25400" marR="63500" marL="63500" anchor="ctr">
                    <a:lnL cap="flat" cmpd="sng" w="28575">
                      <a:solidFill>
                        <a:srgbClr val="06B6D4"/>
                      </a:solidFill>
                      <a:prstDash val="solid"/>
                      <a:round/>
                      <a:headEnd len="sm" w="sm" type="none"/>
                      <a:tailEnd len="sm" w="sm" type="none"/>
                    </a:lnL>
                    <a:lnR cap="flat" cmpd="sng" w="28575">
                      <a:solidFill>
                        <a:srgbClr val="06B6D4"/>
                      </a:solidFill>
                      <a:prstDash val="solid"/>
                      <a:round/>
                      <a:headEnd len="sm" w="sm" type="none"/>
                      <a:tailEnd len="sm" w="sm" type="none"/>
                    </a:lnR>
                    <a:lnT cap="flat" cmpd="sng" w="28575">
                      <a:solidFill>
                        <a:srgbClr val="06B6D4"/>
                      </a:solidFill>
                      <a:prstDash val="solid"/>
                      <a:round/>
                      <a:headEnd len="sm" w="sm" type="none"/>
                      <a:tailEnd len="sm" w="sm" type="none"/>
                    </a:lnT>
                    <a:lnB cap="flat" cmpd="sng" w="28575">
                      <a:solidFill>
                        <a:srgbClr val="06B6D4"/>
                      </a:solidFill>
                      <a:prstDash val="solid"/>
                      <a:round/>
                      <a:headEnd len="sm" w="sm" type="none"/>
                      <a:tailEnd len="sm" w="sm" type="none"/>
                    </a:lnB>
                  </a:tcPr>
                </a:tc>
              </a:tr>
            </a:tbl>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90D16"/>
        </a:solidFill>
      </p:bgPr>
    </p:bg>
    <p:spTree>
      <p:nvGrpSpPr>
        <p:cNvPr id="233" name="Shape 233"/>
        <p:cNvGrpSpPr/>
        <p:nvPr/>
      </p:nvGrpSpPr>
      <p:grpSpPr>
        <a:xfrm>
          <a:off x="0" y="0"/>
          <a:ext cx="0" cy="0"/>
          <a:chOff x="0" y="0"/>
          <a:chExt cx="0" cy="0"/>
        </a:xfrm>
      </p:grpSpPr>
      <p:pic>
        <p:nvPicPr>
          <p:cNvPr descr="image.png" id="234" name="Google Shape;234;p25"/>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235" name="Google Shape;235;p25"/>
          <p:cNvSpPr txBox="1"/>
          <p:nvPr/>
        </p:nvSpPr>
        <p:spPr>
          <a:xfrm>
            <a:off x="3397801" y="376650"/>
            <a:ext cx="5396400" cy="7695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lang="en-US" sz="5000">
                <a:solidFill>
                  <a:srgbClr val="F8FAFC"/>
                </a:solidFill>
                <a:latin typeface="Poppins"/>
                <a:ea typeface="Poppins"/>
                <a:cs typeface="Poppins"/>
                <a:sym typeface="Poppins"/>
              </a:rPr>
              <a:t>Comparación</a:t>
            </a:r>
            <a:endParaRPr sz="5000">
              <a:latin typeface="Poppins"/>
              <a:ea typeface="Poppins"/>
              <a:cs typeface="Poppins"/>
              <a:sym typeface="Poppins"/>
            </a:endParaRPr>
          </a:p>
        </p:txBody>
      </p:sp>
      <p:pic>
        <p:nvPicPr>
          <p:cNvPr id="236" name="Google Shape;236;p25" title="2026-06-05_02-10-36.png"/>
          <p:cNvPicPr preferRelativeResize="0"/>
          <p:nvPr/>
        </p:nvPicPr>
        <p:blipFill rotWithShape="1">
          <a:blip r:embed="rId4">
            <a:alphaModFix/>
          </a:blip>
          <a:srcRect b="8814" l="35355" r="35515" t="21785"/>
          <a:stretch/>
        </p:blipFill>
        <p:spPr>
          <a:xfrm>
            <a:off x="2199200" y="1635975"/>
            <a:ext cx="3445325" cy="4617451"/>
          </a:xfrm>
          <a:prstGeom prst="rect">
            <a:avLst/>
          </a:prstGeom>
          <a:noFill/>
          <a:ln>
            <a:noFill/>
          </a:ln>
        </p:spPr>
      </p:pic>
      <p:pic>
        <p:nvPicPr>
          <p:cNvPr id="237" name="Google Shape;237;p25" title="WhatsApp Image 2026-05-27 at 5-25-01 PM_jpeg.rf.A7VTGZTl1OD7uySXR2KZ.jpeg"/>
          <p:cNvPicPr preferRelativeResize="0"/>
          <p:nvPr/>
        </p:nvPicPr>
        <p:blipFill>
          <a:blip r:embed="rId5">
            <a:alphaModFix/>
          </a:blip>
          <a:stretch>
            <a:fillRect/>
          </a:stretch>
        </p:blipFill>
        <p:spPr>
          <a:xfrm>
            <a:off x="6624125" y="1647800"/>
            <a:ext cx="3445326" cy="4593776"/>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90D16"/>
        </a:solidFill>
      </p:bgPr>
    </p:bg>
    <p:spTree>
      <p:nvGrpSpPr>
        <p:cNvPr id="241" name="Shape 241"/>
        <p:cNvGrpSpPr/>
        <p:nvPr/>
      </p:nvGrpSpPr>
      <p:grpSpPr>
        <a:xfrm>
          <a:off x="0" y="0"/>
          <a:ext cx="0" cy="0"/>
          <a:chOff x="0" y="0"/>
          <a:chExt cx="0" cy="0"/>
        </a:xfrm>
      </p:grpSpPr>
      <p:pic>
        <p:nvPicPr>
          <p:cNvPr descr="image.png" id="242" name="Google Shape;242;p26"/>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243" name="Google Shape;243;p26"/>
          <p:cNvSpPr txBox="1"/>
          <p:nvPr/>
        </p:nvSpPr>
        <p:spPr>
          <a:xfrm>
            <a:off x="3397801" y="376650"/>
            <a:ext cx="5396400" cy="7695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lang="en-US" sz="5000">
                <a:solidFill>
                  <a:srgbClr val="F8FAFC"/>
                </a:solidFill>
                <a:latin typeface="Poppins"/>
                <a:ea typeface="Poppins"/>
                <a:cs typeface="Poppins"/>
                <a:sym typeface="Poppins"/>
              </a:rPr>
              <a:t>Comparación</a:t>
            </a:r>
            <a:endParaRPr sz="5000">
              <a:latin typeface="Poppins"/>
              <a:ea typeface="Poppins"/>
              <a:cs typeface="Poppins"/>
              <a:sym typeface="Poppins"/>
            </a:endParaRPr>
          </a:p>
        </p:txBody>
      </p:sp>
      <p:pic>
        <p:nvPicPr>
          <p:cNvPr id="244" name="Google Shape;244;p26" title="2026-06-05_02-15-43.png"/>
          <p:cNvPicPr preferRelativeResize="0"/>
          <p:nvPr/>
        </p:nvPicPr>
        <p:blipFill rotWithShape="1">
          <a:blip r:embed="rId4">
            <a:alphaModFix/>
          </a:blip>
          <a:srcRect b="11132" l="39361" r="28408" t="11457"/>
          <a:stretch/>
        </p:blipFill>
        <p:spPr>
          <a:xfrm>
            <a:off x="1996936" y="1647800"/>
            <a:ext cx="3558413" cy="4807174"/>
          </a:xfrm>
          <a:prstGeom prst="rect">
            <a:avLst/>
          </a:prstGeom>
          <a:noFill/>
          <a:ln>
            <a:noFill/>
          </a:ln>
        </p:spPr>
      </p:pic>
      <p:pic>
        <p:nvPicPr>
          <p:cNvPr id="245" name="Google Shape;245;p26" title="WhatsApp Image 2026-05-29 at 11-46-57 AM(1)_jpeg.rf.vyJc8WtR62O9ivEL3pmZ.jpeg"/>
          <p:cNvPicPr preferRelativeResize="0"/>
          <p:nvPr/>
        </p:nvPicPr>
        <p:blipFill>
          <a:blip r:embed="rId5">
            <a:alphaModFix/>
          </a:blip>
          <a:stretch>
            <a:fillRect/>
          </a:stretch>
        </p:blipFill>
        <p:spPr>
          <a:xfrm>
            <a:off x="6470675" y="1620863"/>
            <a:ext cx="3657951" cy="4861052"/>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90D16"/>
        </a:solidFill>
      </p:bgPr>
    </p:bg>
    <p:spTree>
      <p:nvGrpSpPr>
        <p:cNvPr id="249" name="Shape 249"/>
        <p:cNvGrpSpPr/>
        <p:nvPr/>
      </p:nvGrpSpPr>
      <p:grpSpPr>
        <a:xfrm>
          <a:off x="0" y="0"/>
          <a:ext cx="0" cy="0"/>
          <a:chOff x="0" y="0"/>
          <a:chExt cx="0" cy="0"/>
        </a:xfrm>
      </p:grpSpPr>
      <p:pic>
        <p:nvPicPr>
          <p:cNvPr descr="image.png" id="250" name="Google Shape;250;p27"/>
          <p:cNvPicPr preferRelativeResize="0"/>
          <p:nvPr/>
        </p:nvPicPr>
        <p:blipFill rotWithShape="1">
          <a:blip r:embed="rId3">
            <a:alphaModFix/>
          </a:blip>
          <a:srcRect b="0" l="0" r="0" t="0"/>
          <a:stretch/>
        </p:blipFill>
        <p:spPr>
          <a:xfrm>
            <a:off x="-12204" y="0"/>
            <a:ext cx="12192000" cy="6858000"/>
          </a:xfrm>
          <a:prstGeom prst="rect">
            <a:avLst/>
          </a:prstGeom>
          <a:noFill/>
          <a:ln>
            <a:noFill/>
          </a:ln>
        </p:spPr>
      </p:pic>
      <p:sp>
        <p:nvSpPr>
          <p:cNvPr id="251" name="Google Shape;251;p27"/>
          <p:cNvSpPr txBox="1"/>
          <p:nvPr/>
        </p:nvSpPr>
        <p:spPr>
          <a:xfrm>
            <a:off x="3397801" y="376650"/>
            <a:ext cx="5396400" cy="7695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lang="en-US" sz="5000">
                <a:solidFill>
                  <a:srgbClr val="F8FAFC"/>
                </a:solidFill>
                <a:latin typeface="Poppins"/>
                <a:ea typeface="Poppins"/>
                <a:cs typeface="Poppins"/>
                <a:sym typeface="Poppins"/>
              </a:rPr>
              <a:t>Comparación</a:t>
            </a:r>
            <a:endParaRPr sz="5000">
              <a:latin typeface="Poppins"/>
              <a:ea typeface="Poppins"/>
              <a:cs typeface="Poppins"/>
              <a:sym typeface="Poppins"/>
            </a:endParaRPr>
          </a:p>
        </p:txBody>
      </p:sp>
      <p:pic>
        <p:nvPicPr>
          <p:cNvPr id="252" name="Google Shape;252;p27" title="WhatsApp Image 2026-05-27 at 4-59-23 PM_jpeg.rf.4QtY5gnyl3tbZ6ywZina.jpeg"/>
          <p:cNvPicPr preferRelativeResize="0"/>
          <p:nvPr/>
        </p:nvPicPr>
        <p:blipFill>
          <a:blip r:embed="rId4">
            <a:alphaModFix/>
          </a:blip>
          <a:stretch>
            <a:fillRect/>
          </a:stretch>
        </p:blipFill>
        <p:spPr>
          <a:xfrm>
            <a:off x="6531675" y="1621950"/>
            <a:ext cx="3624975" cy="4833300"/>
          </a:xfrm>
          <a:prstGeom prst="rect">
            <a:avLst/>
          </a:prstGeom>
          <a:noFill/>
          <a:ln>
            <a:noFill/>
          </a:ln>
        </p:spPr>
      </p:pic>
      <p:pic>
        <p:nvPicPr>
          <p:cNvPr id="253" name="Google Shape;253;p27" title="2026-06-05_02-41-08.png"/>
          <p:cNvPicPr preferRelativeResize="0"/>
          <p:nvPr/>
        </p:nvPicPr>
        <p:blipFill rotWithShape="1">
          <a:blip r:embed="rId5">
            <a:alphaModFix/>
          </a:blip>
          <a:srcRect b="10062" l="36955" r="31413" t="15732"/>
          <a:stretch/>
        </p:blipFill>
        <p:spPr>
          <a:xfrm>
            <a:off x="2308341" y="1621950"/>
            <a:ext cx="3759586" cy="4961226"/>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90D16"/>
        </a:solidFill>
      </p:bgPr>
    </p:bg>
    <p:spTree>
      <p:nvGrpSpPr>
        <p:cNvPr id="257" name="Shape 257"/>
        <p:cNvGrpSpPr/>
        <p:nvPr/>
      </p:nvGrpSpPr>
      <p:grpSpPr>
        <a:xfrm>
          <a:off x="0" y="0"/>
          <a:ext cx="0" cy="0"/>
          <a:chOff x="0" y="0"/>
          <a:chExt cx="0" cy="0"/>
        </a:xfrm>
      </p:grpSpPr>
      <p:pic>
        <p:nvPicPr>
          <p:cNvPr descr="image.png" id="258" name="Google Shape;258;p28"/>
          <p:cNvPicPr preferRelativeResize="0"/>
          <p:nvPr/>
        </p:nvPicPr>
        <p:blipFill rotWithShape="1">
          <a:blip r:embed="rId3">
            <a:alphaModFix/>
          </a:blip>
          <a:srcRect b="0" l="0" r="0" t="0"/>
          <a:stretch/>
        </p:blipFill>
        <p:spPr>
          <a:xfrm>
            <a:off x="-12204" y="0"/>
            <a:ext cx="12192000" cy="6858000"/>
          </a:xfrm>
          <a:prstGeom prst="rect">
            <a:avLst/>
          </a:prstGeom>
          <a:noFill/>
          <a:ln>
            <a:noFill/>
          </a:ln>
        </p:spPr>
      </p:pic>
      <p:sp>
        <p:nvSpPr>
          <p:cNvPr id="259" name="Google Shape;259;p28"/>
          <p:cNvSpPr txBox="1"/>
          <p:nvPr/>
        </p:nvSpPr>
        <p:spPr>
          <a:xfrm>
            <a:off x="3397801" y="376650"/>
            <a:ext cx="5396400" cy="7695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lang="en-US" sz="5000">
                <a:solidFill>
                  <a:srgbClr val="F8FAFC"/>
                </a:solidFill>
                <a:latin typeface="Poppins"/>
                <a:ea typeface="Poppins"/>
                <a:cs typeface="Poppins"/>
                <a:sym typeface="Poppins"/>
              </a:rPr>
              <a:t>Comparación</a:t>
            </a:r>
            <a:endParaRPr sz="5000">
              <a:latin typeface="Poppins"/>
              <a:ea typeface="Poppins"/>
              <a:cs typeface="Poppins"/>
              <a:sym typeface="Poppins"/>
            </a:endParaRPr>
          </a:p>
        </p:txBody>
      </p:sp>
      <p:pic>
        <p:nvPicPr>
          <p:cNvPr id="260" name="Google Shape;260;p28" title="labelme_iwnmlikkpckxnxe_jpg.rf.4Moi1AjD68gGDF1K64kQ.jpg"/>
          <p:cNvPicPr preferRelativeResize="0"/>
          <p:nvPr/>
        </p:nvPicPr>
        <p:blipFill>
          <a:blip r:embed="rId4">
            <a:alphaModFix/>
          </a:blip>
          <a:stretch>
            <a:fillRect/>
          </a:stretch>
        </p:blipFill>
        <p:spPr>
          <a:xfrm>
            <a:off x="6248575" y="1525162"/>
            <a:ext cx="3871500" cy="5161999"/>
          </a:xfrm>
          <a:prstGeom prst="rect">
            <a:avLst/>
          </a:prstGeom>
          <a:noFill/>
          <a:ln>
            <a:noFill/>
          </a:ln>
        </p:spPr>
      </p:pic>
      <p:pic>
        <p:nvPicPr>
          <p:cNvPr id="261" name="Google Shape;261;p28" title="2026-06-05_02-52-06.png"/>
          <p:cNvPicPr preferRelativeResize="0"/>
          <p:nvPr/>
        </p:nvPicPr>
        <p:blipFill rotWithShape="1">
          <a:blip r:embed="rId5">
            <a:alphaModFix/>
          </a:blip>
          <a:srcRect b="11308" l="37500" r="32031" t="16713"/>
          <a:stretch/>
        </p:blipFill>
        <p:spPr>
          <a:xfrm>
            <a:off x="2046293" y="1525150"/>
            <a:ext cx="3799531" cy="5049224"/>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90D16"/>
        </a:solidFill>
      </p:bgPr>
    </p:bg>
    <p:spTree>
      <p:nvGrpSpPr>
        <p:cNvPr id="265" name="Shape 265"/>
        <p:cNvGrpSpPr/>
        <p:nvPr/>
      </p:nvGrpSpPr>
      <p:grpSpPr>
        <a:xfrm>
          <a:off x="0" y="0"/>
          <a:ext cx="0" cy="0"/>
          <a:chOff x="0" y="0"/>
          <a:chExt cx="0" cy="0"/>
        </a:xfrm>
      </p:grpSpPr>
      <p:pic>
        <p:nvPicPr>
          <p:cNvPr descr="image.png" id="266" name="Google Shape;266;p29"/>
          <p:cNvPicPr preferRelativeResize="0"/>
          <p:nvPr/>
        </p:nvPicPr>
        <p:blipFill rotWithShape="1">
          <a:blip r:embed="rId3">
            <a:alphaModFix/>
          </a:blip>
          <a:srcRect b="0" l="0" r="0" t="0"/>
          <a:stretch/>
        </p:blipFill>
        <p:spPr>
          <a:xfrm>
            <a:off x="-12204" y="0"/>
            <a:ext cx="12192000" cy="6858000"/>
          </a:xfrm>
          <a:prstGeom prst="rect">
            <a:avLst/>
          </a:prstGeom>
          <a:noFill/>
          <a:ln>
            <a:noFill/>
          </a:ln>
        </p:spPr>
      </p:pic>
      <p:sp>
        <p:nvSpPr>
          <p:cNvPr id="267" name="Google Shape;267;p29"/>
          <p:cNvSpPr txBox="1"/>
          <p:nvPr/>
        </p:nvSpPr>
        <p:spPr>
          <a:xfrm>
            <a:off x="3397801" y="376650"/>
            <a:ext cx="5396400" cy="7695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lang="en-US" sz="5000">
                <a:solidFill>
                  <a:srgbClr val="F8FAFC"/>
                </a:solidFill>
                <a:latin typeface="Poppins"/>
                <a:ea typeface="Poppins"/>
                <a:cs typeface="Poppins"/>
                <a:sym typeface="Poppins"/>
              </a:rPr>
              <a:t>Comparación</a:t>
            </a:r>
            <a:endParaRPr sz="5000">
              <a:latin typeface="Poppins"/>
              <a:ea typeface="Poppins"/>
              <a:cs typeface="Poppins"/>
              <a:sym typeface="Poppins"/>
            </a:endParaRPr>
          </a:p>
        </p:txBody>
      </p:sp>
      <p:pic>
        <p:nvPicPr>
          <p:cNvPr id="268" name="Google Shape;268;p29" title="2026-06-05_02-54-41.png"/>
          <p:cNvPicPr preferRelativeResize="0"/>
          <p:nvPr/>
        </p:nvPicPr>
        <p:blipFill rotWithShape="1">
          <a:blip r:embed="rId4">
            <a:alphaModFix/>
          </a:blip>
          <a:srcRect b="10062" l="36936" r="31432" t="15732"/>
          <a:stretch/>
        </p:blipFill>
        <p:spPr>
          <a:xfrm>
            <a:off x="2074725" y="1530400"/>
            <a:ext cx="3856526" cy="5089149"/>
          </a:xfrm>
          <a:prstGeom prst="rect">
            <a:avLst/>
          </a:prstGeom>
          <a:noFill/>
          <a:ln>
            <a:noFill/>
          </a:ln>
        </p:spPr>
      </p:pic>
      <p:pic>
        <p:nvPicPr>
          <p:cNvPr id="269" name="Google Shape;269;p29" title="WhatsApp Image 2026-05-27 at 5-24-15 PM_jpeg.rf.SlZehYc2ERdssUmUev7Z.jpeg"/>
          <p:cNvPicPr preferRelativeResize="0"/>
          <p:nvPr/>
        </p:nvPicPr>
        <p:blipFill>
          <a:blip r:embed="rId5">
            <a:alphaModFix/>
          </a:blip>
          <a:stretch>
            <a:fillRect/>
          </a:stretch>
        </p:blipFill>
        <p:spPr>
          <a:xfrm>
            <a:off x="6325725" y="1530400"/>
            <a:ext cx="3856524" cy="5142040"/>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90D16"/>
        </a:solidFill>
      </p:bgPr>
    </p:bg>
    <p:spTree>
      <p:nvGrpSpPr>
        <p:cNvPr id="273" name="Shape 273"/>
        <p:cNvGrpSpPr/>
        <p:nvPr/>
      </p:nvGrpSpPr>
      <p:grpSpPr>
        <a:xfrm>
          <a:off x="0" y="0"/>
          <a:ext cx="0" cy="0"/>
          <a:chOff x="0" y="0"/>
          <a:chExt cx="0" cy="0"/>
        </a:xfrm>
      </p:grpSpPr>
      <p:pic>
        <p:nvPicPr>
          <p:cNvPr descr="image.png" id="274" name="Google Shape;274;p30"/>
          <p:cNvPicPr preferRelativeResize="0"/>
          <p:nvPr/>
        </p:nvPicPr>
        <p:blipFill rotWithShape="1">
          <a:blip r:embed="rId3">
            <a:alphaModFix/>
          </a:blip>
          <a:srcRect b="0" l="0" r="0" t="0"/>
          <a:stretch/>
        </p:blipFill>
        <p:spPr>
          <a:xfrm>
            <a:off x="-12204" y="0"/>
            <a:ext cx="12192000" cy="6858000"/>
          </a:xfrm>
          <a:prstGeom prst="rect">
            <a:avLst/>
          </a:prstGeom>
          <a:noFill/>
          <a:ln>
            <a:noFill/>
          </a:ln>
        </p:spPr>
      </p:pic>
      <p:sp>
        <p:nvSpPr>
          <p:cNvPr id="275" name="Google Shape;275;p30"/>
          <p:cNvSpPr txBox="1"/>
          <p:nvPr/>
        </p:nvSpPr>
        <p:spPr>
          <a:xfrm>
            <a:off x="3397801" y="376650"/>
            <a:ext cx="5396400" cy="7695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lang="en-US" sz="5000">
                <a:solidFill>
                  <a:srgbClr val="F8FAFC"/>
                </a:solidFill>
                <a:latin typeface="Poppins"/>
                <a:ea typeface="Poppins"/>
                <a:cs typeface="Poppins"/>
                <a:sym typeface="Poppins"/>
              </a:rPr>
              <a:t>Comparación</a:t>
            </a:r>
            <a:endParaRPr sz="5000">
              <a:latin typeface="Poppins"/>
              <a:ea typeface="Poppins"/>
              <a:cs typeface="Poppins"/>
              <a:sym typeface="Poppins"/>
            </a:endParaRPr>
          </a:p>
        </p:txBody>
      </p:sp>
      <p:pic>
        <p:nvPicPr>
          <p:cNvPr id="276" name="Google Shape;276;p30" title="WhatsApp Image 2026-05-29 at 11-46-56 AM(1)_jpeg.rf.ICIPvPrlXE0AIfkOwmuL.jpeg"/>
          <p:cNvPicPr preferRelativeResize="0"/>
          <p:nvPr/>
        </p:nvPicPr>
        <p:blipFill>
          <a:blip r:embed="rId4">
            <a:alphaModFix/>
          </a:blip>
          <a:stretch>
            <a:fillRect/>
          </a:stretch>
        </p:blipFill>
        <p:spPr>
          <a:xfrm>
            <a:off x="6541475" y="1615850"/>
            <a:ext cx="3623775" cy="4815624"/>
          </a:xfrm>
          <a:prstGeom prst="rect">
            <a:avLst/>
          </a:prstGeom>
          <a:noFill/>
          <a:ln>
            <a:noFill/>
          </a:ln>
        </p:spPr>
      </p:pic>
      <p:pic>
        <p:nvPicPr>
          <p:cNvPr id="277" name="Google Shape;277;p30" title="2026-06-05_02-57-05.png"/>
          <p:cNvPicPr preferRelativeResize="0"/>
          <p:nvPr/>
        </p:nvPicPr>
        <p:blipFill rotWithShape="1">
          <a:blip r:embed="rId5">
            <a:alphaModFix/>
          </a:blip>
          <a:srcRect b="10061" l="36838" r="31530" t="15909"/>
          <a:stretch/>
        </p:blipFill>
        <p:spPr>
          <a:xfrm>
            <a:off x="2053556" y="1615850"/>
            <a:ext cx="3658018" cy="4815626"/>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90D16"/>
        </a:solidFill>
      </p:bgPr>
    </p:bg>
    <p:spTree>
      <p:nvGrpSpPr>
        <p:cNvPr id="281" name="Shape 281"/>
        <p:cNvGrpSpPr/>
        <p:nvPr/>
      </p:nvGrpSpPr>
      <p:grpSpPr>
        <a:xfrm>
          <a:off x="0" y="0"/>
          <a:ext cx="0" cy="0"/>
          <a:chOff x="0" y="0"/>
          <a:chExt cx="0" cy="0"/>
        </a:xfrm>
      </p:grpSpPr>
      <p:pic>
        <p:nvPicPr>
          <p:cNvPr descr="image.png" id="282" name="Google Shape;282;p31"/>
          <p:cNvPicPr preferRelativeResize="0"/>
          <p:nvPr/>
        </p:nvPicPr>
        <p:blipFill rotWithShape="1">
          <a:blip r:embed="rId3">
            <a:alphaModFix/>
          </a:blip>
          <a:srcRect b="0" l="0" r="0" t="0"/>
          <a:stretch/>
        </p:blipFill>
        <p:spPr>
          <a:xfrm>
            <a:off x="-12204" y="12204"/>
            <a:ext cx="12192000" cy="6858000"/>
          </a:xfrm>
          <a:prstGeom prst="rect">
            <a:avLst/>
          </a:prstGeom>
          <a:noFill/>
          <a:ln>
            <a:noFill/>
          </a:ln>
        </p:spPr>
      </p:pic>
      <p:sp>
        <p:nvSpPr>
          <p:cNvPr id="283" name="Google Shape;283;p31"/>
          <p:cNvSpPr txBox="1"/>
          <p:nvPr/>
        </p:nvSpPr>
        <p:spPr>
          <a:xfrm>
            <a:off x="3397801" y="376650"/>
            <a:ext cx="5396400" cy="7695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lang="en-US" sz="5000">
                <a:solidFill>
                  <a:srgbClr val="F8FAFC"/>
                </a:solidFill>
                <a:latin typeface="Poppins"/>
                <a:ea typeface="Poppins"/>
                <a:cs typeface="Poppins"/>
                <a:sym typeface="Poppins"/>
              </a:rPr>
              <a:t>Comparación</a:t>
            </a:r>
            <a:endParaRPr sz="5000">
              <a:latin typeface="Poppins"/>
              <a:ea typeface="Poppins"/>
              <a:cs typeface="Poppins"/>
              <a:sym typeface="Poppins"/>
            </a:endParaRPr>
          </a:p>
        </p:txBody>
      </p:sp>
      <p:pic>
        <p:nvPicPr>
          <p:cNvPr id="284" name="Google Shape;284;p31" title="WhatsApp Image 2026-05-29 at 11-46-57 AM_jpeg.rf.z6Ax4d1p40ihvgREnKw4.jpeg"/>
          <p:cNvPicPr preferRelativeResize="0"/>
          <p:nvPr/>
        </p:nvPicPr>
        <p:blipFill>
          <a:blip r:embed="rId4">
            <a:alphaModFix/>
          </a:blip>
          <a:stretch>
            <a:fillRect/>
          </a:stretch>
        </p:blipFill>
        <p:spPr>
          <a:xfrm>
            <a:off x="6232800" y="1704725"/>
            <a:ext cx="5652652" cy="4253624"/>
          </a:xfrm>
          <a:prstGeom prst="rect">
            <a:avLst/>
          </a:prstGeom>
          <a:noFill/>
          <a:ln>
            <a:noFill/>
          </a:ln>
        </p:spPr>
      </p:pic>
      <p:pic>
        <p:nvPicPr>
          <p:cNvPr id="285" name="Google Shape;285;p31" title="2026-06-05_03-13-33.png"/>
          <p:cNvPicPr preferRelativeResize="0"/>
          <p:nvPr/>
        </p:nvPicPr>
        <p:blipFill rotWithShape="1">
          <a:blip r:embed="rId5">
            <a:alphaModFix/>
          </a:blip>
          <a:srcRect b="14335" l="23522" r="22824" t="13593"/>
          <a:stretch/>
        </p:blipFill>
        <p:spPr>
          <a:xfrm>
            <a:off x="254175" y="1704725"/>
            <a:ext cx="5652648" cy="4271125"/>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90D16"/>
        </a:solidFill>
      </p:bgPr>
    </p:bg>
    <p:spTree>
      <p:nvGrpSpPr>
        <p:cNvPr id="289" name="Shape 289"/>
        <p:cNvGrpSpPr/>
        <p:nvPr/>
      </p:nvGrpSpPr>
      <p:grpSpPr>
        <a:xfrm>
          <a:off x="0" y="0"/>
          <a:ext cx="0" cy="0"/>
          <a:chOff x="0" y="0"/>
          <a:chExt cx="0" cy="0"/>
        </a:xfrm>
      </p:grpSpPr>
      <p:pic>
        <p:nvPicPr>
          <p:cNvPr descr="image.png" id="290" name="Google Shape;290;p32"/>
          <p:cNvPicPr preferRelativeResize="0"/>
          <p:nvPr/>
        </p:nvPicPr>
        <p:blipFill rotWithShape="1">
          <a:blip r:embed="rId3">
            <a:alphaModFix/>
          </a:blip>
          <a:srcRect b="0" l="0" r="0" t="0"/>
          <a:stretch/>
        </p:blipFill>
        <p:spPr>
          <a:xfrm>
            <a:off x="-12204" y="0"/>
            <a:ext cx="12192000" cy="6858000"/>
          </a:xfrm>
          <a:prstGeom prst="rect">
            <a:avLst/>
          </a:prstGeom>
          <a:noFill/>
          <a:ln>
            <a:noFill/>
          </a:ln>
        </p:spPr>
      </p:pic>
      <p:sp>
        <p:nvSpPr>
          <p:cNvPr id="291" name="Google Shape;291;p32"/>
          <p:cNvSpPr txBox="1"/>
          <p:nvPr/>
        </p:nvSpPr>
        <p:spPr>
          <a:xfrm>
            <a:off x="3397801" y="376650"/>
            <a:ext cx="5396400" cy="7695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lang="en-US" sz="5000">
                <a:solidFill>
                  <a:srgbClr val="F8FAFC"/>
                </a:solidFill>
                <a:latin typeface="Poppins"/>
                <a:ea typeface="Poppins"/>
                <a:cs typeface="Poppins"/>
                <a:sym typeface="Poppins"/>
              </a:rPr>
              <a:t>Comparación</a:t>
            </a:r>
            <a:endParaRPr sz="5000">
              <a:latin typeface="Poppins"/>
              <a:ea typeface="Poppins"/>
              <a:cs typeface="Poppins"/>
              <a:sym typeface="Poppins"/>
            </a:endParaRPr>
          </a:p>
        </p:txBody>
      </p:sp>
      <p:pic>
        <p:nvPicPr>
          <p:cNvPr id="292" name="Google Shape;292;p32" title="2026-06-05_03-00-03.png"/>
          <p:cNvPicPr preferRelativeResize="0"/>
          <p:nvPr/>
        </p:nvPicPr>
        <p:blipFill rotWithShape="1">
          <a:blip r:embed="rId4">
            <a:alphaModFix/>
          </a:blip>
          <a:srcRect b="25367" l="22722" r="30429" t="12351"/>
          <a:stretch/>
        </p:blipFill>
        <p:spPr>
          <a:xfrm>
            <a:off x="292875" y="1853012"/>
            <a:ext cx="5467502" cy="4088950"/>
          </a:xfrm>
          <a:prstGeom prst="rect">
            <a:avLst/>
          </a:prstGeom>
          <a:noFill/>
          <a:ln>
            <a:noFill/>
          </a:ln>
        </p:spPr>
      </p:pic>
      <p:pic>
        <p:nvPicPr>
          <p:cNvPr id="293" name="Google Shape;293;p32" title="5908651601_545dd98322_o_jpg.rf.n6AOjGYeNAeVGCeBEivL.jpg"/>
          <p:cNvPicPr preferRelativeResize="0"/>
          <p:nvPr/>
        </p:nvPicPr>
        <p:blipFill>
          <a:blip r:embed="rId5">
            <a:alphaModFix/>
          </a:blip>
          <a:stretch>
            <a:fillRect/>
          </a:stretch>
        </p:blipFill>
        <p:spPr>
          <a:xfrm>
            <a:off x="6115825" y="1847175"/>
            <a:ext cx="5467501" cy="4100630"/>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90D16"/>
        </a:solidFill>
      </p:bgPr>
    </p:bg>
    <p:spTree>
      <p:nvGrpSpPr>
        <p:cNvPr id="297" name="Shape 297"/>
        <p:cNvGrpSpPr/>
        <p:nvPr/>
      </p:nvGrpSpPr>
      <p:grpSpPr>
        <a:xfrm>
          <a:off x="0" y="0"/>
          <a:ext cx="0" cy="0"/>
          <a:chOff x="0" y="0"/>
          <a:chExt cx="0" cy="0"/>
        </a:xfrm>
      </p:grpSpPr>
      <p:pic>
        <p:nvPicPr>
          <p:cNvPr descr="image.png" id="298" name="Google Shape;298;p33"/>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299" name="Google Shape;299;p33"/>
          <p:cNvSpPr txBox="1"/>
          <p:nvPr/>
        </p:nvSpPr>
        <p:spPr>
          <a:xfrm>
            <a:off x="581025" y="485775"/>
            <a:ext cx="8696700" cy="692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i="0" lang="en-US" sz="4500" u="none" cap="none" strike="noStrike">
                <a:solidFill>
                  <a:srgbClr val="F8FAFC"/>
                </a:solidFill>
                <a:latin typeface="Poppins SemiBold"/>
                <a:ea typeface="Poppins SemiBold"/>
                <a:cs typeface="Poppins SemiBold"/>
                <a:sym typeface="Poppins SemiBold"/>
              </a:rPr>
              <a:t>Rendimiento en Android CPU</a:t>
            </a:r>
            <a:endParaRPr sz="4500">
              <a:latin typeface="Poppins"/>
              <a:ea typeface="Poppins"/>
              <a:cs typeface="Poppins"/>
              <a:sym typeface="Poppins"/>
            </a:endParaRPr>
          </a:p>
        </p:txBody>
      </p:sp>
      <p:sp>
        <p:nvSpPr>
          <p:cNvPr id="300" name="Google Shape;300;p33"/>
          <p:cNvSpPr/>
          <p:nvPr/>
        </p:nvSpPr>
        <p:spPr>
          <a:xfrm>
            <a:off x="5857875" y="700087"/>
            <a:ext cx="476250" cy="28575"/>
          </a:xfrm>
          <a:prstGeom prst="roundRect">
            <a:avLst>
              <a:gd fmla="val 50000" name="adj"/>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aphicFrame>
        <p:nvGraphicFramePr>
          <p:cNvPr id="301" name="Google Shape;301;p33"/>
          <p:cNvGraphicFramePr/>
          <p:nvPr/>
        </p:nvGraphicFramePr>
        <p:xfrm>
          <a:off x="581021" y="1461875"/>
          <a:ext cx="3000000" cy="3000000"/>
        </p:xfrm>
        <a:graphic>
          <a:graphicData uri="http://schemas.openxmlformats.org/drawingml/2006/table">
            <a:tbl>
              <a:tblPr bandRow="1" firstRow="1">
                <a:noFill/>
                <a:tableStyleId>{73BF9BE0-EF4A-4F0A-BF5C-C545904F7FFB}</a:tableStyleId>
              </a:tblPr>
              <a:tblGrid>
                <a:gridCol w="2348600"/>
                <a:gridCol w="1542950"/>
                <a:gridCol w="1829750"/>
                <a:gridCol w="1706875"/>
                <a:gridCol w="1761525"/>
              </a:tblGrid>
              <a:tr h="650400">
                <a:tc>
                  <a:txBody>
                    <a:bodyPr/>
                    <a:lstStyle/>
                    <a:p>
                      <a:pPr indent="0" lvl="0" marL="0" marR="0" rtl="0" algn="l">
                        <a:spcBef>
                          <a:spcPts val="0"/>
                        </a:spcBef>
                        <a:spcAft>
                          <a:spcPts val="0"/>
                        </a:spcAft>
                        <a:buNone/>
                      </a:pPr>
                      <a:r>
                        <a:rPr b="0" i="0" lang="en-US" sz="1500" u="none" cap="none" strike="noStrike">
                          <a:solidFill>
                            <a:srgbClr val="06B6D4"/>
                          </a:solidFill>
                          <a:latin typeface="Poppins SemiBold"/>
                          <a:ea typeface="Poppins SemiBold"/>
                          <a:cs typeface="Poppins SemiBold"/>
                          <a:sym typeface="Poppins SemiBold"/>
                        </a:rPr>
                        <a:t>Modelo</a:t>
                      </a:r>
                      <a:endParaRPr sz="1500">
                        <a:latin typeface="Poppins"/>
                        <a:ea typeface="Poppins"/>
                        <a:cs typeface="Poppins"/>
                        <a:sym typeface="Poppins"/>
                      </a:endParaRPr>
                    </a:p>
                  </a:txBody>
                  <a:tcPr marT="25400" marB="25400" marR="63500" marL="63500" anchor="ctr">
                    <a:lnL cap="flat" cmpd="sng" w="28575">
                      <a:solidFill>
                        <a:srgbClr val="06B6D4"/>
                      </a:solidFill>
                      <a:prstDash val="solid"/>
                      <a:round/>
                      <a:headEnd len="sm" w="sm" type="none"/>
                      <a:tailEnd len="sm" w="sm" type="none"/>
                    </a:lnL>
                    <a:lnR cap="flat" cmpd="sng" w="28575">
                      <a:solidFill>
                        <a:srgbClr val="06B6D4"/>
                      </a:solidFill>
                      <a:prstDash val="solid"/>
                      <a:round/>
                      <a:headEnd len="sm" w="sm" type="none"/>
                      <a:tailEnd len="sm" w="sm" type="none"/>
                    </a:lnR>
                    <a:lnT cap="flat" cmpd="sng" w="28575">
                      <a:solidFill>
                        <a:srgbClr val="06B6D4"/>
                      </a:solidFill>
                      <a:prstDash val="solid"/>
                      <a:round/>
                      <a:headEnd len="sm" w="sm" type="none"/>
                      <a:tailEnd len="sm" w="sm" type="none"/>
                    </a:lnT>
                    <a:lnB cap="flat" cmpd="sng" w="28575">
                      <a:solidFill>
                        <a:srgbClr val="06B6D4"/>
                      </a:solidFill>
                      <a:prstDash val="solid"/>
                      <a:round/>
                      <a:headEnd len="sm" w="sm" type="none"/>
                      <a:tailEnd len="sm" w="sm" type="none"/>
                    </a:lnB>
                    <a:solidFill>
                      <a:srgbClr val="0F172A"/>
                    </a:solidFill>
                  </a:tcPr>
                </a:tc>
                <a:tc>
                  <a:txBody>
                    <a:bodyPr/>
                    <a:lstStyle/>
                    <a:p>
                      <a:pPr indent="0" lvl="0" marL="0" marR="0" rtl="0" algn="l">
                        <a:spcBef>
                          <a:spcPts val="0"/>
                        </a:spcBef>
                        <a:spcAft>
                          <a:spcPts val="0"/>
                        </a:spcAft>
                        <a:buNone/>
                      </a:pPr>
                      <a:r>
                        <a:rPr b="0" i="0" lang="en-US" sz="1500" u="none" cap="none" strike="noStrike">
                          <a:solidFill>
                            <a:srgbClr val="06B6D4"/>
                          </a:solidFill>
                          <a:latin typeface="Poppins SemiBold"/>
                          <a:ea typeface="Poppins SemiBold"/>
                          <a:cs typeface="Poppins SemiBold"/>
                          <a:sym typeface="Poppins SemiBold"/>
                        </a:rPr>
                        <a:t>FPS (CPU)</a:t>
                      </a:r>
                      <a:endParaRPr sz="1500">
                        <a:latin typeface="Poppins"/>
                        <a:ea typeface="Poppins"/>
                        <a:cs typeface="Poppins"/>
                        <a:sym typeface="Poppins"/>
                      </a:endParaRPr>
                    </a:p>
                  </a:txBody>
                  <a:tcPr marT="25400" marB="25400" marR="63500" marL="63500" anchor="ctr">
                    <a:lnL cap="flat" cmpd="sng" w="28575">
                      <a:solidFill>
                        <a:srgbClr val="06B6D4"/>
                      </a:solidFill>
                      <a:prstDash val="solid"/>
                      <a:round/>
                      <a:headEnd len="sm" w="sm" type="none"/>
                      <a:tailEnd len="sm" w="sm" type="none"/>
                    </a:lnL>
                    <a:lnR cap="flat" cmpd="sng" w="28575">
                      <a:solidFill>
                        <a:srgbClr val="06B6D4"/>
                      </a:solidFill>
                      <a:prstDash val="solid"/>
                      <a:round/>
                      <a:headEnd len="sm" w="sm" type="none"/>
                      <a:tailEnd len="sm" w="sm" type="none"/>
                    </a:lnR>
                    <a:lnT cap="flat" cmpd="sng" w="28575">
                      <a:solidFill>
                        <a:srgbClr val="06B6D4"/>
                      </a:solidFill>
                      <a:prstDash val="solid"/>
                      <a:round/>
                      <a:headEnd len="sm" w="sm" type="none"/>
                      <a:tailEnd len="sm" w="sm" type="none"/>
                    </a:lnT>
                    <a:lnB cap="flat" cmpd="sng" w="28575">
                      <a:solidFill>
                        <a:srgbClr val="06B6D4"/>
                      </a:solidFill>
                      <a:prstDash val="solid"/>
                      <a:round/>
                      <a:headEnd len="sm" w="sm" type="none"/>
                      <a:tailEnd len="sm" w="sm" type="none"/>
                    </a:lnB>
                    <a:solidFill>
                      <a:srgbClr val="0F172A"/>
                    </a:solidFill>
                  </a:tcPr>
                </a:tc>
                <a:tc>
                  <a:txBody>
                    <a:bodyPr/>
                    <a:lstStyle/>
                    <a:p>
                      <a:pPr indent="0" lvl="0" marL="0" marR="0" rtl="0" algn="l">
                        <a:spcBef>
                          <a:spcPts val="0"/>
                        </a:spcBef>
                        <a:spcAft>
                          <a:spcPts val="0"/>
                        </a:spcAft>
                        <a:buNone/>
                      </a:pPr>
                      <a:r>
                        <a:rPr b="0" i="0" lang="en-US" sz="1500" u="none" cap="none" strike="noStrike">
                          <a:solidFill>
                            <a:srgbClr val="06B6D4"/>
                          </a:solidFill>
                          <a:latin typeface="Poppins SemiBold"/>
                          <a:ea typeface="Poppins SemiBold"/>
                          <a:cs typeface="Poppins SemiBold"/>
                          <a:sym typeface="Poppins SemiBold"/>
                        </a:rPr>
                        <a:t>Lat. </a:t>
                      </a:r>
                      <a:r>
                        <a:rPr b="0" lang="en-US" sz="1500">
                          <a:solidFill>
                            <a:srgbClr val="06B6D4"/>
                          </a:solidFill>
                          <a:latin typeface="Poppins SemiBold"/>
                          <a:ea typeface="Poppins SemiBold"/>
                          <a:cs typeface="Poppins SemiBold"/>
                          <a:sym typeface="Poppins SemiBold"/>
                        </a:rPr>
                        <a:t>Promedio</a:t>
                      </a:r>
                      <a:endParaRPr sz="1500">
                        <a:latin typeface="Poppins"/>
                        <a:ea typeface="Poppins"/>
                        <a:cs typeface="Poppins"/>
                        <a:sym typeface="Poppins"/>
                      </a:endParaRPr>
                    </a:p>
                  </a:txBody>
                  <a:tcPr marT="25400" marB="25400" marR="63500" marL="63500" anchor="ctr">
                    <a:lnL cap="flat" cmpd="sng" w="28575">
                      <a:solidFill>
                        <a:srgbClr val="06B6D4"/>
                      </a:solidFill>
                      <a:prstDash val="solid"/>
                      <a:round/>
                      <a:headEnd len="sm" w="sm" type="none"/>
                      <a:tailEnd len="sm" w="sm" type="none"/>
                    </a:lnL>
                    <a:lnR cap="flat" cmpd="sng" w="28575">
                      <a:solidFill>
                        <a:srgbClr val="06B6D4"/>
                      </a:solidFill>
                      <a:prstDash val="solid"/>
                      <a:round/>
                      <a:headEnd len="sm" w="sm" type="none"/>
                      <a:tailEnd len="sm" w="sm" type="none"/>
                    </a:lnR>
                    <a:lnT cap="flat" cmpd="sng" w="28575">
                      <a:solidFill>
                        <a:srgbClr val="06B6D4"/>
                      </a:solidFill>
                      <a:prstDash val="solid"/>
                      <a:round/>
                      <a:headEnd len="sm" w="sm" type="none"/>
                      <a:tailEnd len="sm" w="sm" type="none"/>
                    </a:lnT>
                    <a:lnB cap="flat" cmpd="sng" w="28575">
                      <a:solidFill>
                        <a:srgbClr val="06B6D4"/>
                      </a:solidFill>
                      <a:prstDash val="solid"/>
                      <a:round/>
                      <a:headEnd len="sm" w="sm" type="none"/>
                      <a:tailEnd len="sm" w="sm" type="none"/>
                    </a:lnB>
                    <a:solidFill>
                      <a:srgbClr val="0F172A"/>
                    </a:solidFill>
                  </a:tcPr>
                </a:tc>
                <a:tc>
                  <a:txBody>
                    <a:bodyPr/>
                    <a:lstStyle/>
                    <a:p>
                      <a:pPr indent="0" lvl="0" marL="0" marR="0" rtl="0" algn="l">
                        <a:spcBef>
                          <a:spcPts val="0"/>
                        </a:spcBef>
                        <a:spcAft>
                          <a:spcPts val="0"/>
                        </a:spcAft>
                        <a:buNone/>
                      </a:pPr>
                      <a:r>
                        <a:rPr b="0" i="0" lang="en-US" sz="1500" u="none" cap="none" strike="noStrike">
                          <a:solidFill>
                            <a:srgbClr val="06B6D4"/>
                          </a:solidFill>
                          <a:latin typeface="Poppins SemiBold"/>
                          <a:ea typeface="Poppins SemiBold"/>
                          <a:cs typeface="Poppins SemiBold"/>
                          <a:sym typeface="Poppins SemiBold"/>
                        </a:rPr>
                        <a:t>Lat. Mínima</a:t>
                      </a:r>
                      <a:endParaRPr sz="1500">
                        <a:latin typeface="Poppins"/>
                        <a:ea typeface="Poppins"/>
                        <a:cs typeface="Poppins"/>
                        <a:sym typeface="Poppins"/>
                      </a:endParaRPr>
                    </a:p>
                  </a:txBody>
                  <a:tcPr marT="25400" marB="25400" marR="63500" marL="63500" anchor="ctr">
                    <a:lnL cap="flat" cmpd="sng" w="28575">
                      <a:solidFill>
                        <a:srgbClr val="06B6D4"/>
                      </a:solidFill>
                      <a:prstDash val="solid"/>
                      <a:round/>
                      <a:headEnd len="sm" w="sm" type="none"/>
                      <a:tailEnd len="sm" w="sm" type="none"/>
                    </a:lnL>
                    <a:lnR cap="flat" cmpd="sng" w="28575">
                      <a:solidFill>
                        <a:srgbClr val="06B6D4"/>
                      </a:solidFill>
                      <a:prstDash val="solid"/>
                      <a:round/>
                      <a:headEnd len="sm" w="sm" type="none"/>
                      <a:tailEnd len="sm" w="sm" type="none"/>
                    </a:lnR>
                    <a:lnT cap="flat" cmpd="sng" w="28575">
                      <a:solidFill>
                        <a:srgbClr val="06B6D4"/>
                      </a:solidFill>
                      <a:prstDash val="solid"/>
                      <a:round/>
                      <a:headEnd len="sm" w="sm" type="none"/>
                      <a:tailEnd len="sm" w="sm" type="none"/>
                    </a:lnT>
                    <a:lnB cap="flat" cmpd="sng" w="28575">
                      <a:solidFill>
                        <a:srgbClr val="06B6D4"/>
                      </a:solidFill>
                      <a:prstDash val="solid"/>
                      <a:round/>
                      <a:headEnd len="sm" w="sm" type="none"/>
                      <a:tailEnd len="sm" w="sm" type="none"/>
                    </a:lnB>
                    <a:solidFill>
                      <a:srgbClr val="0F172A"/>
                    </a:solidFill>
                  </a:tcPr>
                </a:tc>
                <a:tc>
                  <a:txBody>
                    <a:bodyPr/>
                    <a:lstStyle/>
                    <a:p>
                      <a:pPr indent="0" lvl="0" marL="0" marR="0" rtl="0" algn="l">
                        <a:spcBef>
                          <a:spcPts val="0"/>
                        </a:spcBef>
                        <a:spcAft>
                          <a:spcPts val="0"/>
                        </a:spcAft>
                        <a:buNone/>
                      </a:pPr>
                      <a:r>
                        <a:rPr b="0" i="0" lang="en-US" sz="1500" u="none" cap="none" strike="noStrike">
                          <a:solidFill>
                            <a:srgbClr val="06B6D4"/>
                          </a:solidFill>
                          <a:latin typeface="Poppins SemiBold"/>
                          <a:ea typeface="Poppins SemiBold"/>
                          <a:cs typeface="Poppins SemiBold"/>
                          <a:sym typeface="Poppins SemiBold"/>
                        </a:rPr>
                        <a:t>Lat. Máxima</a:t>
                      </a:r>
                      <a:endParaRPr sz="1500">
                        <a:latin typeface="Poppins"/>
                        <a:ea typeface="Poppins"/>
                        <a:cs typeface="Poppins"/>
                        <a:sym typeface="Poppins"/>
                      </a:endParaRPr>
                    </a:p>
                  </a:txBody>
                  <a:tcPr marT="25400" marB="25400" marR="63500" marL="63500" anchor="ctr">
                    <a:lnL cap="flat" cmpd="sng" w="28575">
                      <a:solidFill>
                        <a:srgbClr val="06B6D4"/>
                      </a:solidFill>
                      <a:prstDash val="solid"/>
                      <a:round/>
                      <a:headEnd len="sm" w="sm" type="none"/>
                      <a:tailEnd len="sm" w="sm" type="none"/>
                    </a:lnL>
                    <a:lnR cap="flat" cmpd="sng" w="28575">
                      <a:solidFill>
                        <a:srgbClr val="06B6D4"/>
                      </a:solidFill>
                      <a:prstDash val="solid"/>
                      <a:round/>
                      <a:headEnd len="sm" w="sm" type="none"/>
                      <a:tailEnd len="sm" w="sm" type="none"/>
                    </a:lnR>
                    <a:lnT cap="flat" cmpd="sng" w="28575">
                      <a:solidFill>
                        <a:srgbClr val="06B6D4"/>
                      </a:solidFill>
                      <a:prstDash val="solid"/>
                      <a:round/>
                      <a:headEnd len="sm" w="sm" type="none"/>
                      <a:tailEnd len="sm" w="sm" type="none"/>
                    </a:lnT>
                    <a:lnB cap="flat" cmpd="sng" w="28575">
                      <a:solidFill>
                        <a:srgbClr val="06B6D4"/>
                      </a:solidFill>
                      <a:prstDash val="solid"/>
                      <a:round/>
                      <a:headEnd len="sm" w="sm" type="none"/>
                      <a:tailEnd len="sm" w="sm" type="none"/>
                    </a:lnB>
                    <a:solidFill>
                      <a:srgbClr val="0F172A"/>
                    </a:solidFill>
                  </a:tcPr>
                </a:tc>
              </a:tr>
              <a:tr h="650400">
                <a:tc>
                  <a:txBody>
                    <a:bodyPr/>
                    <a:lstStyle/>
                    <a:p>
                      <a:pPr indent="0" lvl="0" marL="0" marR="0" rtl="0" algn="l">
                        <a:spcBef>
                          <a:spcPts val="0"/>
                        </a:spcBef>
                        <a:spcAft>
                          <a:spcPts val="0"/>
                        </a:spcAft>
                        <a:buNone/>
                      </a:pPr>
                      <a:r>
                        <a:rPr b="1" i="0" lang="en-US" sz="1500" u="none" cap="none" strike="noStrike">
                          <a:latin typeface="Poppins"/>
                          <a:ea typeface="Poppins"/>
                          <a:cs typeface="Poppins"/>
                          <a:sym typeface="Poppins"/>
                        </a:rPr>
                        <a:t>YOLOv8s Float32</a:t>
                      </a:r>
                      <a:endParaRPr sz="1500">
                        <a:latin typeface="Poppins"/>
                        <a:ea typeface="Poppins"/>
                        <a:cs typeface="Poppins"/>
                        <a:sym typeface="Poppins"/>
                      </a:endParaRPr>
                    </a:p>
                  </a:txBody>
                  <a:tcPr marT="25400" marB="25400" marR="63500" marL="63500" anchor="ctr">
                    <a:lnL cap="flat" cmpd="sng" w="28575">
                      <a:solidFill>
                        <a:srgbClr val="06B6D4"/>
                      </a:solidFill>
                      <a:prstDash val="solid"/>
                      <a:round/>
                      <a:headEnd len="sm" w="sm" type="none"/>
                      <a:tailEnd len="sm" w="sm" type="none"/>
                    </a:lnL>
                    <a:lnR cap="flat" cmpd="sng" w="28575">
                      <a:solidFill>
                        <a:srgbClr val="06B6D4"/>
                      </a:solidFill>
                      <a:prstDash val="solid"/>
                      <a:round/>
                      <a:headEnd len="sm" w="sm" type="none"/>
                      <a:tailEnd len="sm" w="sm" type="none"/>
                    </a:lnR>
                    <a:lnT cap="flat" cmpd="sng" w="28575">
                      <a:solidFill>
                        <a:srgbClr val="06B6D4"/>
                      </a:solidFill>
                      <a:prstDash val="solid"/>
                      <a:round/>
                      <a:headEnd len="sm" w="sm" type="none"/>
                      <a:tailEnd len="sm" w="sm" type="none"/>
                    </a:lnT>
                    <a:lnB cap="flat" cmpd="sng" w="28575">
                      <a:solidFill>
                        <a:srgbClr val="06B6D4"/>
                      </a:solidFill>
                      <a:prstDash val="solid"/>
                      <a:round/>
                      <a:headEnd len="sm" w="sm" type="none"/>
                      <a:tailEnd len="sm" w="sm" type="none"/>
                    </a:lnB>
                  </a:tcPr>
                </a:tc>
                <a:tc>
                  <a:txBody>
                    <a:bodyPr/>
                    <a:lstStyle/>
                    <a:p>
                      <a:pPr indent="0" lvl="0" marL="0" marR="0" rtl="0" algn="l">
                        <a:spcBef>
                          <a:spcPts val="0"/>
                        </a:spcBef>
                        <a:spcAft>
                          <a:spcPts val="0"/>
                        </a:spcAft>
                        <a:buNone/>
                      </a:pPr>
                      <a:r>
                        <a:rPr i="0" lang="en-US" sz="1500" u="none" cap="none" strike="noStrike">
                          <a:solidFill>
                            <a:schemeClr val="accent2"/>
                          </a:solidFill>
                          <a:latin typeface="Poppins"/>
                          <a:ea typeface="Poppins"/>
                          <a:cs typeface="Poppins"/>
                          <a:sym typeface="Poppins"/>
                        </a:rPr>
                        <a:t>1.</a:t>
                      </a:r>
                      <a:r>
                        <a:rPr lang="en-US" sz="1500">
                          <a:solidFill>
                            <a:schemeClr val="accent2"/>
                          </a:solidFill>
                          <a:latin typeface="Poppins"/>
                          <a:ea typeface="Poppins"/>
                          <a:cs typeface="Poppins"/>
                          <a:sym typeface="Poppins"/>
                        </a:rPr>
                        <a:t>50</a:t>
                      </a:r>
                      <a:endParaRPr sz="1500">
                        <a:solidFill>
                          <a:schemeClr val="accent2"/>
                        </a:solidFill>
                        <a:latin typeface="Poppins"/>
                        <a:ea typeface="Poppins"/>
                        <a:cs typeface="Poppins"/>
                        <a:sym typeface="Poppins"/>
                      </a:endParaRPr>
                    </a:p>
                  </a:txBody>
                  <a:tcPr marT="25400" marB="25400" marR="63500" marL="63500" anchor="ctr">
                    <a:lnL cap="flat" cmpd="sng" w="28575">
                      <a:solidFill>
                        <a:srgbClr val="06B6D4"/>
                      </a:solidFill>
                      <a:prstDash val="solid"/>
                      <a:round/>
                      <a:headEnd len="sm" w="sm" type="none"/>
                      <a:tailEnd len="sm" w="sm" type="none"/>
                    </a:lnL>
                    <a:lnR cap="flat" cmpd="sng" w="28575">
                      <a:solidFill>
                        <a:srgbClr val="06B6D4"/>
                      </a:solidFill>
                      <a:prstDash val="solid"/>
                      <a:round/>
                      <a:headEnd len="sm" w="sm" type="none"/>
                      <a:tailEnd len="sm" w="sm" type="none"/>
                    </a:lnR>
                    <a:lnT cap="flat" cmpd="sng" w="28575">
                      <a:solidFill>
                        <a:srgbClr val="06B6D4"/>
                      </a:solidFill>
                      <a:prstDash val="solid"/>
                      <a:round/>
                      <a:headEnd len="sm" w="sm" type="none"/>
                      <a:tailEnd len="sm" w="sm" type="none"/>
                    </a:lnT>
                    <a:lnB cap="flat" cmpd="sng" w="28575">
                      <a:solidFill>
                        <a:srgbClr val="06B6D4"/>
                      </a:solidFill>
                      <a:prstDash val="solid"/>
                      <a:round/>
                      <a:headEnd len="sm" w="sm" type="none"/>
                      <a:tailEnd len="sm" w="sm" type="none"/>
                    </a:lnB>
                  </a:tcPr>
                </a:tc>
                <a:tc>
                  <a:txBody>
                    <a:bodyPr/>
                    <a:lstStyle/>
                    <a:p>
                      <a:pPr indent="0" lvl="0" marL="0" marR="0" rtl="0" algn="l">
                        <a:spcBef>
                          <a:spcPts val="0"/>
                        </a:spcBef>
                        <a:spcAft>
                          <a:spcPts val="0"/>
                        </a:spcAft>
                        <a:buNone/>
                      </a:pPr>
                      <a:r>
                        <a:rPr lang="en-US" sz="1500">
                          <a:solidFill>
                            <a:schemeClr val="accent2"/>
                          </a:solidFill>
                          <a:latin typeface="Poppins"/>
                          <a:ea typeface="Poppins"/>
                          <a:cs typeface="Poppins"/>
                          <a:sym typeface="Poppins"/>
                        </a:rPr>
                        <a:t>667</a:t>
                      </a:r>
                      <a:r>
                        <a:rPr i="0" lang="en-US" sz="1500" u="none" cap="none" strike="noStrike">
                          <a:solidFill>
                            <a:schemeClr val="accent2"/>
                          </a:solidFill>
                          <a:latin typeface="Poppins"/>
                          <a:ea typeface="Poppins"/>
                          <a:cs typeface="Poppins"/>
                          <a:sym typeface="Poppins"/>
                        </a:rPr>
                        <a:t>.</a:t>
                      </a:r>
                      <a:r>
                        <a:rPr lang="en-US" sz="1500">
                          <a:solidFill>
                            <a:schemeClr val="accent2"/>
                          </a:solidFill>
                          <a:latin typeface="Poppins"/>
                          <a:ea typeface="Poppins"/>
                          <a:cs typeface="Poppins"/>
                          <a:sym typeface="Poppins"/>
                        </a:rPr>
                        <a:t>0</a:t>
                      </a:r>
                      <a:r>
                        <a:rPr i="0" lang="en-US" sz="1500" u="none" cap="none" strike="noStrike">
                          <a:solidFill>
                            <a:schemeClr val="accent2"/>
                          </a:solidFill>
                          <a:latin typeface="Poppins"/>
                          <a:ea typeface="Poppins"/>
                          <a:cs typeface="Poppins"/>
                          <a:sym typeface="Poppins"/>
                        </a:rPr>
                        <a:t> ms</a:t>
                      </a:r>
                      <a:endParaRPr sz="1500">
                        <a:solidFill>
                          <a:schemeClr val="accent2"/>
                        </a:solidFill>
                        <a:latin typeface="Poppins"/>
                        <a:ea typeface="Poppins"/>
                        <a:cs typeface="Poppins"/>
                        <a:sym typeface="Poppins"/>
                      </a:endParaRPr>
                    </a:p>
                  </a:txBody>
                  <a:tcPr marT="25400" marB="25400" marR="63500" marL="63500" anchor="ctr">
                    <a:lnL cap="flat" cmpd="sng" w="28575">
                      <a:solidFill>
                        <a:srgbClr val="06B6D4"/>
                      </a:solidFill>
                      <a:prstDash val="solid"/>
                      <a:round/>
                      <a:headEnd len="sm" w="sm" type="none"/>
                      <a:tailEnd len="sm" w="sm" type="none"/>
                    </a:lnL>
                    <a:lnR cap="flat" cmpd="sng" w="28575">
                      <a:solidFill>
                        <a:srgbClr val="06B6D4"/>
                      </a:solidFill>
                      <a:prstDash val="solid"/>
                      <a:round/>
                      <a:headEnd len="sm" w="sm" type="none"/>
                      <a:tailEnd len="sm" w="sm" type="none"/>
                    </a:lnR>
                    <a:lnT cap="flat" cmpd="sng" w="28575">
                      <a:solidFill>
                        <a:srgbClr val="06B6D4"/>
                      </a:solidFill>
                      <a:prstDash val="solid"/>
                      <a:round/>
                      <a:headEnd len="sm" w="sm" type="none"/>
                      <a:tailEnd len="sm" w="sm" type="none"/>
                    </a:lnT>
                    <a:lnB cap="flat" cmpd="sng" w="28575">
                      <a:solidFill>
                        <a:srgbClr val="06B6D4"/>
                      </a:solidFill>
                      <a:prstDash val="solid"/>
                      <a:round/>
                      <a:headEnd len="sm" w="sm" type="none"/>
                      <a:tailEnd len="sm" w="sm" type="none"/>
                    </a:lnB>
                  </a:tcPr>
                </a:tc>
                <a:tc>
                  <a:txBody>
                    <a:bodyPr/>
                    <a:lstStyle/>
                    <a:p>
                      <a:pPr indent="0" lvl="0" marL="0" marR="0" rtl="0" algn="l">
                        <a:spcBef>
                          <a:spcPts val="0"/>
                        </a:spcBef>
                        <a:spcAft>
                          <a:spcPts val="0"/>
                        </a:spcAft>
                        <a:buNone/>
                      </a:pPr>
                      <a:r>
                        <a:rPr i="0" lang="en-US" sz="1500" u="none" cap="none" strike="noStrike">
                          <a:solidFill>
                            <a:schemeClr val="accent2"/>
                          </a:solidFill>
                          <a:latin typeface="Poppins"/>
                          <a:ea typeface="Poppins"/>
                          <a:cs typeface="Poppins"/>
                          <a:sym typeface="Poppins"/>
                        </a:rPr>
                        <a:t>6</a:t>
                      </a:r>
                      <a:r>
                        <a:rPr lang="en-US" sz="1500">
                          <a:solidFill>
                            <a:schemeClr val="accent2"/>
                          </a:solidFill>
                          <a:latin typeface="Poppins"/>
                          <a:ea typeface="Poppins"/>
                          <a:cs typeface="Poppins"/>
                          <a:sym typeface="Poppins"/>
                        </a:rPr>
                        <a:t>15</a:t>
                      </a:r>
                      <a:r>
                        <a:rPr i="0" lang="en-US" sz="1500" u="none" cap="none" strike="noStrike">
                          <a:solidFill>
                            <a:schemeClr val="accent2"/>
                          </a:solidFill>
                          <a:latin typeface="Poppins"/>
                          <a:ea typeface="Poppins"/>
                          <a:cs typeface="Poppins"/>
                          <a:sym typeface="Poppins"/>
                        </a:rPr>
                        <a:t>.</a:t>
                      </a:r>
                      <a:r>
                        <a:rPr lang="en-US" sz="1500">
                          <a:solidFill>
                            <a:schemeClr val="accent2"/>
                          </a:solidFill>
                          <a:latin typeface="Poppins"/>
                          <a:ea typeface="Poppins"/>
                          <a:cs typeface="Poppins"/>
                          <a:sym typeface="Poppins"/>
                        </a:rPr>
                        <a:t>7</a:t>
                      </a:r>
                      <a:r>
                        <a:rPr i="0" lang="en-US" sz="1500" u="none" cap="none" strike="noStrike">
                          <a:solidFill>
                            <a:schemeClr val="accent2"/>
                          </a:solidFill>
                          <a:latin typeface="Poppins"/>
                          <a:ea typeface="Poppins"/>
                          <a:cs typeface="Poppins"/>
                          <a:sym typeface="Poppins"/>
                        </a:rPr>
                        <a:t> ms</a:t>
                      </a:r>
                      <a:endParaRPr sz="1500">
                        <a:solidFill>
                          <a:schemeClr val="accent2"/>
                        </a:solidFill>
                        <a:latin typeface="Poppins"/>
                        <a:ea typeface="Poppins"/>
                        <a:cs typeface="Poppins"/>
                        <a:sym typeface="Poppins"/>
                      </a:endParaRPr>
                    </a:p>
                  </a:txBody>
                  <a:tcPr marT="25400" marB="25400" marR="63500" marL="63500" anchor="ctr">
                    <a:lnL cap="flat" cmpd="sng" w="28575">
                      <a:solidFill>
                        <a:srgbClr val="06B6D4"/>
                      </a:solidFill>
                      <a:prstDash val="solid"/>
                      <a:round/>
                      <a:headEnd len="sm" w="sm" type="none"/>
                      <a:tailEnd len="sm" w="sm" type="none"/>
                    </a:lnL>
                    <a:lnR cap="flat" cmpd="sng" w="28575">
                      <a:solidFill>
                        <a:srgbClr val="06B6D4"/>
                      </a:solidFill>
                      <a:prstDash val="solid"/>
                      <a:round/>
                      <a:headEnd len="sm" w="sm" type="none"/>
                      <a:tailEnd len="sm" w="sm" type="none"/>
                    </a:lnR>
                    <a:lnT cap="flat" cmpd="sng" w="28575">
                      <a:solidFill>
                        <a:srgbClr val="06B6D4"/>
                      </a:solidFill>
                      <a:prstDash val="solid"/>
                      <a:round/>
                      <a:headEnd len="sm" w="sm" type="none"/>
                      <a:tailEnd len="sm" w="sm" type="none"/>
                    </a:lnT>
                    <a:lnB cap="flat" cmpd="sng" w="28575">
                      <a:solidFill>
                        <a:srgbClr val="06B6D4"/>
                      </a:solidFill>
                      <a:prstDash val="solid"/>
                      <a:round/>
                      <a:headEnd len="sm" w="sm" type="none"/>
                      <a:tailEnd len="sm" w="sm" type="none"/>
                    </a:lnB>
                  </a:tcPr>
                </a:tc>
                <a:tc>
                  <a:txBody>
                    <a:bodyPr/>
                    <a:lstStyle/>
                    <a:p>
                      <a:pPr indent="0" lvl="0" marL="0" marR="0" rtl="0" algn="l">
                        <a:spcBef>
                          <a:spcPts val="0"/>
                        </a:spcBef>
                        <a:spcAft>
                          <a:spcPts val="0"/>
                        </a:spcAft>
                        <a:buNone/>
                      </a:pPr>
                      <a:r>
                        <a:rPr lang="en-US" sz="1500">
                          <a:solidFill>
                            <a:schemeClr val="accent2"/>
                          </a:solidFill>
                          <a:latin typeface="Poppins"/>
                          <a:ea typeface="Poppins"/>
                          <a:cs typeface="Poppins"/>
                          <a:sym typeface="Poppins"/>
                        </a:rPr>
                        <a:t>864</a:t>
                      </a:r>
                      <a:r>
                        <a:rPr i="0" lang="en-US" sz="1500" u="none" cap="none" strike="noStrike">
                          <a:solidFill>
                            <a:schemeClr val="accent2"/>
                          </a:solidFill>
                          <a:latin typeface="Poppins"/>
                          <a:ea typeface="Poppins"/>
                          <a:cs typeface="Poppins"/>
                          <a:sym typeface="Poppins"/>
                        </a:rPr>
                        <a:t>.</a:t>
                      </a:r>
                      <a:r>
                        <a:rPr lang="en-US" sz="1500">
                          <a:solidFill>
                            <a:schemeClr val="accent2"/>
                          </a:solidFill>
                          <a:latin typeface="Poppins"/>
                          <a:ea typeface="Poppins"/>
                          <a:cs typeface="Poppins"/>
                          <a:sym typeface="Poppins"/>
                        </a:rPr>
                        <a:t>0</a:t>
                      </a:r>
                      <a:r>
                        <a:rPr i="0" lang="en-US" sz="1500" u="none" cap="none" strike="noStrike">
                          <a:solidFill>
                            <a:schemeClr val="accent2"/>
                          </a:solidFill>
                          <a:latin typeface="Poppins"/>
                          <a:ea typeface="Poppins"/>
                          <a:cs typeface="Poppins"/>
                          <a:sym typeface="Poppins"/>
                        </a:rPr>
                        <a:t> ms</a:t>
                      </a:r>
                      <a:endParaRPr sz="1500">
                        <a:solidFill>
                          <a:schemeClr val="accent2"/>
                        </a:solidFill>
                        <a:latin typeface="Poppins"/>
                        <a:ea typeface="Poppins"/>
                        <a:cs typeface="Poppins"/>
                        <a:sym typeface="Poppins"/>
                      </a:endParaRPr>
                    </a:p>
                  </a:txBody>
                  <a:tcPr marT="25400" marB="25400" marR="63500" marL="63500" anchor="ctr">
                    <a:lnL cap="flat" cmpd="sng" w="28575">
                      <a:solidFill>
                        <a:srgbClr val="06B6D4"/>
                      </a:solidFill>
                      <a:prstDash val="solid"/>
                      <a:round/>
                      <a:headEnd len="sm" w="sm" type="none"/>
                      <a:tailEnd len="sm" w="sm" type="none"/>
                    </a:lnL>
                    <a:lnR cap="flat" cmpd="sng" w="28575">
                      <a:solidFill>
                        <a:srgbClr val="06B6D4"/>
                      </a:solidFill>
                      <a:prstDash val="solid"/>
                      <a:round/>
                      <a:headEnd len="sm" w="sm" type="none"/>
                      <a:tailEnd len="sm" w="sm" type="none"/>
                    </a:lnR>
                    <a:lnT cap="flat" cmpd="sng" w="28575">
                      <a:solidFill>
                        <a:srgbClr val="06B6D4"/>
                      </a:solidFill>
                      <a:prstDash val="solid"/>
                      <a:round/>
                      <a:headEnd len="sm" w="sm" type="none"/>
                      <a:tailEnd len="sm" w="sm" type="none"/>
                    </a:lnT>
                    <a:lnB cap="flat" cmpd="sng" w="28575">
                      <a:solidFill>
                        <a:srgbClr val="06B6D4"/>
                      </a:solidFill>
                      <a:prstDash val="solid"/>
                      <a:round/>
                      <a:headEnd len="sm" w="sm" type="none"/>
                      <a:tailEnd len="sm" w="sm" type="none"/>
                    </a:lnB>
                  </a:tcPr>
                </a:tc>
              </a:tr>
              <a:tr h="650400">
                <a:tc>
                  <a:txBody>
                    <a:bodyPr/>
                    <a:lstStyle/>
                    <a:p>
                      <a:pPr indent="0" lvl="0" marL="0" marR="0" rtl="0" algn="l">
                        <a:spcBef>
                          <a:spcPts val="0"/>
                        </a:spcBef>
                        <a:spcAft>
                          <a:spcPts val="0"/>
                        </a:spcAft>
                        <a:buNone/>
                      </a:pPr>
                      <a:r>
                        <a:rPr b="1" i="0" lang="en-US" sz="1500" u="none" cap="none" strike="noStrike">
                          <a:latin typeface="Poppins"/>
                          <a:ea typeface="Poppins"/>
                          <a:cs typeface="Poppins"/>
                          <a:sym typeface="Poppins"/>
                        </a:rPr>
                        <a:t>YOLOv8s Float16</a:t>
                      </a:r>
                      <a:endParaRPr b="1" i="0" sz="1500" u="none" cap="none" strike="noStrike">
                        <a:latin typeface="Poppins"/>
                        <a:ea typeface="Poppins"/>
                        <a:cs typeface="Poppins"/>
                        <a:sym typeface="Poppins"/>
                      </a:endParaRPr>
                    </a:p>
                  </a:txBody>
                  <a:tcPr marT="25400" marB="25400" marR="63500" marL="63500" anchor="ctr">
                    <a:lnL cap="flat" cmpd="sng" w="28575">
                      <a:solidFill>
                        <a:srgbClr val="06B6D4"/>
                      </a:solidFill>
                      <a:prstDash val="solid"/>
                      <a:round/>
                      <a:headEnd len="sm" w="sm" type="none"/>
                      <a:tailEnd len="sm" w="sm" type="none"/>
                    </a:lnL>
                    <a:lnR cap="flat" cmpd="sng" w="28575">
                      <a:solidFill>
                        <a:srgbClr val="06B6D4"/>
                      </a:solidFill>
                      <a:prstDash val="solid"/>
                      <a:round/>
                      <a:headEnd len="sm" w="sm" type="none"/>
                      <a:tailEnd len="sm" w="sm" type="none"/>
                    </a:lnR>
                    <a:lnT cap="flat" cmpd="sng" w="28575">
                      <a:solidFill>
                        <a:srgbClr val="06B6D4"/>
                      </a:solidFill>
                      <a:prstDash val="solid"/>
                      <a:round/>
                      <a:headEnd len="sm" w="sm" type="none"/>
                      <a:tailEnd len="sm" w="sm" type="none"/>
                    </a:lnT>
                    <a:lnB cap="flat" cmpd="sng" w="28575">
                      <a:solidFill>
                        <a:srgbClr val="06B6D4"/>
                      </a:solidFill>
                      <a:prstDash val="solid"/>
                      <a:round/>
                      <a:headEnd len="sm" w="sm" type="none"/>
                      <a:tailEnd len="sm" w="sm" type="none"/>
                    </a:lnB>
                  </a:tcPr>
                </a:tc>
                <a:tc>
                  <a:txBody>
                    <a:bodyPr/>
                    <a:lstStyle/>
                    <a:p>
                      <a:pPr indent="0" lvl="0" marL="0" marR="0" rtl="0" algn="l">
                        <a:spcBef>
                          <a:spcPts val="0"/>
                        </a:spcBef>
                        <a:spcAft>
                          <a:spcPts val="0"/>
                        </a:spcAft>
                        <a:buNone/>
                      </a:pPr>
                      <a:r>
                        <a:rPr i="0" lang="en-US" sz="1500" u="none" cap="none" strike="noStrike">
                          <a:latin typeface="Poppins"/>
                          <a:ea typeface="Poppins"/>
                          <a:cs typeface="Poppins"/>
                          <a:sym typeface="Poppins"/>
                        </a:rPr>
                        <a:t>1.</a:t>
                      </a:r>
                      <a:r>
                        <a:rPr lang="en-US" sz="1500">
                          <a:latin typeface="Poppins"/>
                          <a:ea typeface="Poppins"/>
                          <a:cs typeface="Poppins"/>
                          <a:sym typeface="Poppins"/>
                        </a:rPr>
                        <a:t>60</a:t>
                      </a:r>
                      <a:endParaRPr i="0" sz="1500" u="none" cap="none" strike="noStrike">
                        <a:solidFill>
                          <a:schemeClr val="accent2"/>
                        </a:solidFill>
                        <a:latin typeface="Poppins"/>
                        <a:ea typeface="Poppins"/>
                        <a:cs typeface="Poppins"/>
                        <a:sym typeface="Poppins"/>
                      </a:endParaRPr>
                    </a:p>
                  </a:txBody>
                  <a:tcPr marT="25400" marB="25400" marR="63500" marL="63500" anchor="ctr">
                    <a:lnL cap="flat" cmpd="sng" w="28575">
                      <a:solidFill>
                        <a:srgbClr val="06B6D4"/>
                      </a:solidFill>
                      <a:prstDash val="solid"/>
                      <a:round/>
                      <a:headEnd len="sm" w="sm" type="none"/>
                      <a:tailEnd len="sm" w="sm" type="none"/>
                    </a:lnL>
                    <a:lnR cap="flat" cmpd="sng" w="28575">
                      <a:solidFill>
                        <a:srgbClr val="06B6D4"/>
                      </a:solidFill>
                      <a:prstDash val="solid"/>
                      <a:round/>
                      <a:headEnd len="sm" w="sm" type="none"/>
                      <a:tailEnd len="sm" w="sm" type="none"/>
                    </a:lnR>
                    <a:lnT cap="flat" cmpd="sng" w="28575">
                      <a:solidFill>
                        <a:srgbClr val="06B6D4"/>
                      </a:solidFill>
                      <a:prstDash val="solid"/>
                      <a:round/>
                      <a:headEnd len="sm" w="sm" type="none"/>
                      <a:tailEnd len="sm" w="sm" type="none"/>
                    </a:lnT>
                    <a:lnB cap="flat" cmpd="sng" w="28575">
                      <a:solidFill>
                        <a:srgbClr val="06B6D4"/>
                      </a:solidFill>
                      <a:prstDash val="solid"/>
                      <a:round/>
                      <a:headEnd len="sm" w="sm" type="none"/>
                      <a:tailEnd len="sm" w="sm" type="none"/>
                    </a:lnB>
                  </a:tcPr>
                </a:tc>
                <a:tc>
                  <a:txBody>
                    <a:bodyPr/>
                    <a:lstStyle/>
                    <a:p>
                      <a:pPr indent="0" lvl="0" marL="0" marR="0" rtl="0" algn="l">
                        <a:spcBef>
                          <a:spcPts val="0"/>
                        </a:spcBef>
                        <a:spcAft>
                          <a:spcPts val="0"/>
                        </a:spcAft>
                        <a:buNone/>
                      </a:pPr>
                      <a:r>
                        <a:rPr i="0" lang="en-US" sz="1500" u="none" cap="none" strike="noStrike">
                          <a:latin typeface="Poppins"/>
                          <a:ea typeface="Poppins"/>
                          <a:cs typeface="Poppins"/>
                          <a:sym typeface="Poppins"/>
                        </a:rPr>
                        <a:t>6</a:t>
                      </a:r>
                      <a:r>
                        <a:rPr lang="en-US" sz="1500">
                          <a:latin typeface="Poppins"/>
                          <a:ea typeface="Poppins"/>
                          <a:cs typeface="Poppins"/>
                          <a:sym typeface="Poppins"/>
                        </a:rPr>
                        <a:t>25</a:t>
                      </a:r>
                      <a:r>
                        <a:rPr i="0" lang="en-US" sz="1500" u="none" cap="none" strike="noStrike">
                          <a:latin typeface="Poppins"/>
                          <a:ea typeface="Poppins"/>
                          <a:cs typeface="Poppins"/>
                          <a:sym typeface="Poppins"/>
                        </a:rPr>
                        <a:t>.</a:t>
                      </a:r>
                      <a:r>
                        <a:rPr lang="en-US" sz="1500">
                          <a:latin typeface="Poppins"/>
                          <a:ea typeface="Poppins"/>
                          <a:cs typeface="Poppins"/>
                          <a:sym typeface="Poppins"/>
                        </a:rPr>
                        <a:t>8</a:t>
                      </a:r>
                      <a:r>
                        <a:rPr i="0" lang="en-US" sz="1500" u="none" cap="none" strike="noStrike">
                          <a:latin typeface="Poppins"/>
                          <a:ea typeface="Poppins"/>
                          <a:cs typeface="Poppins"/>
                          <a:sym typeface="Poppins"/>
                        </a:rPr>
                        <a:t> ms</a:t>
                      </a:r>
                      <a:endParaRPr i="0" sz="1500" u="none" cap="none" strike="noStrike">
                        <a:solidFill>
                          <a:schemeClr val="accent2"/>
                        </a:solidFill>
                        <a:latin typeface="Poppins"/>
                        <a:ea typeface="Poppins"/>
                        <a:cs typeface="Poppins"/>
                        <a:sym typeface="Poppins"/>
                      </a:endParaRPr>
                    </a:p>
                  </a:txBody>
                  <a:tcPr marT="25400" marB="25400" marR="63500" marL="63500" anchor="ctr">
                    <a:lnL cap="flat" cmpd="sng" w="28575">
                      <a:solidFill>
                        <a:srgbClr val="06B6D4"/>
                      </a:solidFill>
                      <a:prstDash val="solid"/>
                      <a:round/>
                      <a:headEnd len="sm" w="sm" type="none"/>
                      <a:tailEnd len="sm" w="sm" type="none"/>
                    </a:lnL>
                    <a:lnR cap="flat" cmpd="sng" w="28575">
                      <a:solidFill>
                        <a:srgbClr val="06B6D4"/>
                      </a:solidFill>
                      <a:prstDash val="solid"/>
                      <a:round/>
                      <a:headEnd len="sm" w="sm" type="none"/>
                      <a:tailEnd len="sm" w="sm" type="none"/>
                    </a:lnR>
                    <a:lnT cap="flat" cmpd="sng" w="28575">
                      <a:solidFill>
                        <a:srgbClr val="06B6D4"/>
                      </a:solidFill>
                      <a:prstDash val="solid"/>
                      <a:round/>
                      <a:headEnd len="sm" w="sm" type="none"/>
                      <a:tailEnd len="sm" w="sm" type="none"/>
                    </a:lnT>
                    <a:lnB cap="flat" cmpd="sng" w="28575">
                      <a:solidFill>
                        <a:srgbClr val="06B6D4"/>
                      </a:solidFill>
                      <a:prstDash val="solid"/>
                      <a:round/>
                      <a:headEnd len="sm" w="sm" type="none"/>
                      <a:tailEnd len="sm" w="sm" type="none"/>
                    </a:lnB>
                  </a:tcPr>
                </a:tc>
                <a:tc>
                  <a:txBody>
                    <a:bodyPr/>
                    <a:lstStyle/>
                    <a:p>
                      <a:pPr indent="0" lvl="0" marL="0" marR="0" rtl="0" algn="l">
                        <a:spcBef>
                          <a:spcPts val="0"/>
                        </a:spcBef>
                        <a:spcAft>
                          <a:spcPts val="0"/>
                        </a:spcAft>
                        <a:buNone/>
                      </a:pPr>
                      <a:r>
                        <a:rPr i="0" lang="en-US" sz="1500" u="none" cap="none" strike="noStrike">
                          <a:latin typeface="Poppins"/>
                          <a:ea typeface="Poppins"/>
                          <a:cs typeface="Poppins"/>
                          <a:sym typeface="Poppins"/>
                        </a:rPr>
                        <a:t>61</a:t>
                      </a:r>
                      <a:r>
                        <a:rPr lang="en-US" sz="1500">
                          <a:latin typeface="Poppins"/>
                          <a:ea typeface="Poppins"/>
                          <a:cs typeface="Poppins"/>
                          <a:sym typeface="Poppins"/>
                        </a:rPr>
                        <a:t>3</a:t>
                      </a:r>
                      <a:r>
                        <a:rPr i="0" lang="en-US" sz="1500" u="none" cap="none" strike="noStrike">
                          <a:latin typeface="Poppins"/>
                          <a:ea typeface="Poppins"/>
                          <a:cs typeface="Poppins"/>
                          <a:sym typeface="Poppins"/>
                        </a:rPr>
                        <a:t>.</a:t>
                      </a:r>
                      <a:r>
                        <a:rPr lang="en-US" sz="1500">
                          <a:latin typeface="Poppins"/>
                          <a:ea typeface="Poppins"/>
                          <a:cs typeface="Poppins"/>
                          <a:sym typeface="Poppins"/>
                        </a:rPr>
                        <a:t>2</a:t>
                      </a:r>
                      <a:r>
                        <a:rPr i="0" lang="en-US" sz="1500" u="none" cap="none" strike="noStrike">
                          <a:latin typeface="Poppins"/>
                          <a:ea typeface="Poppins"/>
                          <a:cs typeface="Poppins"/>
                          <a:sym typeface="Poppins"/>
                        </a:rPr>
                        <a:t> ms</a:t>
                      </a:r>
                      <a:endParaRPr i="0" sz="1500" u="none" cap="none" strike="noStrike">
                        <a:solidFill>
                          <a:schemeClr val="accent2"/>
                        </a:solidFill>
                        <a:latin typeface="Poppins"/>
                        <a:ea typeface="Poppins"/>
                        <a:cs typeface="Poppins"/>
                        <a:sym typeface="Poppins"/>
                      </a:endParaRPr>
                    </a:p>
                  </a:txBody>
                  <a:tcPr marT="25400" marB="25400" marR="63500" marL="63500" anchor="ctr">
                    <a:lnL cap="flat" cmpd="sng" w="28575">
                      <a:solidFill>
                        <a:srgbClr val="06B6D4"/>
                      </a:solidFill>
                      <a:prstDash val="solid"/>
                      <a:round/>
                      <a:headEnd len="sm" w="sm" type="none"/>
                      <a:tailEnd len="sm" w="sm" type="none"/>
                    </a:lnL>
                    <a:lnR cap="flat" cmpd="sng" w="28575">
                      <a:solidFill>
                        <a:srgbClr val="06B6D4"/>
                      </a:solidFill>
                      <a:prstDash val="solid"/>
                      <a:round/>
                      <a:headEnd len="sm" w="sm" type="none"/>
                      <a:tailEnd len="sm" w="sm" type="none"/>
                    </a:lnR>
                    <a:lnT cap="flat" cmpd="sng" w="28575">
                      <a:solidFill>
                        <a:srgbClr val="06B6D4"/>
                      </a:solidFill>
                      <a:prstDash val="solid"/>
                      <a:round/>
                      <a:headEnd len="sm" w="sm" type="none"/>
                      <a:tailEnd len="sm" w="sm" type="none"/>
                    </a:lnT>
                    <a:lnB cap="flat" cmpd="sng" w="28575">
                      <a:solidFill>
                        <a:srgbClr val="06B6D4"/>
                      </a:solidFill>
                      <a:prstDash val="solid"/>
                      <a:round/>
                      <a:headEnd len="sm" w="sm" type="none"/>
                      <a:tailEnd len="sm" w="sm" type="none"/>
                    </a:lnB>
                  </a:tcPr>
                </a:tc>
                <a:tc>
                  <a:txBody>
                    <a:bodyPr/>
                    <a:lstStyle/>
                    <a:p>
                      <a:pPr indent="0" lvl="0" marL="0" marR="0" rtl="0" algn="l">
                        <a:spcBef>
                          <a:spcPts val="0"/>
                        </a:spcBef>
                        <a:spcAft>
                          <a:spcPts val="0"/>
                        </a:spcAft>
                        <a:buNone/>
                      </a:pPr>
                      <a:r>
                        <a:rPr i="0" lang="en-US" sz="1500" u="none" cap="none" strike="noStrike">
                          <a:latin typeface="Poppins"/>
                          <a:ea typeface="Poppins"/>
                          <a:cs typeface="Poppins"/>
                          <a:sym typeface="Poppins"/>
                        </a:rPr>
                        <a:t>6</a:t>
                      </a:r>
                      <a:r>
                        <a:rPr lang="en-US" sz="1500">
                          <a:latin typeface="Poppins"/>
                          <a:ea typeface="Poppins"/>
                          <a:cs typeface="Poppins"/>
                          <a:sym typeface="Poppins"/>
                        </a:rPr>
                        <a:t>55</a:t>
                      </a:r>
                      <a:r>
                        <a:rPr i="0" lang="en-US" sz="1500" u="none" cap="none" strike="noStrike">
                          <a:latin typeface="Poppins"/>
                          <a:ea typeface="Poppins"/>
                          <a:cs typeface="Poppins"/>
                          <a:sym typeface="Poppins"/>
                        </a:rPr>
                        <a:t>.</a:t>
                      </a:r>
                      <a:r>
                        <a:rPr lang="en-US" sz="1500">
                          <a:latin typeface="Poppins"/>
                          <a:ea typeface="Poppins"/>
                          <a:cs typeface="Poppins"/>
                          <a:sym typeface="Poppins"/>
                        </a:rPr>
                        <a:t>4</a:t>
                      </a:r>
                      <a:r>
                        <a:rPr i="0" lang="en-US" sz="1500" u="none" cap="none" strike="noStrike">
                          <a:latin typeface="Poppins"/>
                          <a:ea typeface="Poppins"/>
                          <a:cs typeface="Poppins"/>
                          <a:sym typeface="Poppins"/>
                        </a:rPr>
                        <a:t> ms</a:t>
                      </a:r>
                      <a:endParaRPr i="0" sz="1500" u="none" cap="none" strike="noStrike">
                        <a:solidFill>
                          <a:schemeClr val="accent2"/>
                        </a:solidFill>
                        <a:latin typeface="Poppins"/>
                        <a:ea typeface="Poppins"/>
                        <a:cs typeface="Poppins"/>
                        <a:sym typeface="Poppins"/>
                      </a:endParaRPr>
                    </a:p>
                  </a:txBody>
                  <a:tcPr marT="25400" marB="25400" marR="63500" marL="63500" anchor="ctr">
                    <a:lnL cap="flat" cmpd="sng" w="28575">
                      <a:solidFill>
                        <a:srgbClr val="06B6D4"/>
                      </a:solidFill>
                      <a:prstDash val="solid"/>
                      <a:round/>
                      <a:headEnd len="sm" w="sm" type="none"/>
                      <a:tailEnd len="sm" w="sm" type="none"/>
                    </a:lnL>
                    <a:lnR cap="flat" cmpd="sng" w="28575">
                      <a:solidFill>
                        <a:srgbClr val="06B6D4"/>
                      </a:solidFill>
                      <a:prstDash val="solid"/>
                      <a:round/>
                      <a:headEnd len="sm" w="sm" type="none"/>
                      <a:tailEnd len="sm" w="sm" type="none"/>
                    </a:lnR>
                    <a:lnT cap="flat" cmpd="sng" w="28575">
                      <a:solidFill>
                        <a:srgbClr val="06B6D4"/>
                      </a:solidFill>
                      <a:prstDash val="solid"/>
                      <a:round/>
                      <a:headEnd len="sm" w="sm" type="none"/>
                      <a:tailEnd len="sm" w="sm" type="none"/>
                    </a:lnT>
                    <a:lnB cap="flat" cmpd="sng" w="28575">
                      <a:solidFill>
                        <a:srgbClr val="06B6D4"/>
                      </a:solidFill>
                      <a:prstDash val="solid"/>
                      <a:round/>
                      <a:headEnd len="sm" w="sm" type="none"/>
                      <a:tailEnd len="sm" w="sm" type="none"/>
                    </a:lnB>
                  </a:tcPr>
                </a:tc>
              </a:tr>
              <a:tr h="650400">
                <a:tc>
                  <a:txBody>
                    <a:bodyPr/>
                    <a:lstStyle/>
                    <a:p>
                      <a:pPr indent="0" lvl="0" marL="0" marR="0" rtl="0" algn="l">
                        <a:spcBef>
                          <a:spcPts val="0"/>
                        </a:spcBef>
                        <a:spcAft>
                          <a:spcPts val="0"/>
                        </a:spcAft>
                        <a:buNone/>
                      </a:pPr>
                      <a:r>
                        <a:rPr b="1" i="0" lang="en-US" sz="1500" u="none" cap="none" strike="noStrike">
                          <a:latin typeface="Poppins"/>
                          <a:ea typeface="Poppins"/>
                          <a:cs typeface="Poppins"/>
                          <a:sym typeface="Poppins"/>
                        </a:rPr>
                        <a:t>YOLO11n Float32</a:t>
                      </a:r>
                      <a:endParaRPr b="1" i="0" sz="1500" u="none" cap="none" strike="noStrike">
                        <a:latin typeface="Poppins"/>
                        <a:ea typeface="Poppins"/>
                        <a:cs typeface="Poppins"/>
                        <a:sym typeface="Poppins"/>
                      </a:endParaRPr>
                    </a:p>
                  </a:txBody>
                  <a:tcPr marT="25400" marB="25400" marR="63500" marL="63500" anchor="ctr">
                    <a:lnL cap="flat" cmpd="sng" w="28575">
                      <a:solidFill>
                        <a:srgbClr val="06B6D4"/>
                      </a:solidFill>
                      <a:prstDash val="solid"/>
                      <a:round/>
                      <a:headEnd len="sm" w="sm" type="none"/>
                      <a:tailEnd len="sm" w="sm" type="none"/>
                    </a:lnL>
                    <a:lnR cap="flat" cmpd="sng" w="28575">
                      <a:solidFill>
                        <a:srgbClr val="06B6D4"/>
                      </a:solidFill>
                      <a:prstDash val="solid"/>
                      <a:round/>
                      <a:headEnd len="sm" w="sm" type="none"/>
                      <a:tailEnd len="sm" w="sm" type="none"/>
                    </a:lnR>
                    <a:lnT cap="flat" cmpd="sng" w="28575">
                      <a:solidFill>
                        <a:srgbClr val="06B6D4"/>
                      </a:solidFill>
                      <a:prstDash val="solid"/>
                      <a:round/>
                      <a:headEnd len="sm" w="sm" type="none"/>
                      <a:tailEnd len="sm" w="sm" type="none"/>
                    </a:lnT>
                    <a:lnB cap="flat" cmpd="sng" w="28575">
                      <a:solidFill>
                        <a:srgbClr val="06B6D4"/>
                      </a:solidFill>
                      <a:prstDash val="solid"/>
                      <a:round/>
                      <a:headEnd len="sm" w="sm" type="none"/>
                      <a:tailEnd len="sm" w="sm" type="none"/>
                    </a:lnB>
                  </a:tcPr>
                </a:tc>
                <a:tc>
                  <a:txBody>
                    <a:bodyPr/>
                    <a:lstStyle/>
                    <a:p>
                      <a:pPr indent="0" lvl="0" marL="0" marR="0" rtl="0" algn="l">
                        <a:spcBef>
                          <a:spcPts val="0"/>
                        </a:spcBef>
                        <a:spcAft>
                          <a:spcPts val="0"/>
                        </a:spcAft>
                        <a:buNone/>
                      </a:pPr>
                      <a:r>
                        <a:rPr i="0" lang="en-US" sz="1500" u="none" cap="none" strike="noStrike">
                          <a:latin typeface="Poppins"/>
                          <a:ea typeface="Poppins"/>
                          <a:cs typeface="Poppins"/>
                          <a:sym typeface="Poppins"/>
                        </a:rPr>
                        <a:t>5.</a:t>
                      </a:r>
                      <a:r>
                        <a:rPr lang="en-US" sz="1500">
                          <a:latin typeface="Poppins"/>
                          <a:ea typeface="Poppins"/>
                          <a:cs typeface="Poppins"/>
                          <a:sym typeface="Poppins"/>
                        </a:rPr>
                        <a:t>28</a:t>
                      </a:r>
                      <a:endParaRPr i="0" sz="1500" u="none" cap="none" strike="noStrike">
                        <a:solidFill>
                          <a:schemeClr val="accent2"/>
                        </a:solidFill>
                        <a:latin typeface="Poppins"/>
                        <a:ea typeface="Poppins"/>
                        <a:cs typeface="Poppins"/>
                        <a:sym typeface="Poppins"/>
                      </a:endParaRPr>
                    </a:p>
                  </a:txBody>
                  <a:tcPr marT="25400" marB="25400" marR="63500" marL="63500" anchor="ctr">
                    <a:lnL cap="flat" cmpd="sng" w="28575">
                      <a:solidFill>
                        <a:srgbClr val="06B6D4"/>
                      </a:solidFill>
                      <a:prstDash val="solid"/>
                      <a:round/>
                      <a:headEnd len="sm" w="sm" type="none"/>
                      <a:tailEnd len="sm" w="sm" type="none"/>
                    </a:lnL>
                    <a:lnR cap="flat" cmpd="sng" w="28575">
                      <a:solidFill>
                        <a:srgbClr val="06B6D4"/>
                      </a:solidFill>
                      <a:prstDash val="solid"/>
                      <a:round/>
                      <a:headEnd len="sm" w="sm" type="none"/>
                      <a:tailEnd len="sm" w="sm" type="none"/>
                    </a:lnR>
                    <a:lnT cap="flat" cmpd="sng" w="28575">
                      <a:solidFill>
                        <a:srgbClr val="06B6D4"/>
                      </a:solidFill>
                      <a:prstDash val="solid"/>
                      <a:round/>
                      <a:headEnd len="sm" w="sm" type="none"/>
                      <a:tailEnd len="sm" w="sm" type="none"/>
                    </a:lnT>
                    <a:lnB cap="flat" cmpd="sng" w="28575">
                      <a:solidFill>
                        <a:srgbClr val="06B6D4"/>
                      </a:solidFill>
                      <a:prstDash val="solid"/>
                      <a:round/>
                      <a:headEnd len="sm" w="sm" type="none"/>
                      <a:tailEnd len="sm" w="sm" type="none"/>
                    </a:lnB>
                  </a:tcPr>
                </a:tc>
                <a:tc>
                  <a:txBody>
                    <a:bodyPr/>
                    <a:lstStyle/>
                    <a:p>
                      <a:pPr indent="0" lvl="0" marL="0" marR="0" rtl="0" algn="l">
                        <a:spcBef>
                          <a:spcPts val="0"/>
                        </a:spcBef>
                        <a:spcAft>
                          <a:spcPts val="0"/>
                        </a:spcAft>
                        <a:buNone/>
                      </a:pPr>
                      <a:r>
                        <a:rPr i="0" lang="en-US" sz="1500" u="none" cap="none" strike="noStrike">
                          <a:latin typeface="Poppins"/>
                          <a:ea typeface="Poppins"/>
                          <a:cs typeface="Poppins"/>
                          <a:sym typeface="Poppins"/>
                        </a:rPr>
                        <a:t>1</a:t>
                      </a:r>
                      <a:r>
                        <a:rPr lang="en-US" sz="1500">
                          <a:latin typeface="Poppins"/>
                          <a:ea typeface="Poppins"/>
                          <a:cs typeface="Poppins"/>
                          <a:sym typeface="Poppins"/>
                        </a:rPr>
                        <a:t>89</a:t>
                      </a:r>
                      <a:r>
                        <a:rPr i="0" lang="en-US" sz="1500" u="none" cap="none" strike="noStrike">
                          <a:latin typeface="Poppins"/>
                          <a:ea typeface="Poppins"/>
                          <a:cs typeface="Poppins"/>
                          <a:sym typeface="Poppins"/>
                        </a:rPr>
                        <a:t>.</a:t>
                      </a:r>
                      <a:r>
                        <a:rPr lang="en-US" sz="1500">
                          <a:latin typeface="Poppins"/>
                          <a:ea typeface="Poppins"/>
                          <a:cs typeface="Poppins"/>
                          <a:sym typeface="Poppins"/>
                        </a:rPr>
                        <a:t>2</a:t>
                      </a:r>
                      <a:r>
                        <a:rPr i="0" lang="en-US" sz="1500" u="none" cap="none" strike="noStrike">
                          <a:latin typeface="Poppins"/>
                          <a:ea typeface="Poppins"/>
                          <a:cs typeface="Poppins"/>
                          <a:sym typeface="Poppins"/>
                        </a:rPr>
                        <a:t> ms</a:t>
                      </a:r>
                      <a:endParaRPr i="0" sz="1500" u="none" cap="none" strike="noStrike">
                        <a:solidFill>
                          <a:schemeClr val="accent2"/>
                        </a:solidFill>
                        <a:latin typeface="Poppins"/>
                        <a:ea typeface="Poppins"/>
                        <a:cs typeface="Poppins"/>
                        <a:sym typeface="Poppins"/>
                      </a:endParaRPr>
                    </a:p>
                  </a:txBody>
                  <a:tcPr marT="25400" marB="25400" marR="63500" marL="63500" anchor="ctr">
                    <a:lnL cap="flat" cmpd="sng" w="28575">
                      <a:solidFill>
                        <a:srgbClr val="06B6D4"/>
                      </a:solidFill>
                      <a:prstDash val="solid"/>
                      <a:round/>
                      <a:headEnd len="sm" w="sm" type="none"/>
                      <a:tailEnd len="sm" w="sm" type="none"/>
                    </a:lnL>
                    <a:lnR cap="flat" cmpd="sng" w="28575">
                      <a:solidFill>
                        <a:srgbClr val="06B6D4"/>
                      </a:solidFill>
                      <a:prstDash val="solid"/>
                      <a:round/>
                      <a:headEnd len="sm" w="sm" type="none"/>
                      <a:tailEnd len="sm" w="sm" type="none"/>
                    </a:lnR>
                    <a:lnT cap="flat" cmpd="sng" w="28575">
                      <a:solidFill>
                        <a:srgbClr val="06B6D4"/>
                      </a:solidFill>
                      <a:prstDash val="solid"/>
                      <a:round/>
                      <a:headEnd len="sm" w="sm" type="none"/>
                      <a:tailEnd len="sm" w="sm" type="none"/>
                    </a:lnT>
                    <a:lnB cap="flat" cmpd="sng" w="28575">
                      <a:solidFill>
                        <a:srgbClr val="06B6D4"/>
                      </a:solidFill>
                      <a:prstDash val="solid"/>
                      <a:round/>
                      <a:headEnd len="sm" w="sm" type="none"/>
                      <a:tailEnd len="sm" w="sm" type="none"/>
                    </a:lnB>
                  </a:tcPr>
                </a:tc>
                <a:tc>
                  <a:txBody>
                    <a:bodyPr/>
                    <a:lstStyle/>
                    <a:p>
                      <a:pPr indent="0" lvl="0" marL="0" marR="0" rtl="0" algn="l">
                        <a:spcBef>
                          <a:spcPts val="0"/>
                        </a:spcBef>
                        <a:spcAft>
                          <a:spcPts val="0"/>
                        </a:spcAft>
                        <a:buNone/>
                      </a:pPr>
                      <a:r>
                        <a:rPr i="0" lang="en-US" sz="1500" u="none" cap="none" strike="noStrike">
                          <a:latin typeface="Poppins"/>
                          <a:ea typeface="Poppins"/>
                          <a:cs typeface="Poppins"/>
                          <a:sym typeface="Poppins"/>
                        </a:rPr>
                        <a:t>1</a:t>
                      </a:r>
                      <a:r>
                        <a:rPr lang="en-US" sz="1500">
                          <a:latin typeface="Poppins"/>
                          <a:ea typeface="Poppins"/>
                          <a:cs typeface="Poppins"/>
                          <a:sym typeface="Poppins"/>
                        </a:rPr>
                        <a:t>87</a:t>
                      </a:r>
                      <a:r>
                        <a:rPr i="0" lang="en-US" sz="1500" u="none" cap="none" strike="noStrike">
                          <a:latin typeface="Poppins"/>
                          <a:ea typeface="Poppins"/>
                          <a:cs typeface="Poppins"/>
                          <a:sym typeface="Poppins"/>
                        </a:rPr>
                        <a:t>.</a:t>
                      </a:r>
                      <a:r>
                        <a:rPr lang="en-US" sz="1500">
                          <a:latin typeface="Poppins"/>
                          <a:ea typeface="Poppins"/>
                          <a:cs typeface="Poppins"/>
                          <a:sym typeface="Poppins"/>
                        </a:rPr>
                        <a:t>5</a:t>
                      </a:r>
                      <a:r>
                        <a:rPr i="0" lang="en-US" sz="1500" u="none" cap="none" strike="noStrike">
                          <a:latin typeface="Poppins"/>
                          <a:ea typeface="Poppins"/>
                          <a:cs typeface="Poppins"/>
                          <a:sym typeface="Poppins"/>
                        </a:rPr>
                        <a:t> ms</a:t>
                      </a:r>
                      <a:endParaRPr i="0" sz="1500" u="none" cap="none" strike="noStrike">
                        <a:solidFill>
                          <a:schemeClr val="accent2"/>
                        </a:solidFill>
                        <a:latin typeface="Poppins"/>
                        <a:ea typeface="Poppins"/>
                        <a:cs typeface="Poppins"/>
                        <a:sym typeface="Poppins"/>
                      </a:endParaRPr>
                    </a:p>
                  </a:txBody>
                  <a:tcPr marT="25400" marB="25400" marR="63500" marL="63500" anchor="ctr">
                    <a:lnL cap="flat" cmpd="sng" w="28575">
                      <a:solidFill>
                        <a:srgbClr val="06B6D4"/>
                      </a:solidFill>
                      <a:prstDash val="solid"/>
                      <a:round/>
                      <a:headEnd len="sm" w="sm" type="none"/>
                      <a:tailEnd len="sm" w="sm" type="none"/>
                    </a:lnL>
                    <a:lnR cap="flat" cmpd="sng" w="28575">
                      <a:solidFill>
                        <a:srgbClr val="06B6D4"/>
                      </a:solidFill>
                      <a:prstDash val="solid"/>
                      <a:round/>
                      <a:headEnd len="sm" w="sm" type="none"/>
                      <a:tailEnd len="sm" w="sm" type="none"/>
                    </a:lnR>
                    <a:lnT cap="flat" cmpd="sng" w="28575">
                      <a:solidFill>
                        <a:srgbClr val="06B6D4"/>
                      </a:solidFill>
                      <a:prstDash val="solid"/>
                      <a:round/>
                      <a:headEnd len="sm" w="sm" type="none"/>
                      <a:tailEnd len="sm" w="sm" type="none"/>
                    </a:lnT>
                    <a:lnB cap="flat" cmpd="sng" w="28575">
                      <a:solidFill>
                        <a:srgbClr val="06B6D4"/>
                      </a:solidFill>
                      <a:prstDash val="solid"/>
                      <a:round/>
                      <a:headEnd len="sm" w="sm" type="none"/>
                      <a:tailEnd len="sm" w="sm" type="none"/>
                    </a:lnB>
                  </a:tcPr>
                </a:tc>
                <a:tc>
                  <a:txBody>
                    <a:bodyPr/>
                    <a:lstStyle/>
                    <a:p>
                      <a:pPr indent="0" lvl="0" marL="0" marR="0" rtl="0" algn="l">
                        <a:spcBef>
                          <a:spcPts val="0"/>
                        </a:spcBef>
                        <a:spcAft>
                          <a:spcPts val="0"/>
                        </a:spcAft>
                        <a:buNone/>
                      </a:pPr>
                      <a:r>
                        <a:rPr lang="en-US" sz="1500">
                          <a:latin typeface="Poppins"/>
                          <a:ea typeface="Poppins"/>
                          <a:cs typeface="Poppins"/>
                          <a:sym typeface="Poppins"/>
                        </a:rPr>
                        <a:t>195</a:t>
                      </a:r>
                      <a:r>
                        <a:rPr i="0" lang="en-US" sz="1500" u="none" cap="none" strike="noStrike">
                          <a:latin typeface="Poppins"/>
                          <a:ea typeface="Poppins"/>
                          <a:cs typeface="Poppins"/>
                          <a:sym typeface="Poppins"/>
                        </a:rPr>
                        <a:t>.</a:t>
                      </a:r>
                      <a:r>
                        <a:rPr lang="en-US" sz="1500">
                          <a:latin typeface="Poppins"/>
                          <a:ea typeface="Poppins"/>
                          <a:cs typeface="Poppins"/>
                          <a:sym typeface="Poppins"/>
                        </a:rPr>
                        <a:t>9</a:t>
                      </a:r>
                      <a:r>
                        <a:rPr i="0" lang="en-US" sz="1500" u="none" cap="none" strike="noStrike">
                          <a:latin typeface="Poppins"/>
                          <a:ea typeface="Poppins"/>
                          <a:cs typeface="Poppins"/>
                          <a:sym typeface="Poppins"/>
                        </a:rPr>
                        <a:t> ms</a:t>
                      </a:r>
                      <a:endParaRPr i="0" sz="1500" u="none" cap="none" strike="noStrike">
                        <a:solidFill>
                          <a:schemeClr val="accent2"/>
                        </a:solidFill>
                        <a:latin typeface="Poppins"/>
                        <a:ea typeface="Poppins"/>
                        <a:cs typeface="Poppins"/>
                        <a:sym typeface="Poppins"/>
                      </a:endParaRPr>
                    </a:p>
                  </a:txBody>
                  <a:tcPr marT="25400" marB="25400" marR="63500" marL="63500" anchor="ctr">
                    <a:lnL cap="flat" cmpd="sng" w="28575">
                      <a:solidFill>
                        <a:srgbClr val="06B6D4"/>
                      </a:solidFill>
                      <a:prstDash val="solid"/>
                      <a:round/>
                      <a:headEnd len="sm" w="sm" type="none"/>
                      <a:tailEnd len="sm" w="sm" type="none"/>
                    </a:lnL>
                    <a:lnR cap="flat" cmpd="sng" w="28575">
                      <a:solidFill>
                        <a:srgbClr val="06B6D4"/>
                      </a:solidFill>
                      <a:prstDash val="solid"/>
                      <a:round/>
                      <a:headEnd len="sm" w="sm" type="none"/>
                      <a:tailEnd len="sm" w="sm" type="none"/>
                    </a:lnR>
                    <a:lnT cap="flat" cmpd="sng" w="28575">
                      <a:solidFill>
                        <a:srgbClr val="06B6D4"/>
                      </a:solidFill>
                      <a:prstDash val="solid"/>
                      <a:round/>
                      <a:headEnd len="sm" w="sm" type="none"/>
                      <a:tailEnd len="sm" w="sm" type="none"/>
                    </a:lnT>
                    <a:lnB cap="flat" cmpd="sng" w="28575">
                      <a:solidFill>
                        <a:srgbClr val="06B6D4"/>
                      </a:solidFill>
                      <a:prstDash val="solid"/>
                      <a:round/>
                      <a:headEnd len="sm" w="sm" type="none"/>
                      <a:tailEnd len="sm" w="sm" type="none"/>
                    </a:lnB>
                  </a:tcPr>
                </a:tc>
              </a:tr>
              <a:tr h="650400">
                <a:tc>
                  <a:txBody>
                    <a:bodyPr/>
                    <a:lstStyle/>
                    <a:p>
                      <a:pPr indent="0" lvl="0" marL="0" marR="0" rtl="0" algn="l">
                        <a:spcBef>
                          <a:spcPts val="0"/>
                        </a:spcBef>
                        <a:spcAft>
                          <a:spcPts val="0"/>
                        </a:spcAft>
                        <a:buNone/>
                      </a:pPr>
                      <a:r>
                        <a:rPr b="1" i="0" lang="en-US" sz="1500" u="none" cap="none" strike="noStrike">
                          <a:latin typeface="Poppins"/>
                          <a:ea typeface="Poppins"/>
                          <a:cs typeface="Poppins"/>
                          <a:sym typeface="Poppins"/>
                        </a:rPr>
                        <a:t>YOLO11n Float16</a:t>
                      </a:r>
                      <a:endParaRPr b="1" i="0" sz="1500" u="none" cap="none" strike="noStrike">
                        <a:latin typeface="Poppins"/>
                        <a:ea typeface="Poppins"/>
                        <a:cs typeface="Poppins"/>
                        <a:sym typeface="Poppins"/>
                      </a:endParaRPr>
                    </a:p>
                  </a:txBody>
                  <a:tcPr marT="25400" marB="25400" marR="63500" marL="63500" anchor="ctr">
                    <a:lnL cap="flat" cmpd="sng" w="28575">
                      <a:solidFill>
                        <a:srgbClr val="06B6D4"/>
                      </a:solidFill>
                      <a:prstDash val="solid"/>
                      <a:round/>
                      <a:headEnd len="sm" w="sm" type="none"/>
                      <a:tailEnd len="sm" w="sm" type="none"/>
                    </a:lnL>
                    <a:lnR cap="flat" cmpd="sng" w="28575">
                      <a:solidFill>
                        <a:srgbClr val="06B6D4"/>
                      </a:solidFill>
                      <a:prstDash val="solid"/>
                      <a:round/>
                      <a:headEnd len="sm" w="sm" type="none"/>
                      <a:tailEnd len="sm" w="sm" type="none"/>
                    </a:lnR>
                    <a:lnT cap="flat" cmpd="sng" w="28575">
                      <a:solidFill>
                        <a:srgbClr val="06B6D4"/>
                      </a:solidFill>
                      <a:prstDash val="solid"/>
                      <a:round/>
                      <a:headEnd len="sm" w="sm" type="none"/>
                      <a:tailEnd len="sm" w="sm" type="none"/>
                    </a:lnT>
                    <a:lnB cap="flat" cmpd="sng" w="28575">
                      <a:solidFill>
                        <a:srgbClr val="06B6D4"/>
                      </a:solidFill>
                      <a:prstDash val="solid"/>
                      <a:round/>
                      <a:headEnd len="sm" w="sm" type="none"/>
                      <a:tailEnd len="sm" w="sm" type="none"/>
                    </a:lnB>
                  </a:tcPr>
                </a:tc>
                <a:tc>
                  <a:txBody>
                    <a:bodyPr/>
                    <a:lstStyle/>
                    <a:p>
                      <a:pPr indent="0" lvl="0" marL="0" marR="0" rtl="0" algn="l">
                        <a:spcBef>
                          <a:spcPts val="0"/>
                        </a:spcBef>
                        <a:spcAft>
                          <a:spcPts val="0"/>
                        </a:spcAft>
                        <a:buNone/>
                      </a:pPr>
                      <a:r>
                        <a:rPr i="0" lang="en-US" sz="1500" u="none" cap="none" strike="noStrike">
                          <a:latin typeface="Poppins"/>
                          <a:ea typeface="Poppins"/>
                          <a:cs typeface="Poppins"/>
                          <a:sym typeface="Poppins"/>
                        </a:rPr>
                        <a:t>5.</a:t>
                      </a:r>
                      <a:r>
                        <a:rPr lang="en-US" sz="1500">
                          <a:latin typeface="Poppins"/>
                          <a:ea typeface="Poppins"/>
                          <a:cs typeface="Poppins"/>
                          <a:sym typeface="Poppins"/>
                        </a:rPr>
                        <a:t>26</a:t>
                      </a:r>
                      <a:endParaRPr i="0" sz="1500" u="none" cap="none" strike="noStrike">
                        <a:solidFill>
                          <a:schemeClr val="accent2"/>
                        </a:solidFill>
                        <a:latin typeface="Poppins"/>
                        <a:ea typeface="Poppins"/>
                        <a:cs typeface="Poppins"/>
                        <a:sym typeface="Poppins"/>
                      </a:endParaRPr>
                    </a:p>
                  </a:txBody>
                  <a:tcPr marT="25400" marB="25400" marR="63500" marL="63500" anchor="ctr">
                    <a:lnL cap="flat" cmpd="sng" w="28575">
                      <a:solidFill>
                        <a:srgbClr val="06B6D4"/>
                      </a:solidFill>
                      <a:prstDash val="solid"/>
                      <a:round/>
                      <a:headEnd len="sm" w="sm" type="none"/>
                      <a:tailEnd len="sm" w="sm" type="none"/>
                    </a:lnL>
                    <a:lnR cap="flat" cmpd="sng" w="28575">
                      <a:solidFill>
                        <a:srgbClr val="06B6D4"/>
                      </a:solidFill>
                      <a:prstDash val="solid"/>
                      <a:round/>
                      <a:headEnd len="sm" w="sm" type="none"/>
                      <a:tailEnd len="sm" w="sm" type="none"/>
                    </a:lnR>
                    <a:lnT cap="flat" cmpd="sng" w="28575">
                      <a:solidFill>
                        <a:srgbClr val="06B6D4"/>
                      </a:solidFill>
                      <a:prstDash val="solid"/>
                      <a:round/>
                      <a:headEnd len="sm" w="sm" type="none"/>
                      <a:tailEnd len="sm" w="sm" type="none"/>
                    </a:lnT>
                    <a:lnB cap="flat" cmpd="sng" w="28575">
                      <a:solidFill>
                        <a:srgbClr val="06B6D4"/>
                      </a:solidFill>
                      <a:prstDash val="solid"/>
                      <a:round/>
                      <a:headEnd len="sm" w="sm" type="none"/>
                      <a:tailEnd len="sm" w="sm" type="none"/>
                    </a:lnB>
                  </a:tcPr>
                </a:tc>
                <a:tc>
                  <a:txBody>
                    <a:bodyPr/>
                    <a:lstStyle/>
                    <a:p>
                      <a:pPr indent="0" lvl="0" marL="0" marR="0" rtl="0" algn="l">
                        <a:spcBef>
                          <a:spcPts val="0"/>
                        </a:spcBef>
                        <a:spcAft>
                          <a:spcPts val="0"/>
                        </a:spcAft>
                        <a:buNone/>
                      </a:pPr>
                      <a:r>
                        <a:rPr i="0" lang="en-US" sz="1500" u="none" cap="none" strike="noStrike">
                          <a:latin typeface="Poppins"/>
                          <a:ea typeface="Poppins"/>
                          <a:cs typeface="Poppins"/>
                          <a:sym typeface="Poppins"/>
                        </a:rPr>
                        <a:t>19</a:t>
                      </a:r>
                      <a:r>
                        <a:rPr lang="en-US" sz="1500">
                          <a:latin typeface="Poppins"/>
                          <a:ea typeface="Poppins"/>
                          <a:cs typeface="Poppins"/>
                          <a:sym typeface="Poppins"/>
                        </a:rPr>
                        <a:t>0</a:t>
                      </a:r>
                      <a:r>
                        <a:rPr i="0" lang="en-US" sz="1500" u="none" cap="none" strike="noStrike">
                          <a:latin typeface="Poppins"/>
                          <a:ea typeface="Poppins"/>
                          <a:cs typeface="Poppins"/>
                          <a:sym typeface="Poppins"/>
                        </a:rPr>
                        <a:t>.</a:t>
                      </a:r>
                      <a:r>
                        <a:rPr lang="en-US" sz="1500">
                          <a:latin typeface="Poppins"/>
                          <a:ea typeface="Poppins"/>
                          <a:cs typeface="Poppins"/>
                          <a:sym typeface="Poppins"/>
                        </a:rPr>
                        <a:t>2</a:t>
                      </a:r>
                      <a:r>
                        <a:rPr i="0" lang="en-US" sz="1500" u="none" cap="none" strike="noStrike">
                          <a:latin typeface="Poppins"/>
                          <a:ea typeface="Poppins"/>
                          <a:cs typeface="Poppins"/>
                          <a:sym typeface="Poppins"/>
                        </a:rPr>
                        <a:t> ms</a:t>
                      </a:r>
                      <a:endParaRPr i="0" sz="1500" u="none" cap="none" strike="noStrike">
                        <a:solidFill>
                          <a:schemeClr val="accent2"/>
                        </a:solidFill>
                        <a:latin typeface="Poppins"/>
                        <a:ea typeface="Poppins"/>
                        <a:cs typeface="Poppins"/>
                        <a:sym typeface="Poppins"/>
                      </a:endParaRPr>
                    </a:p>
                  </a:txBody>
                  <a:tcPr marT="25400" marB="25400" marR="63500" marL="63500" anchor="ctr">
                    <a:lnL cap="flat" cmpd="sng" w="28575">
                      <a:solidFill>
                        <a:srgbClr val="06B6D4"/>
                      </a:solidFill>
                      <a:prstDash val="solid"/>
                      <a:round/>
                      <a:headEnd len="sm" w="sm" type="none"/>
                      <a:tailEnd len="sm" w="sm" type="none"/>
                    </a:lnL>
                    <a:lnR cap="flat" cmpd="sng" w="28575">
                      <a:solidFill>
                        <a:srgbClr val="06B6D4"/>
                      </a:solidFill>
                      <a:prstDash val="solid"/>
                      <a:round/>
                      <a:headEnd len="sm" w="sm" type="none"/>
                      <a:tailEnd len="sm" w="sm" type="none"/>
                    </a:lnR>
                    <a:lnT cap="flat" cmpd="sng" w="28575">
                      <a:solidFill>
                        <a:srgbClr val="06B6D4"/>
                      </a:solidFill>
                      <a:prstDash val="solid"/>
                      <a:round/>
                      <a:headEnd len="sm" w="sm" type="none"/>
                      <a:tailEnd len="sm" w="sm" type="none"/>
                    </a:lnT>
                    <a:lnB cap="flat" cmpd="sng" w="28575">
                      <a:solidFill>
                        <a:srgbClr val="06B6D4"/>
                      </a:solidFill>
                      <a:prstDash val="solid"/>
                      <a:round/>
                      <a:headEnd len="sm" w="sm" type="none"/>
                      <a:tailEnd len="sm" w="sm" type="none"/>
                    </a:lnB>
                  </a:tcPr>
                </a:tc>
                <a:tc>
                  <a:txBody>
                    <a:bodyPr/>
                    <a:lstStyle/>
                    <a:p>
                      <a:pPr indent="0" lvl="0" marL="0" marR="0" rtl="0" algn="l">
                        <a:spcBef>
                          <a:spcPts val="0"/>
                        </a:spcBef>
                        <a:spcAft>
                          <a:spcPts val="0"/>
                        </a:spcAft>
                        <a:buNone/>
                      </a:pPr>
                      <a:r>
                        <a:rPr i="0" lang="en-US" sz="1500" u="none" cap="none" strike="noStrike">
                          <a:latin typeface="Poppins"/>
                          <a:ea typeface="Poppins"/>
                          <a:cs typeface="Poppins"/>
                          <a:sym typeface="Poppins"/>
                        </a:rPr>
                        <a:t>1</a:t>
                      </a:r>
                      <a:r>
                        <a:rPr lang="en-US" sz="1500">
                          <a:latin typeface="Poppins"/>
                          <a:ea typeface="Poppins"/>
                          <a:cs typeface="Poppins"/>
                          <a:sym typeface="Poppins"/>
                        </a:rPr>
                        <a:t>87</a:t>
                      </a:r>
                      <a:r>
                        <a:rPr i="0" lang="en-US" sz="1500" u="none" cap="none" strike="noStrike">
                          <a:latin typeface="Poppins"/>
                          <a:ea typeface="Poppins"/>
                          <a:cs typeface="Poppins"/>
                          <a:sym typeface="Poppins"/>
                        </a:rPr>
                        <a:t>.</a:t>
                      </a:r>
                      <a:r>
                        <a:rPr lang="en-US" sz="1500">
                          <a:latin typeface="Poppins"/>
                          <a:ea typeface="Poppins"/>
                          <a:cs typeface="Poppins"/>
                          <a:sym typeface="Poppins"/>
                        </a:rPr>
                        <a:t>6</a:t>
                      </a:r>
                      <a:r>
                        <a:rPr i="0" lang="en-US" sz="1500" u="none" cap="none" strike="noStrike">
                          <a:latin typeface="Poppins"/>
                          <a:ea typeface="Poppins"/>
                          <a:cs typeface="Poppins"/>
                          <a:sym typeface="Poppins"/>
                        </a:rPr>
                        <a:t> ms</a:t>
                      </a:r>
                      <a:endParaRPr i="0" sz="1500" u="none" cap="none" strike="noStrike">
                        <a:solidFill>
                          <a:schemeClr val="accent2"/>
                        </a:solidFill>
                        <a:latin typeface="Poppins"/>
                        <a:ea typeface="Poppins"/>
                        <a:cs typeface="Poppins"/>
                        <a:sym typeface="Poppins"/>
                      </a:endParaRPr>
                    </a:p>
                  </a:txBody>
                  <a:tcPr marT="25400" marB="25400" marR="63500" marL="63500" anchor="ctr">
                    <a:lnL cap="flat" cmpd="sng" w="28575">
                      <a:solidFill>
                        <a:srgbClr val="06B6D4"/>
                      </a:solidFill>
                      <a:prstDash val="solid"/>
                      <a:round/>
                      <a:headEnd len="sm" w="sm" type="none"/>
                      <a:tailEnd len="sm" w="sm" type="none"/>
                    </a:lnL>
                    <a:lnR cap="flat" cmpd="sng" w="28575">
                      <a:solidFill>
                        <a:srgbClr val="06B6D4"/>
                      </a:solidFill>
                      <a:prstDash val="solid"/>
                      <a:round/>
                      <a:headEnd len="sm" w="sm" type="none"/>
                      <a:tailEnd len="sm" w="sm" type="none"/>
                    </a:lnR>
                    <a:lnT cap="flat" cmpd="sng" w="28575">
                      <a:solidFill>
                        <a:srgbClr val="06B6D4"/>
                      </a:solidFill>
                      <a:prstDash val="solid"/>
                      <a:round/>
                      <a:headEnd len="sm" w="sm" type="none"/>
                      <a:tailEnd len="sm" w="sm" type="none"/>
                    </a:lnT>
                    <a:lnB cap="flat" cmpd="sng" w="28575">
                      <a:solidFill>
                        <a:srgbClr val="06B6D4"/>
                      </a:solidFill>
                      <a:prstDash val="solid"/>
                      <a:round/>
                      <a:headEnd len="sm" w="sm" type="none"/>
                      <a:tailEnd len="sm" w="sm" type="none"/>
                    </a:lnB>
                  </a:tcPr>
                </a:tc>
                <a:tc>
                  <a:txBody>
                    <a:bodyPr/>
                    <a:lstStyle/>
                    <a:p>
                      <a:pPr indent="0" lvl="0" marL="0" marR="0" rtl="0" algn="l">
                        <a:spcBef>
                          <a:spcPts val="0"/>
                        </a:spcBef>
                        <a:spcAft>
                          <a:spcPts val="0"/>
                        </a:spcAft>
                        <a:buNone/>
                      </a:pPr>
                      <a:r>
                        <a:rPr lang="en-US" sz="1500">
                          <a:latin typeface="Poppins"/>
                          <a:ea typeface="Poppins"/>
                          <a:cs typeface="Poppins"/>
                          <a:sym typeface="Poppins"/>
                        </a:rPr>
                        <a:t>199</a:t>
                      </a:r>
                      <a:r>
                        <a:rPr i="0" lang="en-US" sz="1500" u="none" cap="none" strike="noStrike">
                          <a:latin typeface="Poppins"/>
                          <a:ea typeface="Poppins"/>
                          <a:cs typeface="Poppins"/>
                          <a:sym typeface="Poppins"/>
                        </a:rPr>
                        <a:t>.</a:t>
                      </a:r>
                      <a:r>
                        <a:rPr lang="en-US" sz="1500">
                          <a:latin typeface="Poppins"/>
                          <a:ea typeface="Poppins"/>
                          <a:cs typeface="Poppins"/>
                          <a:sym typeface="Poppins"/>
                        </a:rPr>
                        <a:t>3</a:t>
                      </a:r>
                      <a:r>
                        <a:rPr i="0" lang="en-US" sz="1500" u="none" cap="none" strike="noStrike">
                          <a:latin typeface="Poppins"/>
                          <a:ea typeface="Poppins"/>
                          <a:cs typeface="Poppins"/>
                          <a:sym typeface="Poppins"/>
                        </a:rPr>
                        <a:t> ms</a:t>
                      </a:r>
                      <a:endParaRPr i="0" sz="1500" u="none" cap="none" strike="noStrike">
                        <a:solidFill>
                          <a:schemeClr val="accent2"/>
                        </a:solidFill>
                        <a:latin typeface="Poppins"/>
                        <a:ea typeface="Poppins"/>
                        <a:cs typeface="Poppins"/>
                        <a:sym typeface="Poppins"/>
                      </a:endParaRPr>
                    </a:p>
                  </a:txBody>
                  <a:tcPr marT="25400" marB="25400" marR="63500" marL="63500" anchor="ctr">
                    <a:lnL cap="flat" cmpd="sng" w="28575">
                      <a:solidFill>
                        <a:srgbClr val="06B6D4"/>
                      </a:solidFill>
                      <a:prstDash val="solid"/>
                      <a:round/>
                      <a:headEnd len="sm" w="sm" type="none"/>
                      <a:tailEnd len="sm" w="sm" type="none"/>
                    </a:lnL>
                    <a:lnR cap="flat" cmpd="sng" w="28575">
                      <a:solidFill>
                        <a:srgbClr val="06B6D4"/>
                      </a:solidFill>
                      <a:prstDash val="solid"/>
                      <a:round/>
                      <a:headEnd len="sm" w="sm" type="none"/>
                      <a:tailEnd len="sm" w="sm" type="none"/>
                    </a:lnR>
                    <a:lnT cap="flat" cmpd="sng" w="28575">
                      <a:solidFill>
                        <a:srgbClr val="06B6D4"/>
                      </a:solidFill>
                      <a:prstDash val="solid"/>
                      <a:round/>
                      <a:headEnd len="sm" w="sm" type="none"/>
                      <a:tailEnd len="sm" w="sm" type="none"/>
                    </a:lnT>
                    <a:lnB cap="flat" cmpd="sng" w="28575">
                      <a:solidFill>
                        <a:srgbClr val="06B6D4"/>
                      </a:solidFill>
                      <a:prstDash val="solid"/>
                      <a:round/>
                      <a:headEnd len="sm" w="sm" type="none"/>
                      <a:tailEnd len="sm" w="sm" type="none"/>
                    </a:lnB>
                  </a:tcPr>
                </a:tc>
              </a:tr>
              <a:tr h="650400">
                <a:tc>
                  <a:txBody>
                    <a:bodyPr/>
                    <a:lstStyle/>
                    <a:p>
                      <a:pPr indent="0" lvl="0" marL="0" marR="0" rtl="0" algn="l">
                        <a:spcBef>
                          <a:spcPts val="0"/>
                        </a:spcBef>
                        <a:spcAft>
                          <a:spcPts val="0"/>
                        </a:spcAft>
                        <a:buNone/>
                      </a:pPr>
                      <a:r>
                        <a:rPr b="1" i="0" lang="en-US" sz="1500" u="none" cap="none" strike="noStrike">
                          <a:latin typeface="Poppins"/>
                          <a:ea typeface="Poppins"/>
                          <a:cs typeface="Poppins"/>
                          <a:sym typeface="Poppins"/>
                        </a:rPr>
                        <a:t>SSD MobileNetV1</a:t>
                      </a:r>
                      <a:endParaRPr b="1" i="0" sz="1500" u="none" cap="none" strike="noStrike">
                        <a:latin typeface="Poppins"/>
                        <a:ea typeface="Poppins"/>
                        <a:cs typeface="Poppins"/>
                        <a:sym typeface="Poppins"/>
                      </a:endParaRPr>
                    </a:p>
                  </a:txBody>
                  <a:tcPr marT="25400" marB="25400" marR="63500" marL="63500" anchor="ctr">
                    <a:lnL cap="flat" cmpd="sng" w="28575">
                      <a:solidFill>
                        <a:srgbClr val="06B6D4"/>
                      </a:solidFill>
                      <a:prstDash val="solid"/>
                      <a:round/>
                      <a:headEnd len="sm" w="sm" type="none"/>
                      <a:tailEnd len="sm" w="sm" type="none"/>
                    </a:lnL>
                    <a:lnR cap="flat" cmpd="sng" w="28575">
                      <a:solidFill>
                        <a:srgbClr val="06B6D4"/>
                      </a:solidFill>
                      <a:prstDash val="solid"/>
                      <a:round/>
                      <a:headEnd len="sm" w="sm" type="none"/>
                      <a:tailEnd len="sm" w="sm" type="none"/>
                    </a:lnR>
                    <a:lnT cap="flat" cmpd="sng" w="28575">
                      <a:solidFill>
                        <a:srgbClr val="06B6D4"/>
                      </a:solidFill>
                      <a:prstDash val="solid"/>
                      <a:round/>
                      <a:headEnd len="sm" w="sm" type="none"/>
                      <a:tailEnd len="sm" w="sm" type="none"/>
                    </a:lnT>
                    <a:lnB cap="flat" cmpd="sng" w="28575">
                      <a:solidFill>
                        <a:srgbClr val="06B6D4"/>
                      </a:solidFill>
                      <a:prstDash val="solid"/>
                      <a:round/>
                      <a:headEnd len="sm" w="sm" type="none"/>
                      <a:tailEnd len="sm" w="sm" type="none"/>
                    </a:lnB>
                  </a:tcPr>
                </a:tc>
                <a:tc>
                  <a:txBody>
                    <a:bodyPr/>
                    <a:lstStyle/>
                    <a:p>
                      <a:pPr indent="0" lvl="0" marL="0" marR="0" rtl="0" algn="l">
                        <a:spcBef>
                          <a:spcPts val="0"/>
                        </a:spcBef>
                        <a:spcAft>
                          <a:spcPts val="0"/>
                        </a:spcAft>
                        <a:buNone/>
                      </a:pPr>
                      <a:r>
                        <a:rPr b="1" i="0" lang="en-US" sz="1500" u="none" cap="none" strike="noStrike">
                          <a:latin typeface="Poppins"/>
                          <a:ea typeface="Poppins"/>
                          <a:cs typeface="Poppins"/>
                          <a:sym typeface="Poppins"/>
                        </a:rPr>
                        <a:t>4</a:t>
                      </a:r>
                      <a:r>
                        <a:rPr b="1" lang="en-US" sz="1500">
                          <a:latin typeface="Poppins"/>
                          <a:ea typeface="Poppins"/>
                          <a:cs typeface="Poppins"/>
                          <a:sym typeface="Poppins"/>
                        </a:rPr>
                        <a:t>5</a:t>
                      </a:r>
                      <a:r>
                        <a:rPr b="1" i="0" lang="en-US" sz="1500" u="none" cap="none" strike="noStrike">
                          <a:latin typeface="Poppins"/>
                          <a:ea typeface="Poppins"/>
                          <a:cs typeface="Poppins"/>
                          <a:sym typeface="Poppins"/>
                        </a:rPr>
                        <a:t>.</a:t>
                      </a:r>
                      <a:r>
                        <a:rPr b="1" lang="en-US" sz="1500">
                          <a:latin typeface="Poppins"/>
                          <a:ea typeface="Poppins"/>
                          <a:cs typeface="Poppins"/>
                          <a:sym typeface="Poppins"/>
                        </a:rPr>
                        <a:t>33</a:t>
                      </a:r>
                      <a:endParaRPr b="1" i="0" sz="1500" u="none" cap="none" strike="noStrike">
                        <a:latin typeface="Poppins"/>
                        <a:ea typeface="Poppins"/>
                        <a:cs typeface="Poppins"/>
                        <a:sym typeface="Poppins"/>
                      </a:endParaRPr>
                    </a:p>
                  </a:txBody>
                  <a:tcPr marT="25400" marB="25400" marR="63500" marL="63500" anchor="ctr">
                    <a:lnL cap="flat" cmpd="sng" w="28575">
                      <a:solidFill>
                        <a:srgbClr val="06B6D4"/>
                      </a:solidFill>
                      <a:prstDash val="solid"/>
                      <a:round/>
                      <a:headEnd len="sm" w="sm" type="none"/>
                      <a:tailEnd len="sm" w="sm" type="none"/>
                    </a:lnL>
                    <a:lnR cap="flat" cmpd="sng" w="28575">
                      <a:solidFill>
                        <a:srgbClr val="06B6D4"/>
                      </a:solidFill>
                      <a:prstDash val="solid"/>
                      <a:round/>
                      <a:headEnd len="sm" w="sm" type="none"/>
                      <a:tailEnd len="sm" w="sm" type="none"/>
                    </a:lnR>
                    <a:lnT cap="flat" cmpd="sng" w="28575">
                      <a:solidFill>
                        <a:srgbClr val="06B6D4"/>
                      </a:solidFill>
                      <a:prstDash val="solid"/>
                      <a:round/>
                      <a:headEnd len="sm" w="sm" type="none"/>
                      <a:tailEnd len="sm" w="sm" type="none"/>
                    </a:lnT>
                    <a:lnB cap="flat" cmpd="sng" w="28575">
                      <a:solidFill>
                        <a:srgbClr val="06B6D4"/>
                      </a:solidFill>
                      <a:prstDash val="solid"/>
                      <a:round/>
                      <a:headEnd len="sm" w="sm" type="none"/>
                      <a:tailEnd len="sm" w="sm" type="none"/>
                    </a:lnB>
                  </a:tcPr>
                </a:tc>
                <a:tc>
                  <a:txBody>
                    <a:bodyPr/>
                    <a:lstStyle/>
                    <a:p>
                      <a:pPr indent="0" lvl="0" marL="0" marR="0" rtl="0" algn="l">
                        <a:spcBef>
                          <a:spcPts val="0"/>
                        </a:spcBef>
                        <a:spcAft>
                          <a:spcPts val="0"/>
                        </a:spcAft>
                        <a:buNone/>
                      </a:pPr>
                      <a:r>
                        <a:rPr b="1" i="0" lang="en-US" sz="1500" u="none" cap="none" strike="noStrike">
                          <a:latin typeface="Poppins"/>
                          <a:ea typeface="Poppins"/>
                          <a:cs typeface="Poppins"/>
                          <a:sym typeface="Poppins"/>
                        </a:rPr>
                        <a:t>2</a:t>
                      </a:r>
                      <a:r>
                        <a:rPr b="1" lang="en-US" sz="1500">
                          <a:latin typeface="Poppins"/>
                          <a:ea typeface="Poppins"/>
                          <a:cs typeface="Poppins"/>
                          <a:sym typeface="Poppins"/>
                        </a:rPr>
                        <a:t>2</a:t>
                      </a:r>
                      <a:r>
                        <a:rPr b="1" i="0" lang="en-US" sz="1500" u="none" cap="none" strike="noStrike">
                          <a:latin typeface="Poppins"/>
                          <a:ea typeface="Poppins"/>
                          <a:cs typeface="Poppins"/>
                          <a:sym typeface="Poppins"/>
                        </a:rPr>
                        <a:t>.</a:t>
                      </a:r>
                      <a:r>
                        <a:rPr b="1" lang="en-US" sz="1500">
                          <a:latin typeface="Poppins"/>
                          <a:ea typeface="Poppins"/>
                          <a:cs typeface="Poppins"/>
                          <a:sym typeface="Poppins"/>
                        </a:rPr>
                        <a:t>1</a:t>
                      </a:r>
                      <a:r>
                        <a:rPr b="1" i="0" lang="en-US" sz="1500" u="none" cap="none" strike="noStrike">
                          <a:latin typeface="Poppins"/>
                          <a:ea typeface="Poppins"/>
                          <a:cs typeface="Poppins"/>
                          <a:sym typeface="Poppins"/>
                        </a:rPr>
                        <a:t> ms</a:t>
                      </a:r>
                      <a:endParaRPr b="1" i="0" sz="1500" u="none" cap="none" strike="noStrike">
                        <a:latin typeface="Poppins"/>
                        <a:ea typeface="Poppins"/>
                        <a:cs typeface="Poppins"/>
                        <a:sym typeface="Poppins"/>
                      </a:endParaRPr>
                    </a:p>
                  </a:txBody>
                  <a:tcPr marT="25400" marB="25400" marR="63500" marL="63500" anchor="ctr">
                    <a:lnL cap="flat" cmpd="sng" w="28575">
                      <a:solidFill>
                        <a:srgbClr val="06B6D4"/>
                      </a:solidFill>
                      <a:prstDash val="solid"/>
                      <a:round/>
                      <a:headEnd len="sm" w="sm" type="none"/>
                      <a:tailEnd len="sm" w="sm" type="none"/>
                    </a:lnL>
                    <a:lnR cap="flat" cmpd="sng" w="28575">
                      <a:solidFill>
                        <a:srgbClr val="06B6D4"/>
                      </a:solidFill>
                      <a:prstDash val="solid"/>
                      <a:round/>
                      <a:headEnd len="sm" w="sm" type="none"/>
                      <a:tailEnd len="sm" w="sm" type="none"/>
                    </a:lnR>
                    <a:lnT cap="flat" cmpd="sng" w="28575">
                      <a:solidFill>
                        <a:srgbClr val="06B6D4"/>
                      </a:solidFill>
                      <a:prstDash val="solid"/>
                      <a:round/>
                      <a:headEnd len="sm" w="sm" type="none"/>
                      <a:tailEnd len="sm" w="sm" type="none"/>
                    </a:lnT>
                    <a:lnB cap="flat" cmpd="sng" w="28575">
                      <a:solidFill>
                        <a:srgbClr val="06B6D4"/>
                      </a:solidFill>
                      <a:prstDash val="solid"/>
                      <a:round/>
                      <a:headEnd len="sm" w="sm" type="none"/>
                      <a:tailEnd len="sm" w="sm" type="none"/>
                    </a:lnB>
                  </a:tcPr>
                </a:tc>
                <a:tc>
                  <a:txBody>
                    <a:bodyPr/>
                    <a:lstStyle/>
                    <a:p>
                      <a:pPr indent="0" lvl="0" marL="0" marR="0" rtl="0" algn="l">
                        <a:spcBef>
                          <a:spcPts val="0"/>
                        </a:spcBef>
                        <a:spcAft>
                          <a:spcPts val="0"/>
                        </a:spcAft>
                        <a:buNone/>
                      </a:pPr>
                      <a:r>
                        <a:rPr b="1" i="0" lang="en-US" sz="1500" u="none" cap="none" strike="noStrike">
                          <a:latin typeface="Poppins"/>
                          <a:ea typeface="Poppins"/>
                          <a:cs typeface="Poppins"/>
                          <a:sym typeface="Poppins"/>
                        </a:rPr>
                        <a:t>2</a:t>
                      </a:r>
                      <a:r>
                        <a:rPr b="1" lang="en-US" sz="1500">
                          <a:latin typeface="Poppins"/>
                          <a:ea typeface="Poppins"/>
                          <a:cs typeface="Poppins"/>
                          <a:sym typeface="Poppins"/>
                        </a:rPr>
                        <a:t>1</a:t>
                      </a:r>
                      <a:r>
                        <a:rPr b="1" i="0" lang="en-US" sz="1500" u="none" cap="none" strike="noStrike">
                          <a:latin typeface="Poppins"/>
                          <a:ea typeface="Poppins"/>
                          <a:cs typeface="Poppins"/>
                          <a:sym typeface="Poppins"/>
                        </a:rPr>
                        <a:t>.</a:t>
                      </a:r>
                      <a:r>
                        <a:rPr b="1" lang="en-US" sz="1500">
                          <a:latin typeface="Poppins"/>
                          <a:ea typeface="Poppins"/>
                          <a:cs typeface="Poppins"/>
                          <a:sym typeface="Poppins"/>
                        </a:rPr>
                        <a:t>6</a:t>
                      </a:r>
                      <a:r>
                        <a:rPr b="1" i="0" lang="en-US" sz="1500" u="none" cap="none" strike="noStrike">
                          <a:latin typeface="Poppins"/>
                          <a:ea typeface="Poppins"/>
                          <a:cs typeface="Poppins"/>
                          <a:sym typeface="Poppins"/>
                        </a:rPr>
                        <a:t> ms</a:t>
                      </a:r>
                      <a:endParaRPr b="1" i="0" sz="1500" u="none" cap="none" strike="noStrike">
                        <a:latin typeface="Poppins"/>
                        <a:ea typeface="Poppins"/>
                        <a:cs typeface="Poppins"/>
                        <a:sym typeface="Poppins"/>
                      </a:endParaRPr>
                    </a:p>
                  </a:txBody>
                  <a:tcPr marT="25400" marB="25400" marR="63500" marL="63500" anchor="ctr">
                    <a:lnL cap="flat" cmpd="sng" w="28575">
                      <a:solidFill>
                        <a:srgbClr val="06B6D4"/>
                      </a:solidFill>
                      <a:prstDash val="solid"/>
                      <a:round/>
                      <a:headEnd len="sm" w="sm" type="none"/>
                      <a:tailEnd len="sm" w="sm" type="none"/>
                    </a:lnL>
                    <a:lnR cap="flat" cmpd="sng" w="28575">
                      <a:solidFill>
                        <a:srgbClr val="06B6D4"/>
                      </a:solidFill>
                      <a:prstDash val="solid"/>
                      <a:round/>
                      <a:headEnd len="sm" w="sm" type="none"/>
                      <a:tailEnd len="sm" w="sm" type="none"/>
                    </a:lnR>
                    <a:lnT cap="flat" cmpd="sng" w="28575">
                      <a:solidFill>
                        <a:srgbClr val="06B6D4"/>
                      </a:solidFill>
                      <a:prstDash val="solid"/>
                      <a:round/>
                      <a:headEnd len="sm" w="sm" type="none"/>
                      <a:tailEnd len="sm" w="sm" type="none"/>
                    </a:lnT>
                    <a:lnB cap="flat" cmpd="sng" w="28575">
                      <a:solidFill>
                        <a:srgbClr val="06B6D4"/>
                      </a:solidFill>
                      <a:prstDash val="solid"/>
                      <a:round/>
                      <a:headEnd len="sm" w="sm" type="none"/>
                      <a:tailEnd len="sm" w="sm" type="none"/>
                    </a:lnB>
                  </a:tcPr>
                </a:tc>
                <a:tc>
                  <a:txBody>
                    <a:bodyPr/>
                    <a:lstStyle/>
                    <a:p>
                      <a:pPr indent="0" lvl="0" marL="0" marR="0" rtl="0" algn="l">
                        <a:spcBef>
                          <a:spcPts val="0"/>
                        </a:spcBef>
                        <a:spcAft>
                          <a:spcPts val="0"/>
                        </a:spcAft>
                        <a:buNone/>
                      </a:pPr>
                      <a:r>
                        <a:rPr b="1" i="0" lang="en-US" sz="1500" u="none" cap="none" strike="noStrike">
                          <a:latin typeface="Poppins"/>
                          <a:ea typeface="Poppins"/>
                          <a:cs typeface="Poppins"/>
                          <a:sym typeface="Poppins"/>
                        </a:rPr>
                        <a:t>2</a:t>
                      </a:r>
                      <a:r>
                        <a:rPr b="1" lang="en-US" sz="1500">
                          <a:latin typeface="Poppins"/>
                          <a:ea typeface="Poppins"/>
                          <a:cs typeface="Poppins"/>
                          <a:sym typeface="Poppins"/>
                        </a:rPr>
                        <a:t>5</a:t>
                      </a:r>
                      <a:r>
                        <a:rPr b="1" i="0" lang="en-US" sz="1500" u="none" cap="none" strike="noStrike">
                          <a:latin typeface="Poppins"/>
                          <a:ea typeface="Poppins"/>
                          <a:cs typeface="Poppins"/>
                          <a:sym typeface="Poppins"/>
                        </a:rPr>
                        <a:t>.</a:t>
                      </a:r>
                      <a:r>
                        <a:rPr b="1" lang="en-US" sz="1500">
                          <a:latin typeface="Poppins"/>
                          <a:ea typeface="Poppins"/>
                          <a:cs typeface="Poppins"/>
                          <a:sym typeface="Poppins"/>
                        </a:rPr>
                        <a:t>2</a:t>
                      </a:r>
                      <a:r>
                        <a:rPr b="1" i="0" lang="en-US" sz="1500" u="none" cap="none" strike="noStrike">
                          <a:latin typeface="Poppins"/>
                          <a:ea typeface="Poppins"/>
                          <a:cs typeface="Poppins"/>
                          <a:sym typeface="Poppins"/>
                        </a:rPr>
                        <a:t> ms</a:t>
                      </a:r>
                      <a:endParaRPr b="1" i="0" sz="1500" u="none" cap="none" strike="noStrike">
                        <a:latin typeface="Poppins"/>
                        <a:ea typeface="Poppins"/>
                        <a:cs typeface="Poppins"/>
                        <a:sym typeface="Poppins"/>
                      </a:endParaRPr>
                    </a:p>
                  </a:txBody>
                  <a:tcPr marT="25400" marB="25400" marR="63500" marL="63500" anchor="ctr">
                    <a:lnL cap="flat" cmpd="sng" w="28575">
                      <a:solidFill>
                        <a:srgbClr val="06B6D4"/>
                      </a:solidFill>
                      <a:prstDash val="solid"/>
                      <a:round/>
                      <a:headEnd len="sm" w="sm" type="none"/>
                      <a:tailEnd len="sm" w="sm" type="none"/>
                    </a:lnL>
                    <a:lnR cap="flat" cmpd="sng" w="28575">
                      <a:solidFill>
                        <a:srgbClr val="06B6D4"/>
                      </a:solidFill>
                      <a:prstDash val="solid"/>
                      <a:round/>
                      <a:headEnd len="sm" w="sm" type="none"/>
                      <a:tailEnd len="sm" w="sm" type="none"/>
                    </a:lnR>
                    <a:lnT cap="flat" cmpd="sng" w="28575">
                      <a:solidFill>
                        <a:srgbClr val="06B6D4"/>
                      </a:solidFill>
                      <a:prstDash val="solid"/>
                      <a:round/>
                      <a:headEnd len="sm" w="sm" type="none"/>
                      <a:tailEnd len="sm" w="sm" type="none"/>
                    </a:lnT>
                    <a:lnB cap="flat" cmpd="sng" w="28575">
                      <a:solidFill>
                        <a:srgbClr val="06B6D4"/>
                      </a:solidFill>
                      <a:prstDash val="solid"/>
                      <a:round/>
                      <a:headEnd len="sm" w="sm" type="none"/>
                      <a:tailEnd len="sm" w="sm" type="none"/>
                    </a:lnB>
                  </a:tcPr>
                </a:tc>
              </a:tr>
              <a:tr h="650400">
                <a:tc>
                  <a:txBody>
                    <a:bodyPr/>
                    <a:lstStyle/>
                    <a:p>
                      <a:pPr indent="0" lvl="0" marL="0" marR="0" rtl="0" algn="l">
                        <a:spcBef>
                          <a:spcPts val="0"/>
                        </a:spcBef>
                        <a:spcAft>
                          <a:spcPts val="0"/>
                        </a:spcAft>
                        <a:buNone/>
                      </a:pPr>
                      <a:r>
                        <a:rPr b="1" i="0" lang="en-US" sz="1500" u="none" cap="none" strike="noStrike">
                          <a:latin typeface="Poppins"/>
                          <a:ea typeface="Poppins"/>
                          <a:cs typeface="Poppins"/>
                          <a:sym typeface="Poppins"/>
                        </a:rPr>
                        <a:t>EfficientDet-Lite2</a:t>
                      </a:r>
                      <a:endParaRPr b="1" i="0" sz="1500" u="none" cap="none" strike="noStrike">
                        <a:latin typeface="Poppins"/>
                        <a:ea typeface="Poppins"/>
                        <a:cs typeface="Poppins"/>
                        <a:sym typeface="Poppins"/>
                      </a:endParaRPr>
                    </a:p>
                  </a:txBody>
                  <a:tcPr marT="25400" marB="25400" marR="63500" marL="63500" anchor="ctr">
                    <a:lnL cap="flat" cmpd="sng" w="28575">
                      <a:solidFill>
                        <a:srgbClr val="06B6D4"/>
                      </a:solidFill>
                      <a:prstDash val="solid"/>
                      <a:round/>
                      <a:headEnd len="sm" w="sm" type="none"/>
                      <a:tailEnd len="sm" w="sm" type="none"/>
                    </a:lnL>
                    <a:lnR cap="flat" cmpd="sng" w="28575">
                      <a:solidFill>
                        <a:srgbClr val="06B6D4"/>
                      </a:solidFill>
                      <a:prstDash val="solid"/>
                      <a:round/>
                      <a:headEnd len="sm" w="sm" type="none"/>
                      <a:tailEnd len="sm" w="sm" type="none"/>
                    </a:lnR>
                    <a:lnT cap="flat" cmpd="sng" w="28575">
                      <a:solidFill>
                        <a:srgbClr val="06B6D4"/>
                      </a:solidFill>
                      <a:prstDash val="solid"/>
                      <a:round/>
                      <a:headEnd len="sm" w="sm" type="none"/>
                      <a:tailEnd len="sm" w="sm" type="none"/>
                    </a:lnT>
                    <a:lnB cap="flat" cmpd="sng" w="28575">
                      <a:solidFill>
                        <a:srgbClr val="06B6D4"/>
                      </a:solidFill>
                      <a:prstDash val="solid"/>
                      <a:round/>
                      <a:headEnd len="sm" w="sm" type="none"/>
                      <a:tailEnd len="sm" w="sm" type="none"/>
                    </a:lnB>
                  </a:tcPr>
                </a:tc>
                <a:tc>
                  <a:txBody>
                    <a:bodyPr/>
                    <a:lstStyle/>
                    <a:p>
                      <a:pPr indent="0" lvl="0" marL="0" marR="0" rtl="0" algn="l">
                        <a:spcBef>
                          <a:spcPts val="0"/>
                        </a:spcBef>
                        <a:spcAft>
                          <a:spcPts val="0"/>
                        </a:spcAft>
                        <a:buNone/>
                      </a:pPr>
                      <a:r>
                        <a:rPr lang="en-US" sz="1500">
                          <a:latin typeface="Poppins"/>
                          <a:ea typeface="Poppins"/>
                          <a:cs typeface="Poppins"/>
                          <a:sym typeface="Poppins"/>
                        </a:rPr>
                        <a:t>8.55</a:t>
                      </a:r>
                      <a:endParaRPr i="0" sz="1500" u="none" cap="none" strike="noStrike">
                        <a:latin typeface="Poppins"/>
                        <a:ea typeface="Poppins"/>
                        <a:cs typeface="Poppins"/>
                        <a:sym typeface="Poppins"/>
                      </a:endParaRPr>
                    </a:p>
                  </a:txBody>
                  <a:tcPr marT="25400" marB="25400" marR="63500" marL="63500" anchor="ctr">
                    <a:lnL cap="flat" cmpd="sng" w="28575">
                      <a:solidFill>
                        <a:srgbClr val="06B6D4"/>
                      </a:solidFill>
                      <a:prstDash val="solid"/>
                      <a:round/>
                      <a:headEnd len="sm" w="sm" type="none"/>
                      <a:tailEnd len="sm" w="sm" type="none"/>
                    </a:lnL>
                    <a:lnR cap="flat" cmpd="sng" w="28575">
                      <a:solidFill>
                        <a:srgbClr val="06B6D4"/>
                      </a:solidFill>
                      <a:prstDash val="solid"/>
                      <a:round/>
                      <a:headEnd len="sm" w="sm" type="none"/>
                      <a:tailEnd len="sm" w="sm" type="none"/>
                    </a:lnR>
                    <a:lnT cap="flat" cmpd="sng" w="28575">
                      <a:solidFill>
                        <a:srgbClr val="06B6D4"/>
                      </a:solidFill>
                      <a:prstDash val="solid"/>
                      <a:round/>
                      <a:headEnd len="sm" w="sm" type="none"/>
                      <a:tailEnd len="sm" w="sm" type="none"/>
                    </a:lnT>
                    <a:lnB cap="flat" cmpd="sng" w="28575">
                      <a:solidFill>
                        <a:srgbClr val="06B6D4"/>
                      </a:solidFill>
                      <a:prstDash val="solid"/>
                      <a:round/>
                      <a:headEnd len="sm" w="sm" type="none"/>
                      <a:tailEnd len="sm" w="sm" type="none"/>
                    </a:lnB>
                  </a:tcPr>
                </a:tc>
                <a:tc>
                  <a:txBody>
                    <a:bodyPr/>
                    <a:lstStyle/>
                    <a:p>
                      <a:pPr indent="0" lvl="0" marL="0" marR="0" rtl="0" algn="l">
                        <a:spcBef>
                          <a:spcPts val="0"/>
                        </a:spcBef>
                        <a:spcAft>
                          <a:spcPts val="0"/>
                        </a:spcAft>
                        <a:buNone/>
                      </a:pPr>
                      <a:r>
                        <a:rPr i="0" lang="en-US" sz="1500" u="none" cap="none" strike="noStrike">
                          <a:latin typeface="Poppins"/>
                          <a:ea typeface="Poppins"/>
                          <a:cs typeface="Poppins"/>
                          <a:sym typeface="Poppins"/>
                        </a:rPr>
                        <a:t>1</a:t>
                      </a:r>
                      <a:r>
                        <a:rPr lang="en-US" sz="1500">
                          <a:latin typeface="Poppins"/>
                          <a:ea typeface="Poppins"/>
                          <a:cs typeface="Poppins"/>
                          <a:sym typeface="Poppins"/>
                        </a:rPr>
                        <a:t>16</a:t>
                      </a:r>
                      <a:r>
                        <a:rPr i="0" lang="en-US" sz="1500" u="none" cap="none" strike="noStrike">
                          <a:latin typeface="Poppins"/>
                          <a:ea typeface="Poppins"/>
                          <a:cs typeface="Poppins"/>
                          <a:sym typeface="Poppins"/>
                        </a:rPr>
                        <a:t>.</a:t>
                      </a:r>
                      <a:r>
                        <a:rPr lang="en-US" sz="1500">
                          <a:latin typeface="Poppins"/>
                          <a:ea typeface="Poppins"/>
                          <a:cs typeface="Poppins"/>
                          <a:sym typeface="Poppins"/>
                        </a:rPr>
                        <a:t>9</a:t>
                      </a:r>
                      <a:r>
                        <a:rPr i="0" lang="en-US" sz="1500" u="none" cap="none" strike="noStrike">
                          <a:latin typeface="Poppins"/>
                          <a:ea typeface="Poppins"/>
                          <a:cs typeface="Poppins"/>
                          <a:sym typeface="Poppins"/>
                        </a:rPr>
                        <a:t> ms</a:t>
                      </a:r>
                      <a:endParaRPr i="0" sz="1500" u="none" cap="none" strike="noStrike">
                        <a:latin typeface="Poppins"/>
                        <a:ea typeface="Poppins"/>
                        <a:cs typeface="Poppins"/>
                        <a:sym typeface="Poppins"/>
                      </a:endParaRPr>
                    </a:p>
                  </a:txBody>
                  <a:tcPr marT="25400" marB="25400" marR="63500" marL="63500" anchor="ctr">
                    <a:lnL cap="flat" cmpd="sng" w="28575">
                      <a:solidFill>
                        <a:srgbClr val="06B6D4"/>
                      </a:solidFill>
                      <a:prstDash val="solid"/>
                      <a:round/>
                      <a:headEnd len="sm" w="sm" type="none"/>
                      <a:tailEnd len="sm" w="sm" type="none"/>
                    </a:lnL>
                    <a:lnR cap="flat" cmpd="sng" w="28575">
                      <a:solidFill>
                        <a:srgbClr val="06B6D4"/>
                      </a:solidFill>
                      <a:prstDash val="solid"/>
                      <a:round/>
                      <a:headEnd len="sm" w="sm" type="none"/>
                      <a:tailEnd len="sm" w="sm" type="none"/>
                    </a:lnR>
                    <a:lnT cap="flat" cmpd="sng" w="28575">
                      <a:solidFill>
                        <a:srgbClr val="06B6D4"/>
                      </a:solidFill>
                      <a:prstDash val="solid"/>
                      <a:round/>
                      <a:headEnd len="sm" w="sm" type="none"/>
                      <a:tailEnd len="sm" w="sm" type="none"/>
                    </a:lnT>
                    <a:lnB cap="flat" cmpd="sng" w="28575">
                      <a:solidFill>
                        <a:srgbClr val="06B6D4"/>
                      </a:solidFill>
                      <a:prstDash val="solid"/>
                      <a:round/>
                      <a:headEnd len="sm" w="sm" type="none"/>
                      <a:tailEnd len="sm" w="sm" type="none"/>
                    </a:lnB>
                  </a:tcPr>
                </a:tc>
                <a:tc>
                  <a:txBody>
                    <a:bodyPr/>
                    <a:lstStyle/>
                    <a:p>
                      <a:pPr indent="0" lvl="0" marL="0" marR="0" rtl="0" algn="l">
                        <a:spcBef>
                          <a:spcPts val="0"/>
                        </a:spcBef>
                        <a:spcAft>
                          <a:spcPts val="0"/>
                        </a:spcAft>
                        <a:buNone/>
                      </a:pPr>
                      <a:r>
                        <a:rPr i="0" lang="en-US" sz="1500" u="none" cap="none" strike="noStrike">
                          <a:latin typeface="Poppins"/>
                          <a:ea typeface="Poppins"/>
                          <a:cs typeface="Poppins"/>
                          <a:sym typeface="Poppins"/>
                        </a:rPr>
                        <a:t>1</a:t>
                      </a:r>
                      <a:r>
                        <a:rPr lang="en-US" sz="1500">
                          <a:latin typeface="Poppins"/>
                          <a:ea typeface="Poppins"/>
                          <a:cs typeface="Poppins"/>
                          <a:sym typeface="Poppins"/>
                        </a:rPr>
                        <a:t>16</a:t>
                      </a:r>
                      <a:r>
                        <a:rPr i="0" lang="en-US" sz="1500" u="none" cap="none" strike="noStrike">
                          <a:latin typeface="Poppins"/>
                          <a:ea typeface="Poppins"/>
                          <a:cs typeface="Poppins"/>
                          <a:sym typeface="Poppins"/>
                        </a:rPr>
                        <a:t>.</a:t>
                      </a:r>
                      <a:r>
                        <a:rPr lang="en-US" sz="1500">
                          <a:latin typeface="Poppins"/>
                          <a:ea typeface="Poppins"/>
                          <a:cs typeface="Poppins"/>
                          <a:sym typeface="Poppins"/>
                        </a:rPr>
                        <a:t>2</a:t>
                      </a:r>
                      <a:r>
                        <a:rPr i="0" lang="en-US" sz="1500" u="none" cap="none" strike="noStrike">
                          <a:latin typeface="Poppins"/>
                          <a:ea typeface="Poppins"/>
                          <a:cs typeface="Poppins"/>
                          <a:sym typeface="Poppins"/>
                        </a:rPr>
                        <a:t> ms</a:t>
                      </a:r>
                      <a:endParaRPr i="0" sz="1500" u="none" cap="none" strike="noStrike">
                        <a:latin typeface="Poppins"/>
                        <a:ea typeface="Poppins"/>
                        <a:cs typeface="Poppins"/>
                        <a:sym typeface="Poppins"/>
                      </a:endParaRPr>
                    </a:p>
                  </a:txBody>
                  <a:tcPr marT="25400" marB="25400" marR="63500" marL="63500" anchor="ctr">
                    <a:lnL cap="flat" cmpd="sng" w="28575">
                      <a:solidFill>
                        <a:srgbClr val="06B6D4"/>
                      </a:solidFill>
                      <a:prstDash val="solid"/>
                      <a:round/>
                      <a:headEnd len="sm" w="sm" type="none"/>
                      <a:tailEnd len="sm" w="sm" type="none"/>
                    </a:lnL>
                    <a:lnR cap="flat" cmpd="sng" w="28575">
                      <a:solidFill>
                        <a:srgbClr val="06B6D4"/>
                      </a:solidFill>
                      <a:prstDash val="solid"/>
                      <a:round/>
                      <a:headEnd len="sm" w="sm" type="none"/>
                      <a:tailEnd len="sm" w="sm" type="none"/>
                    </a:lnR>
                    <a:lnT cap="flat" cmpd="sng" w="28575">
                      <a:solidFill>
                        <a:srgbClr val="06B6D4"/>
                      </a:solidFill>
                      <a:prstDash val="solid"/>
                      <a:round/>
                      <a:headEnd len="sm" w="sm" type="none"/>
                      <a:tailEnd len="sm" w="sm" type="none"/>
                    </a:lnT>
                    <a:lnB cap="flat" cmpd="sng" w="28575">
                      <a:solidFill>
                        <a:srgbClr val="06B6D4"/>
                      </a:solidFill>
                      <a:prstDash val="solid"/>
                      <a:round/>
                      <a:headEnd len="sm" w="sm" type="none"/>
                      <a:tailEnd len="sm" w="sm" type="none"/>
                    </a:lnB>
                  </a:tcPr>
                </a:tc>
                <a:tc>
                  <a:txBody>
                    <a:bodyPr/>
                    <a:lstStyle/>
                    <a:p>
                      <a:pPr indent="0" lvl="0" marL="0" marR="0" rtl="0" algn="l">
                        <a:spcBef>
                          <a:spcPts val="0"/>
                        </a:spcBef>
                        <a:spcAft>
                          <a:spcPts val="0"/>
                        </a:spcAft>
                        <a:buNone/>
                      </a:pPr>
                      <a:r>
                        <a:rPr i="0" lang="en-US" sz="1500" u="none" cap="none" strike="noStrike">
                          <a:latin typeface="Poppins"/>
                          <a:ea typeface="Poppins"/>
                          <a:cs typeface="Poppins"/>
                          <a:sym typeface="Poppins"/>
                        </a:rPr>
                        <a:t>12</a:t>
                      </a:r>
                      <a:r>
                        <a:rPr lang="en-US" sz="1500">
                          <a:latin typeface="Poppins"/>
                          <a:ea typeface="Poppins"/>
                          <a:cs typeface="Poppins"/>
                          <a:sym typeface="Poppins"/>
                        </a:rPr>
                        <a:t>5</a:t>
                      </a:r>
                      <a:r>
                        <a:rPr i="0" lang="en-US" sz="1500" u="none" cap="none" strike="noStrike">
                          <a:latin typeface="Poppins"/>
                          <a:ea typeface="Poppins"/>
                          <a:cs typeface="Poppins"/>
                          <a:sym typeface="Poppins"/>
                        </a:rPr>
                        <a:t>.</a:t>
                      </a:r>
                      <a:r>
                        <a:rPr lang="en-US" sz="1500">
                          <a:latin typeface="Poppins"/>
                          <a:ea typeface="Poppins"/>
                          <a:cs typeface="Poppins"/>
                          <a:sym typeface="Poppins"/>
                        </a:rPr>
                        <a:t>2</a:t>
                      </a:r>
                      <a:r>
                        <a:rPr i="0" lang="en-US" sz="1500" u="none" cap="none" strike="noStrike">
                          <a:latin typeface="Poppins"/>
                          <a:ea typeface="Poppins"/>
                          <a:cs typeface="Poppins"/>
                          <a:sym typeface="Poppins"/>
                        </a:rPr>
                        <a:t> ms</a:t>
                      </a:r>
                      <a:endParaRPr i="0" sz="1500" u="none" cap="none" strike="noStrike">
                        <a:latin typeface="Poppins"/>
                        <a:ea typeface="Poppins"/>
                        <a:cs typeface="Poppins"/>
                        <a:sym typeface="Poppins"/>
                      </a:endParaRPr>
                    </a:p>
                  </a:txBody>
                  <a:tcPr marT="25400" marB="25400" marR="63500" marL="63500" anchor="ctr">
                    <a:lnL cap="flat" cmpd="sng" w="28575">
                      <a:solidFill>
                        <a:srgbClr val="06B6D4"/>
                      </a:solidFill>
                      <a:prstDash val="solid"/>
                      <a:round/>
                      <a:headEnd len="sm" w="sm" type="none"/>
                      <a:tailEnd len="sm" w="sm" type="none"/>
                    </a:lnL>
                    <a:lnR cap="flat" cmpd="sng" w="28575">
                      <a:solidFill>
                        <a:srgbClr val="06B6D4"/>
                      </a:solidFill>
                      <a:prstDash val="solid"/>
                      <a:round/>
                      <a:headEnd len="sm" w="sm" type="none"/>
                      <a:tailEnd len="sm" w="sm" type="none"/>
                    </a:lnR>
                    <a:lnT cap="flat" cmpd="sng" w="28575">
                      <a:solidFill>
                        <a:srgbClr val="06B6D4"/>
                      </a:solidFill>
                      <a:prstDash val="solid"/>
                      <a:round/>
                      <a:headEnd len="sm" w="sm" type="none"/>
                      <a:tailEnd len="sm" w="sm" type="none"/>
                    </a:lnT>
                    <a:lnB cap="flat" cmpd="sng" w="28575">
                      <a:solidFill>
                        <a:srgbClr val="06B6D4"/>
                      </a:solidFill>
                      <a:prstDash val="solid"/>
                      <a:round/>
                      <a:headEnd len="sm" w="sm" type="none"/>
                      <a:tailEnd len="sm" w="sm" type="none"/>
                    </a:lnB>
                  </a:tcPr>
                </a:tc>
              </a:tr>
            </a:tbl>
          </a:graphicData>
        </a:graphic>
      </p:graphicFrame>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90D16"/>
        </a:solidFill>
      </p:bgPr>
    </p:bg>
    <p:spTree>
      <p:nvGrpSpPr>
        <p:cNvPr id="305" name="Shape 305"/>
        <p:cNvGrpSpPr/>
        <p:nvPr/>
      </p:nvGrpSpPr>
      <p:grpSpPr>
        <a:xfrm>
          <a:off x="0" y="0"/>
          <a:ext cx="0" cy="0"/>
          <a:chOff x="0" y="0"/>
          <a:chExt cx="0" cy="0"/>
        </a:xfrm>
      </p:grpSpPr>
      <p:pic>
        <p:nvPicPr>
          <p:cNvPr descr="image.png" id="306" name="Google Shape;306;p34"/>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307" name="Google Shape;307;p34"/>
          <p:cNvSpPr txBox="1"/>
          <p:nvPr/>
        </p:nvSpPr>
        <p:spPr>
          <a:xfrm>
            <a:off x="581025" y="485775"/>
            <a:ext cx="4486200" cy="13854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i="0" lang="en-US" sz="4500" u="none" cap="none" strike="noStrike">
                <a:solidFill>
                  <a:srgbClr val="F8FAFC"/>
                </a:solidFill>
                <a:latin typeface="Poppins SemiBold"/>
                <a:ea typeface="Poppins SemiBold"/>
                <a:cs typeface="Poppins SemiBold"/>
                <a:sym typeface="Poppins SemiBold"/>
              </a:rPr>
              <a:t>Rendimiento GPU Delegate</a:t>
            </a:r>
            <a:endParaRPr sz="4500">
              <a:latin typeface="Poppins"/>
              <a:ea typeface="Poppins"/>
              <a:cs typeface="Poppins"/>
              <a:sym typeface="Poppins"/>
            </a:endParaRPr>
          </a:p>
        </p:txBody>
      </p:sp>
      <p:sp>
        <p:nvSpPr>
          <p:cNvPr id="308" name="Google Shape;308;p34"/>
          <p:cNvSpPr/>
          <p:nvPr/>
        </p:nvSpPr>
        <p:spPr>
          <a:xfrm>
            <a:off x="5857875" y="700087"/>
            <a:ext cx="476250" cy="28575"/>
          </a:xfrm>
          <a:prstGeom prst="roundRect">
            <a:avLst>
              <a:gd fmla="val 50000" name="adj"/>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aphicFrame>
        <p:nvGraphicFramePr>
          <p:cNvPr id="309" name="Google Shape;309;p34"/>
          <p:cNvGraphicFramePr/>
          <p:nvPr/>
        </p:nvGraphicFramePr>
        <p:xfrm>
          <a:off x="581025" y="2035400"/>
          <a:ext cx="3000000" cy="3000000"/>
        </p:xfrm>
        <a:graphic>
          <a:graphicData uri="http://schemas.openxmlformats.org/drawingml/2006/table">
            <a:tbl>
              <a:tblPr bandRow="1" firstRow="1">
                <a:noFill/>
                <a:tableStyleId>{73BF9BE0-EF4A-4F0A-BF5C-C545904F7FFB}</a:tableStyleId>
              </a:tblPr>
              <a:tblGrid>
                <a:gridCol w="1930200"/>
                <a:gridCol w="1279275"/>
                <a:gridCol w="1593425"/>
                <a:gridCol w="2132475"/>
              </a:tblGrid>
              <a:tr h="669725">
                <a:tc>
                  <a:txBody>
                    <a:bodyPr/>
                    <a:lstStyle/>
                    <a:p>
                      <a:pPr indent="0" lvl="0" marL="0" marR="0" rtl="0" algn="l">
                        <a:spcBef>
                          <a:spcPts val="0"/>
                        </a:spcBef>
                        <a:spcAft>
                          <a:spcPts val="0"/>
                        </a:spcAft>
                        <a:buNone/>
                      </a:pPr>
                      <a:r>
                        <a:rPr b="0" i="0" lang="en-US" sz="1500" u="none" cap="none" strike="noStrike">
                          <a:solidFill>
                            <a:srgbClr val="06B6D4"/>
                          </a:solidFill>
                          <a:latin typeface="Poppins SemiBold"/>
                          <a:ea typeface="Poppins SemiBold"/>
                          <a:cs typeface="Poppins SemiBold"/>
                          <a:sym typeface="Poppins SemiBold"/>
                        </a:rPr>
                        <a:t>Modelo</a:t>
                      </a:r>
                      <a:endParaRPr sz="1500">
                        <a:latin typeface="Poppins"/>
                        <a:ea typeface="Poppins"/>
                        <a:cs typeface="Poppins"/>
                        <a:sym typeface="Poppins"/>
                      </a:endParaRPr>
                    </a:p>
                  </a:txBody>
                  <a:tcPr marT="25400" marB="25400" marR="63500" marL="63500" anchor="ctr">
                    <a:lnL cap="flat" cmpd="sng" w="28575">
                      <a:solidFill>
                        <a:srgbClr val="06B6D4"/>
                      </a:solidFill>
                      <a:prstDash val="solid"/>
                      <a:round/>
                      <a:headEnd len="sm" w="sm" type="none"/>
                      <a:tailEnd len="sm" w="sm" type="none"/>
                    </a:lnL>
                    <a:lnR cap="flat" cmpd="sng" w="28575">
                      <a:solidFill>
                        <a:srgbClr val="06B6D4"/>
                      </a:solidFill>
                      <a:prstDash val="solid"/>
                      <a:round/>
                      <a:headEnd len="sm" w="sm" type="none"/>
                      <a:tailEnd len="sm" w="sm" type="none"/>
                    </a:lnR>
                    <a:lnT cap="flat" cmpd="sng" w="28575">
                      <a:solidFill>
                        <a:srgbClr val="06B6D4"/>
                      </a:solidFill>
                      <a:prstDash val="solid"/>
                      <a:round/>
                      <a:headEnd len="sm" w="sm" type="none"/>
                      <a:tailEnd len="sm" w="sm" type="none"/>
                    </a:lnT>
                    <a:lnB cap="flat" cmpd="sng" w="28575">
                      <a:solidFill>
                        <a:srgbClr val="06B6D4"/>
                      </a:solidFill>
                      <a:prstDash val="solid"/>
                      <a:round/>
                      <a:headEnd len="sm" w="sm" type="none"/>
                      <a:tailEnd len="sm" w="sm" type="none"/>
                    </a:lnB>
                    <a:solidFill>
                      <a:srgbClr val="0F172A"/>
                    </a:solidFill>
                  </a:tcPr>
                </a:tc>
                <a:tc>
                  <a:txBody>
                    <a:bodyPr/>
                    <a:lstStyle/>
                    <a:p>
                      <a:pPr indent="0" lvl="0" marL="0" marR="0" rtl="0" algn="l">
                        <a:spcBef>
                          <a:spcPts val="0"/>
                        </a:spcBef>
                        <a:spcAft>
                          <a:spcPts val="0"/>
                        </a:spcAft>
                        <a:buNone/>
                      </a:pPr>
                      <a:r>
                        <a:rPr b="0" i="0" lang="en-US" sz="1500" u="none" cap="none" strike="noStrike">
                          <a:solidFill>
                            <a:srgbClr val="06B6D4"/>
                          </a:solidFill>
                          <a:latin typeface="Poppins SemiBold"/>
                          <a:ea typeface="Poppins SemiBold"/>
                          <a:cs typeface="Poppins SemiBold"/>
                          <a:sym typeface="Poppins SemiBold"/>
                        </a:rPr>
                        <a:t>FPS (GPU)</a:t>
                      </a:r>
                      <a:endParaRPr sz="1500">
                        <a:latin typeface="Poppins"/>
                        <a:ea typeface="Poppins"/>
                        <a:cs typeface="Poppins"/>
                        <a:sym typeface="Poppins"/>
                      </a:endParaRPr>
                    </a:p>
                  </a:txBody>
                  <a:tcPr marT="25400" marB="25400" marR="63500" marL="63500" anchor="ctr">
                    <a:lnL cap="flat" cmpd="sng" w="28575">
                      <a:solidFill>
                        <a:srgbClr val="06B6D4"/>
                      </a:solidFill>
                      <a:prstDash val="solid"/>
                      <a:round/>
                      <a:headEnd len="sm" w="sm" type="none"/>
                      <a:tailEnd len="sm" w="sm" type="none"/>
                    </a:lnL>
                    <a:lnR cap="flat" cmpd="sng" w="28575">
                      <a:solidFill>
                        <a:srgbClr val="06B6D4"/>
                      </a:solidFill>
                      <a:prstDash val="solid"/>
                      <a:round/>
                      <a:headEnd len="sm" w="sm" type="none"/>
                      <a:tailEnd len="sm" w="sm" type="none"/>
                    </a:lnR>
                    <a:lnT cap="flat" cmpd="sng" w="28575">
                      <a:solidFill>
                        <a:srgbClr val="06B6D4"/>
                      </a:solidFill>
                      <a:prstDash val="solid"/>
                      <a:round/>
                      <a:headEnd len="sm" w="sm" type="none"/>
                      <a:tailEnd len="sm" w="sm" type="none"/>
                    </a:lnT>
                    <a:lnB cap="flat" cmpd="sng" w="28575">
                      <a:solidFill>
                        <a:srgbClr val="06B6D4"/>
                      </a:solidFill>
                      <a:prstDash val="solid"/>
                      <a:round/>
                      <a:headEnd len="sm" w="sm" type="none"/>
                      <a:tailEnd len="sm" w="sm" type="none"/>
                    </a:lnB>
                    <a:solidFill>
                      <a:srgbClr val="0F172A"/>
                    </a:solidFill>
                  </a:tcPr>
                </a:tc>
                <a:tc>
                  <a:txBody>
                    <a:bodyPr/>
                    <a:lstStyle/>
                    <a:p>
                      <a:pPr indent="0" lvl="0" marL="0" marR="0" rtl="0" algn="l">
                        <a:spcBef>
                          <a:spcPts val="0"/>
                        </a:spcBef>
                        <a:spcAft>
                          <a:spcPts val="0"/>
                        </a:spcAft>
                        <a:buNone/>
                      </a:pPr>
                      <a:r>
                        <a:rPr b="0" i="0" lang="en-US" sz="1500" u="none" cap="none" strike="noStrike">
                          <a:solidFill>
                            <a:srgbClr val="06B6D4"/>
                          </a:solidFill>
                          <a:latin typeface="Poppins SemiBold"/>
                          <a:ea typeface="Poppins SemiBold"/>
                          <a:cs typeface="Poppins SemiBold"/>
                          <a:sym typeface="Poppins SemiBold"/>
                        </a:rPr>
                        <a:t>Lat. Promedio</a:t>
                      </a:r>
                      <a:endParaRPr sz="1500">
                        <a:latin typeface="Poppins"/>
                        <a:ea typeface="Poppins"/>
                        <a:cs typeface="Poppins"/>
                        <a:sym typeface="Poppins"/>
                      </a:endParaRPr>
                    </a:p>
                  </a:txBody>
                  <a:tcPr marT="25400" marB="25400" marR="63500" marL="63500" anchor="ctr">
                    <a:lnL cap="flat" cmpd="sng" w="28575">
                      <a:solidFill>
                        <a:srgbClr val="06B6D4"/>
                      </a:solidFill>
                      <a:prstDash val="solid"/>
                      <a:round/>
                      <a:headEnd len="sm" w="sm" type="none"/>
                      <a:tailEnd len="sm" w="sm" type="none"/>
                    </a:lnL>
                    <a:lnR cap="flat" cmpd="sng" w="28575">
                      <a:solidFill>
                        <a:srgbClr val="06B6D4"/>
                      </a:solidFill>
                      <a:prstDash val="solid"/>
                      <a:round/>
                      <a:headEnd len="sm" w="sm" type="none"/>
                      <a:tailEnd len="sm" w="sm" type="none"/>
                    </a:lnR>
                    <a:lnT cap="flat" cmpd="sng" w="28575">
                      <a:solidFill>
                        <a:srgbClr val="06B6D4"/>
                      </a:solidFill>
                      <a:prstDash val="solid"/>
                      <a:round/>
                      <a:headEnd len="sm" w="sm" type="none"/>
                      <a:tailEnd len="sm" w="sm" type="none"/>
                    </a:lnT>
                    <a:lnB cap="flat" cmpd="sng" w="28575">
                      <a:solidFill>
                        <a:srgbClr val="06B6D4"/>
                      </a:solidFill>
                      <a:prstDash val="solid"/>
                      <a:round/>
                      <a:headEnd len="sm" w="sm" type="none"/>
                      <a:tailEnd len="sm" w="sm" type="none"/>
                    </a:lnB>
                    <a:solidFill>
                      <a:srgbClr val="0F172A"/>
                    </a:solidFill>
                  </a:tcPr>
                </a:tc>
                <a:tc>
                  <a:txBody>
                    <a:bodyPr/>
                    <a:lstStyle/>
                    <a:p>
                      <a:pPr indent="0" lvl="0" marL="0" marR="0" rtl="0" algn="l">
                        <a:spcBef>
                          <a:spcPts val="0"/>
                        </a:spcBef>
                        <a:spcAft>
                          <a:spcPts val="0"/>
                        </a:spcAft>
                        <a:buNone/>
                      </a:pPr>
                      <a:r>
                        <a:rPr b="0" i="0" lang="en-US" sz="1500" u="none" cap="none" strike="noStrike">
                          <a:solidFill>
                            <a:srgbClr val="06B6D4"/>
                          </a:solidFill>
                          <a:latin typeface="Poppins SemiBold"/>
                          <a:ea typeface="Poppins SemiBold"/>
                          <a:cs typeface="Poppins SemiBold"/>
                          <a:sym typeface="Poppins SemiBold"/>
                        </a:rPr>
                        <a:t>Rendimiento vs. CPU</a:t>
                      </a:r>
                      <a:endParaRPr sz="1500">
                        <a:latin typeface="Poppins"/>
                        <a:ea typeface="Poppins"/>
                        <a:cs typeface="Poppins"/>
                        <a:sym typeface="Poppins"/>
                      </a:endParaRPr>
                    </a:p>
                  </a:txBody>
                  <a:tcPr marT="25400" marB="25400" marR="63500" marL="63500" anchor="ctr">
                    <a:lnL cap="flat" cmpd="sng" w="28575">
                      <a:solidFill>
                        <a:srgbClr val="06B6D4"/>
                      </a:solidFill>
                      <a:prstDash val="solid"/>
                      <a:round/>
                      <a:headEnd len="sm" w="sm" type="none"/>
                      <a:tailEnd len="sm" w="sm" type="none"/>
                    </a:lnL>
                    <a:lnR cap="flat" cmpd="sng" w="28575">
                      <a:solidFill>
                        <a:srgbClr val="06B6D4"/>
                      </a:solidFill>
                      <a:prstDash val="solid"/>
                      <a:round/>
                      <a:headEnd len="sm" w="sm" type="none"/>
                      <a:tailEnd len="sm" w="sm" type="none"/>
                    </a:lnR>
                    <a:lnT cap="flat" cmpd="sng" w="28575">
                      <a:solidFill>
                        <a:srgbClr val="06B6D4"/>
                      </a:solidFill>
                      <a:prstDash val="solid"/>
                      <a:round/>
                      <a:headEnd len="sm" w="sm" type="none"/>
                      <a:tailEnd len="sm" w="sm" type="none"/>
                    </a:lnT>
                    <a:lnB cap="flat" cmpd="sng" w="28575">
                      <a:solidFill>
                        <a:srgbClr val="06B6D4"/>
                      </a:solidFill>
                      <a:prstDash val="solid"/>
                      <a:round/>
                      <a:headEnd len="sm" w="sm" type="none"/>
                      <a:tailEnd len="sm" w="sm" type="none"/>
                    </a:lnB>
                    <a:solidFill>
                      <a:srgbClr val="0F172A"/>
                    </a:solidFill>
                  </a:tcPr>
                </a:tc>
              </a:tr>
              <a:tr h="669725">
                <a:tc>
                  <a:txBody>
                    <a:bodyPr/>
                    <a:lstStyle/>
                    <a:p>
                      <a:pPr indent="0" lvl="0" marL="0" marR="0" rtl="0" algn="l">
                        <a:spcBef>
                          <a:spcPts val="0"/>
                        </a:spcBef>
                        <a:spcAft>
                          <a:spcPts val="0"/>
                        </a:spcAft>
                        <a:buNone/>
                      </a:pPr>
                      <a:r>
                        <a:rPr b="1" i="0" lang="en-US" sz="1500" u="none" cap="none" strike="noStrike">
                          <a:latin typeface="Poppins"/>
                          <a:ea typeface="Poppins"/>
                          <a:cs typeface="Poppins"/>
                          <a:sym typeface="Poppins"/>
                        </a:rPr>
                        <a:t>YOLOv8s Float32</a:t>
                      </a:r>
                      <a:endParaRPr sz="1500">
                        <a:latin typeface="Poppins"/>
                        <a:ea typeface="Poppins"/>
                        <a:cs typeface="Poppins"/>
                        <a:sym typeface="Poppins"/>
                      </a:endParaRPr>
                    </a:p>
                  </a:txBody>
                  <a:tcPr marT="25400" marB="25400" marR="63500" marL="63500" anchor="ctr">
                    <a:lnL cap="flat" cmpd="sng" w="28575">
                      <a:solidFill>
                        <a:srgbClr val="06B6D4"/>
                      </a:solidFill>
                      <a:prstDash val="solid"/>
                      <a:round/>
                      <a:headEnd len="sm" w="sm" type="none"/>
                      <a:tailEnd len="sm" w="sm" type="none"/>
                    </a:lnL>
                    <a:lnR cap="flat" cmpd="sng" w="28575">
                      <a:solidFill>
                        <a:srgbClr val="06B6D4"/>
                      </a:solidFill>
                      <a:prstDash val="solid"/>
                      <a:round/>
                      <a:headEnd len="sm" w="sm" type="none"/>
                      <a:tailEnd len="sm" w="sm" type="none"/>
                    </a:lnR>
                    <a:lnT cap="flat" cmpd="sng" w="28575">
                      <a:solidFill>
                        <a:srgbClr val="06B6D4"/>
                      </a:solidFill>
                      <a:prstDash val="solid"/>
                      <a:round/>
                      <a:headEnd len="sm" w="sm" type="none"/>
                      <a:tailEnd len="sm" w="sm" type="none"/>
                    </a:lnT>
                    <a:lnB cap="flat" cmpd="sng" w="28575">
                      <a:solidFill>
                        <a:srgbClr val="06B6D4"/>
                      </a:solidFill>
                      <a:prstDash val="solid"/>
                      <a:round/>
                      <a:headEnd len="sm" w="sm" type="none"/>
                      <a:tailEnd len="sm" w="sm" type="none"/>
                    </a:lnB>
                  </a:tcPr>
                </a:tc>
                <a:tc>
                  <a:txBody>
                    <a:bodyPr/>
                    <a:lstStyle/>
                    <a:p>
                      <a:pPr indent="0" lvl="0" marL="0" marR="0" rtl="0" algn="l">
                        <a:spcBef>
                          <a:spcPts val="0"/>
                        </a:spcBef>
                        <a:spcAft>
                          <a:spcPts val="0"/>
                        </a:spcAft>
                        <a:buNone/>
                      </a:pPr>
                      <a:r>
                        <a:rPr i="0" lang="en-US" sz="1500" u="none" cap="none" strike="noStrike">
                          <a:latin typeface="Poppins"/>
                          <a:ea typeface="Poppins"/>
                          <a:cs typeface="Poppins"/>
                          <a:sym typeface="Poppins"/>
                        </a:rPr>
                        <a:t>1.3</a:t>
                      </a:r>
                      <a:r>
                        <a:rPr lang="en-US" sz="1500">
                          <a:latin typeface="Poppins"/>
                          <a:ea typeface="Poppins"/>
                          <a:cs typeface="Poppins"/>
                          <a:sym typeface="Poppins"/>
                        </a:rPr>
                        <a:t>7</a:t>
                      </a:r>
                      <a:endParaRPr sz="1500">
                        <a:latin typeface="Poppins"/>
                        <a:ea typeface="Poppins"/>
                        <a:cs typeface="Poppins"/>
                        <a:sym typeface="Poppins"/>
                      </a:endParaRPr>
                    </a:p>
                  </a:txBody>
                  <a:tcPr marT="25400" marB="25400" marR="63500" marL="63500" anchor="ctr">
                    <a:lnL cap="flat" cmpd="sng" w="28575">
                      <a:solidFill>
                        <a:srgbClr val="06B6D4"/>
                      </a:solidFill>
                      <a:prstDash val="solid"/>
                      <a:round/>
                      <a:headEnd len="sm" w="sm" type="none"/>
                      <a:tailEnd len="sm" w="sm" type="none"/>
                    </a:lnL>
                    <a:lnR cap="flat" cmpd="sng" w="28575">
                      <a:solidFill>
                        <a:srgbClr val="06B6D4"/>
                      </a:solidFill>
                      <a:prstDash val="solid"/>
                      <a:round/>
                      <a:headEnd len="sm" w="sm" type="none"/>
                      <a:tailEnd len="sm" w="sm" type="none"/>
                    </a:lnR>
                    <a:lnT cap="flat" cmpd="sng" w="28575">
                      <a:solidFill>
                        <a:srgbClr val="06B6D4"/>
                      </a:solidFill>
                      <a:prstDash val="solid"/>
                      <a:round/>
                      <a:headEnd len="sm" w="sm" type="none"/>
                      <a:tailEnd len="sm" w="sm" type="none"/>
                    </a:lnT>
                    <a:lnB cap="flat" cmpd="sng" w="28575">
                      <a:solidFill>
                        <a:srgbClr val="06B6D4"/>
                      </a:solidFill>
                      <a:prstDash val="solid"/>
                      <a:round/>
                      <a:headEnd len="sm" w="sm" type="none"/>
                      <a:tailEnd len="sm" w="sm" type="none"/>
                    </a:lnB>
                  </a:tcPr>
                </a:tc>
                <a:tc>
                  <a:txBody>
                    <a:bodyPr/>
                    <a:lstStyle/>
                    <a:p>
                      <a:pPr indent="0" lvl="0" marL="0" marR="0" rtl="0" algn="l">
                        <a:spcBef>
                          <a:spcPts val="0"/>
                        </a:spcBef>
                        <a:spcAft>
                          <a:spcPts val="0"/>
                        </a:spcAft>
                        <a:buNone/>
                      </a:pPr>
                      <a:r>
                        <a:rPr i="0" lang="en-US" sz="1500" u="none" cap="none" strike="noStrike">
                          <a:latin typeface="Poppins"/>
                          <a:ea typeface="Poppins"/>
                          <a:cs typeface="Poppins"/>
                          <a:sym typeface="Poppins"/>
                        </a:rPr>
                        <a:t>7</a:t>
                      </a:r>
                      <a:r>
                        <a:rPr lang="en-US" sz="1500">
                          <a:latin typeface="Poppins"/>
                          <a:ea typeface="Poppins"/>
                          <a:cs typeface="Poppins"/>
                          <a:sym typeface="Poppins"/>
                        </a:rPr>
                        <a:t>32</a:t>
                      </a:r>
                      <a:r>
                        <a:rPr i="0" lang="en-US" sz="1500" u="none" cap="none" strike="noStrike">
                          <a:latin typeface="Poppins"/>
                          <a:ea typeface="Poppins"/>
                          <a:cs typeface="Poppins"/>
                          <a:sym typeface="Poppins"/>
                        </a:rPr>
                        <a:t>.</a:t>
                      </a:r>
                      <a:r>
                        <a:rPr lang="en-US" sz="1500">
                          <a:latin typeface="Poppins"/>
                          <a:ea typeface="Poppins"/>
                          <a:cs typeface="Poppins"/>
                          <a:sym typeface="Poppins"/>
                        </a:rPr>
                        <a:t>3</a:t>
                      </a:r>
                      <a:r>
                        <a:rPr i="0" lang="en-US" sz="1500" u="none" cap="none" strike="noStrike">
                          <a:latin typeface="Poppins"/>
                          <a:ea typeface="Poppins"/>
                          <a:cs typeface="Poppins"/>
                          <a:sym typeface="Poppins"/>
                        </a:rPr>
                        <a:t> ms</a:t>
                      </a:r>
                      <a:endParaRPr sz="1500">
                        <a:latin typeface="Poppins"/>
                        <a:ea typeface="Poppins"/>
                        <a:cs typeface="Poppins"/>
                        <a:sym typeface="Poppins"/>
                      </a:endParaRPr>
                    </a:p>
                  </a:txBody>
                  <a:tcPr marT="25400" marB="25400" marR="63500" marL="63500" anchor="ctr">
                    <a:lnL cap="flat" cmpd="sng" w="28575">
                      <a:solidFill>
                        <a:srgbClr val="06B6D4"/>
                      </a:solidFill>
                      <a:prstDash val="solid"/>
                      <a:round/>
                      <a:headEnd len="sm" w="sm" type="none"/>
                      <a:tailEnd len="sm" w="sm" type="none"/>
                    </a:lnL>
                    <a:lnR cap="flat" cmpd="sng" w="28575">
                      <a:solidFill>
                        <a:srgbClr val="06B6D4"/>
                      </a:solidFill>
                      <a:prstDash val="solid"/>
                      <a:round/>
                      <a:headEnd len="sm" w="sm" type="none"/>
                      <a:tailEnd len="sm" w="sm" type="none"/>
                    </a:lnR>
                    <a:lnT cap="flat" cmpd="sng" w="28575">
                      <a:solidFill>
                        <a:srgbClr val="06B6D4"/>
                      </a:solidFill>
                      <a:prstDash val="solid"/>
                      <a:round/>
                      <a:headEnd len="sm" w="sm" type="none"/>
                      <a:tailEnd len="sm" w="sm" type="none"/>
                    </a:lnT>
                    <a:lnB cap="flat" cmpd="sng" w="28575">
                      <a:solidFill>
                        <a:srgbClr val="06B6D4"/>
                      </a:solidFill>
                      <a:prstDash val="solid"/>
                      <a:round/>
                      <a:headEnd len="sm" w="sm" type="none"/>
                      <a:tailEnd len="sm" w="sm" type="none"/>
                    </a:lnB>
                  </a:tcPr>
                </a:tc>
                <a:tc>
                  <a:txBody>
                    <a:bodyPr/>
                    <a:lstStyle/>
                    <a:p>
                      <a:pPr indent="0" lvl="0" marL="0" marR="0" rtl="0" algn="l">
                        <a:spcBef>
                          <a:spcPts val="0"/>
                        </a:spcBef>
                        <a:spcAft>
                          <a:spcPts val="0"/>
                        </a:spcAft>
                        <a:buNone/>
                      </a:pPr>
                      <a:r>
                        <a:rPr i="0" lang="en-US" sz="1500" u="none" cap="none" strike="noStrike">
                          <a:latin typeface="Poppins"/>
                          <a:ea typeface="Poppins"/>
                          <a:cs typeface="Poppins"/>
                          <a:sym typeface="Poppins"/>
                        </a:rPr>
                        <a:t>↓ Peor (</a:t>
                      </a:r>
                      <a:r>
                        <a:rPr lang="en-US" sz="1500">
                          <a:latin typeface="Poppins"/>
                          <a:ea typeface="Poppins"/>
                          <a:cs typeface="Poppins"/>
                          <a:sym typeface="Poppins"/>
                        </a:rPr>
                        <a:t>9.8%</a:t>
                      </a:r>
                      <a:r>
                        <a:rPr i="0" lang="en-US" sz="1500" u="none" cap="none" strike="noStrike">
                          <a:latin typeface="Poppins"/>
                          <a:ea typeface="Poppins"/>
                          <a:cs typeface="Poppins"/>
                          <a:sym typeface="Poppins"/>
                        </a:rPr>
                        <a:t>)</a:t>
                      </a:r>
                      <a:endParaRPr sz="1500">
                        <a:latin typeface="Poppins"/>
                        <a:ea typeface="Poppins"/>
                        <a:cs typeface="Poppins"/>
                        <a:sym typeface="Poppins"/>
                      </a:endParaRPr>
                    </a:p>
                  </a:txBody>
                  <a:tcPr marT="25400" marB="25400" marR="63500" marL="63500" anchor="ctr">
                    <a:lnL cap="flat" cmpd="sng" w="28575">
                      <a:solidFill>
                        <a:srgbClr val="06B6D4"/>
                      </a:solidFill>
                      <a:prstDash val="solid"/>
                      <a:round/>
                      <a:headEnd len="sm" w="sm" type="none"/>
                      <a:tailEnd len="sm" w="sm" type="none"/>
                    </a:lnL>
                    <a:lnR cap="flat" cmpd="sng" w="28575">
                      <a:solidFill>
                        <a:srgbClr val="06B6D4"/>
                      </a:solidFill>
                      <a:prstDash val="solid"/>
                      <a:round/>
                      <a:headEnd len="sm" w="sm" type="none"/>
                      <a:tailEnd len="sm" w="sm" type="none"/>
                    </a:lnR>
                    <a:lnT cap="flat" cmpd="sng" w="28575">
                      <a:solidFill>
                        <a:srgbClr val="06B6D4"/>
                      </a:solidFill>
                      <a:prstDash val="solid"/>
                      <a:round/>
                      <a:headEnd len="sm" w="sm" type="none"/>
                      <a:tailEnd len="sm" w="sm" type="none"/>
                    </a:lnT>
                    <a:lnB cap="flat" cmpd="sng" w="28575">
                      <a:solidFill>
                        <a:srgbClr val="06B6D4"/>
                      </a:solidFill>
                      <a:prstDash val="solid"/>
                      <a:round/>
                      <a:headEnd len="sm" w="sm" type="none"/>
                      <a:tailEnd len="sm" w="sm" type="none"/>
                    </a:lnB>
                  </a:tcPr>
                </a:tc>
              </a:tr>
              <a:tr h="669725">
                <a:tc>
                  <a:txBody>
                    <a:bodyPr/>
                    <a:lstStyle/>
                    <a:p>
                      <a:pPr indent="0" lvl="0" marL="0" marR="0" rtl="0" algn="l">
                        <a:spcBef>
                          <a:spcPts val="0"/>
                        </a:spcBef>
                        <a:spcAft>
                          <a:spcPts val="0"/>
                        </a:spcAft>
                        <a:buNone/>
                      </a:pPr>
                      <a:r>
                        <a:rPr b="1" i="0" lang="en-US" sz="1500" u="none" cap="none" strike="noStrike">
                          <a:latin typeface="Poppins"/>
                          <a:ea typeface="Poppins"/>
                          <a:cs typeface="Poppins"/>
                          <a:sym typeface="Poppins"/>
                        </a:rPr>
                        <a:t>YOLOv8s Float16</a:t>
                      </a:r>
                      <a:endParaRPr sz="1500">
                        <a:latin typeface="Poppins"/>
                        <a:ea typeface="Poppins"/>
                        <a:cs typeface="Poppins"/>
                        <a:sym typeface="Poppins"/>
                      </a:endParaRPr>
                    </a:p>
                  </a:txBody>
                  <a:tcPr marT="25400" marB="25400" marR="63500" marL="63500" anchor="ctr">
                    <a:lnL cap="flat" cmpd="sng" w="28575">
                      <a:solidFill>
                        <a:srgbClr val="06B6D4"/>
                      </a:solidFill>
                      <a:prstDash val="solid"/>
                      <a:round/>
                      <a:headEnd len="sm" w="sm" type="none"/>
                      <a:tailEnd len="sm" w="sm" type="none"/>
                    </a:lnL>
                    <a:lnR cap="flat" cmpd="sng" w="28575">
                      <a:solidFill>
                        <a:srgbClr val="06B6D4"/>
                      </a:solidFill>
                      <a:prstDash val="solid"/>
                      <a:round/>
                      <a:headEnd len="sm" w="sm" type="none"/>
                      <a:tailEnd len="sm" w="sm" type="none"/>
                    </a:lnR>
                    <a:lnT cap="flat" cmpd="sng" w="28575">
                      <a:solidFill>
                        <a:srgbClr val="06B6D4"/>
                      </a:solidFill>
                      <a:prstDash val="solid"/>
                      <a:round/>
                      <a:headEnd len="sm" w="sm" type="none"/>
                      <a:tailEnd len="sm" w="sm" type="none"/>
                    </a:lnT>
                    <a:lnB cap="flat" cmpd="sng" w="28575">
                      <a:solidFill>
                        <a:srgbClr val="06B6D4"/>
                      </a:solidFill>
                      <a:prstDash val="solid"/>
                      <a:round/>
                      <a:headEnd len="sm" w="sm" type="none"/>
                      <a:tailEnd len="sm" w="sm" type="none"/>
                    </a:lnB>
                  </a:tcPr>
                </a:tc>
                <a:tc>
                  <a:txBody>
                    <a:bodyPr/>
                    <a:lstStyle/>
                    <a:p>
                      <a:pPr indent="0" lvl="0" marL="0" marR="0" rtl="0" algn="l">
                        <a:spcBef>
                          <a:spcPts val="0"/>
                        </a:spcBef>
                        <a:spcAft>
                          <a:spcPts val="0"/>
                        </a:spcAft>
                        <a:buNone/>
                      </a:pPr>
                      <a:r>
                        <a:rPr i="0" lang="en-US" sz="1500" u="none" cap="none" strike="noStrike">
                          <a:latin typeface="Poppins"/>
                          <a:ea typeface="Poppins"/>
                          <a:cs typeface="Poppins"/>
                          <a:sym typeface="Poppins"/>
                        </a:rPr>
                        <a:t>1.3</a:t>
                      </a:r>
                      <a:r>
                        <a:rPr lang="en-US" sz="1500">
                          <a:latin typeface="Poppins"/>
                          <a:ea typeface="Poppins"/>
                          <a:cs typeface="Poppins"/>
                          <a:sym typeface="Poppins"/>
                        </a:rPr>
                        <a:t>5</a:t>
                      </a:r>
                      <a:endParaRPr sz="1500">
                        <a:latin typeface="Poppins"/>
                        <a:ea typeface="Poppins"/>
                        <a:cs typeface="Poppins"/>
                        <a:sym typeface="Poppins"/>
                      </a:endParaRPr>
                    </a:p>
                  </a:txBody>
                  <a:tcPr marT="25400" marB="25400" marR="63500" marL="63500" anchor="ctr">
                    <a:lnL cap="flat" cmpd="sng" w="28575">
                      <a:solidFill>
                        <a:srgbClr val="06B6D4"/>
                      </a:solidFill>
                      <a:prstDash val="solid"/>
                      <a:round/>
                      <a:headEnd len="sm" w="sm" type="none"/>
                      <a:tailEnd len="sm" w="sm" type="none"/>
                    </a:lnL>
                    <a:lnR cap="flat" cmpd="sng" w="28575">
                      <a:solidFill>
                        <a:srgbClr val="06B6D4"/>
                      </a:solidFill>
                      <a:prstDash val="solid"/>
                      <a:round/>
                      <a:headEnd len="sm" w="sm" type="none"/>
                      <a:tailEnd len="sm" w="sm" type="none"/>
                    </a:lnR>
                    <a:lnT cap="flat" cmpd="sng" w="28575">
                      <a:solidFill>
                        <a:srgbClr val="06B6D4"/>
                      </a:solidFill>
                      <a:prstDash val="solid"/>
                      <a:round/>
                      <a:headEnd len="sm" w="sm" type="none"/>
                      <a:tailEnd len="sm" w="sm" type="none"/>
                    </a:lnT>
                    <a:lnB cap="flat" cmpd="sng" w="28575">
                      <a:solidFill>
                        <a:srgbClr val="06B6D4"/>
                      </a:solidFill>
                      <a:prstDash val="solid"/>
                      <a:round/>
                      <a:headEnd len="sm" w="sm" type="none"/>
                      <a:tailEnd len="sm" w="sm" type="none"/>
                    </a:lnB>
                  </a:tcPr>
                </a:tc>
                <a:tc>
                  <a:txBody>
                    <a:bodyPr/>
                    <a:lstStyle/>
                    <a:p>
                      <a:pPr indent="0" lvl="0" marL="0" marR="0" rtl="0" algn="l">
                        <a:spcBef>
                          <a:spcPts val="0"/>
                        </a:spcBef>
                        <a:spcAft>
                          <a:spcPts val="0"/>
                        </a:spcAft>
                        <a:buNone/>
                      </a:pPr>
                      <a:r>
                        <a:rPr i="0" lang="en-US" sz="1500" u="none" cap="none" strike="noStrike">
                          <a:latin typeface="Poppins"/>
                          <a:ea typeface="Poppins"/>
                          <a:cs typeface="Poppins"/>
                          <a:sym typeface="Poppins"/>
                        </a:rPr>
                        <a:t>7</a:t>
                      </a:r>
                      <a:r>
                        <a:rPr lang="en-US" sz="1500">
                          <a:latin typeface="Poppins"/>
                          <a:ea typeface="Poppins"/>
                          <a:cs typeface="Poppins"/>
                          <a:sym typeface="Poppins"/>
                        </a:rPr>
                        <a:t>40</a:t>
                      </a:r>
                      <a:r>
                        <a:rPr i="0" lang="en-US" sz="1500" u="none" cap="none" strike="noStrike">
                          <a:latin typeface="Poppins"/>
                          <a:ea typeface="Poppins"/>
                          <a:cs typeface="Poppins"/>
                          <a:sym typeface="Poppins"/>
                        </a:rPr>
                        <a:t>.</a:t>
                      </a:r>
                      <a:r>
                        <a:rPr lang="en-US" sz="1500">
                          <a:latin typeface="Poppins"/>
                          <a:ea typeface="Poppins"/>
                          <a:cs typeface="Poppins"/>
                          <a:sym typeface="Poppins"/>
                        </a:rPr>
                        <a:t>8</a:t>
                      </a:r>
                      <a:r>
                        <a:rPr i="0" lang="en-US" sz="1500" u="none" cap="none" strike="noStrike">
                          <a:latin typeface="Poppins"/>
                          <a:ea typeface="Poppins"/>
                          <a:cs typeface="Poppins"/>
                          <a:sym typeface="Poppins"/>
                        </a:rPr>
                        <a:t> ms</a:t>
                      </a:r>
                      <a:endParaRPr sz="1500">
                        <a:latin typeface="Poppins"/>
                        <a:ea typeface="Poppins"/>
                        <a:cs typeface="Poppins"/>
                        <a:sym typeface="Poppins"/>
                      </a:endParaRPr>
                    </a:p>
                  </a:txBody>
                  <a:tcPr marT="25400" marB="25400" marR="63500" marL="63500" anchor="ctr">
                    <a:lnL cap="flat" cmpd="sng" w="28575">
                      <a:solidFill>
                        <a:srgbClr val="06B6D4"/>
                      </a:solidFill>
                      <a:prstDash val="solid"/>
                      <a:round/>
                      <a:headEnd len="sm" w="sm" type="none"/>
                      <a:tailEnd len="sm" w="sm" type="none"/>
                    </a:lnL>
                    <a:lnR cap="flat" cmpd="sng" w="28575">
                      <a:solidFill>
                        <a:srgbClr val="06B6D4"/>
                      </a:solidFill>
                      <a:prstDash val="solid"/>
                      <a:round/>
                      <a:headEnd len="sm" w="sm" type="none"/>
                      <a:tailEnd len="sm" w="sm" type="none"/>
                    </a:lnR>
                    <a:lnT cap="flat" cmpd="sng" w="28575">
                      <a:solidFill>
                        <a:srgbClr val="06B6D4"/>
                      </a:solidFill>
                      <a:prstDash val="solid"/>
                      <a:round/>
                      <a:headEnd len="sm" w="sm" type="none"/>
                      <a:tailEnd len="sm" w="sm" type="none"/>
                    </a:lnT>
                    <a:lnB cap="flat" cmpd="sng" w="28575">
                      <a:solidFill>
                        <a:srgbClr val="06B6D4"/>
                      </a:solidFill>
                      <a:prstDash val="solid"/>
                      <a:round/>
                      <a:headEnd len="sm" w="sm" type="none"/>
                      <a:tailEnd len="sm" w="sm" type="none"/>
                    </a:lnB>
                  </a:tcPr>
                </a:tc>
                <a:tc>
                  <a:txBody>
                    <a:bodyPr/>
                    <a:lstStyle/>
                    <a:p>
                      <a:pPr indent="0" lvl="0" marL="0" marR="0" rtl="0" algn="l">
                        <a:spcBef>
                          <a:spcPts val="0"/>
                        </a:spcBef>
                        <a:spcAft>
                          <a:spcPts val="0"/>
                        </a:spcAft>
                        <a:buNone/>
                      </a:pPr>
                      <a:r>
                        <a:rPr i="0" lang="en-US" sz="1500" u="none" cap="none" strike="noStrike">
                          <a:latin typeface="Poppins"/>
                          <a:ea typeface="Poppins"/>
                          <a:cs typeface="Poppins"/>
                          <a:sym typeface="Poppins"/>
                        </a:rPr>
                        <a:t>↓ Peor (</a:t>
                      </a:r>
                      <a:r>
                        <a:rPr lang="en-US" sz="1500">
                          <a:latin typeface="Poppins"/>
                          <a:ea typeface="Poppins"/>
                          <a:cs typeface="Poppins"/>
                          <a:sym typeface="Poppins"/>
                        </a:rPr>
                        <a:t>18.4%</a:t>
                      </a:r>
                      <a:r>
                        <a:rPr i="0" lang="en-US" sz="1500" u="none" cap="none" strike="noStrike">
                          <a:latin typeface="Poppins"/>
                          <a:ea typeface="Poppins"/>
                          <a:cs typeface="Poppins"/>
                          <a:sym typeface="Poppins"/>
                        </a:rPr>
                        <a:t>)</a:t>
                      </a:r>
                      <a:endParaRPr sz="1500">
                        <a:latin typeface="Poppins"/>
                        <a:ea typeface="Poppins"/>
                        <a:cs typeface="Poppins"/>
                        <a:sym typeface="Poppins"/>
                      </a:endParaRPr>
                    </a:p>
                  </a:txBody>
                  <a:tcPr marT="25400" marB="25400" marR="63500" marL="63500" anchor="ctr">
                    <a:lnL cap="flat" cmpd="sng" w="28575">
                      <a:solidFill>
                        <a:srgbClr val="06B6D4"/>
                      </a:solidFill>
                      <a:prstDash val="solid"/>
                      <a:round/>
                      <a:headEnd len="sm" w="sm" type="none"/>
                      <a:tailEnd len="sm" w="sm" type="none"/>
                    </a:lnL>
                    <a:lnR cap="flat" cmpd="sng" w="28575">
                      <a:solidFill>
                        <a:srgbClr val="06B6D4"/>
                      </a:solidFill>
                      <a:prstDash val="solid"/>
                      <a:round/>
                      <a:headEnd len="sm" w="sm" type="none"/>
                      <a:tailEnd len="sm" w="sm" type="none"/>
                    </a:lnR>
                    <a:lnT cap="flat" cmpd="sng" w="28575">
                      <a:solidFill>
                        <a:srgbClr val="06B6D4"/>
                      </a:solidFill>
                      <a:prstDash val="solid"/>
                      <a:round/>
                      <a:headEnd len="sm" w="sm" type="none"/>
                      <a:tailEnd len="sm" w="sm" type="none"/>
                    </a:lnT>
                    <a:lnB cap="flat" cmpd="sng" w="28575">
                      <a:solidFill>
                        <a:srgbClr val="06B6D4"/>
                      </a:solidFill>
                      <a:prstDash val="solid"/>
                      <a:round/>
                      <a:headEnd len="sm" w="sm" type="none"/>
                      <a:tailEnd len="sm" w="sm" type="none"/>
                    </a:lnB>
                  </a:tcPr>
                </a:tc>
              </a:tr>
              <a:tr h="669725">
                <a:tc>
                  <a:txBody>
                    <a:bodyPr/>
                    <a:lstStyle/>
                    <a:p>
                      <a:pPr indent="0" lvl="0" marL="0" marR="0" rtl="0" algn="l">
                        <a:spcBef>
                          <a:spcPts val="0"/>
                        </a:spcBef>
                        <a:spcAft>
                          <a:spcPts val="0"/>
                        </a:spcAft>
                        <a:buNone/>
                      </a:pPr>
                      <a:r>
                        <a:rPr b="1" i="0" lang="en-US" sz="1500" u="none" cap="none" strike="noStrike">
                          <a:latin typeface="Poppins"/>
                          <a:ea typeface="Poppins"/>
                          <a:cs typeface="Poppins"/>
                          <a:sym typeface="Poppins"/>
                        </a:rPr>
                        <a:t>YOLO11n Float32</a:t>
                      </a:r>
                      <a:endParaRPr b="1" i="0" sz="1500" u="none" cap="none" strike="noStrike">
                        <a:latin typeface="Poppins"/>
                        <a:ea typeface="Poppins"/>
                        <a:cs typeface="Poppins"/>
                        <a:sym typeface="Poppins"/>
                      </a:endParaRPr>
                    </a:p>
                  </a:txBody>
                  <a:tcPr marT="25400" marB="25400" marR="63500" marL="63500" anchor="ctr">
                    <a:lnL cap="flat" cmpd="sng" w="28575">
                      <a:solidFill>
                        <a:srgbClr val="06B6D4"/>
                      </a:solidFill>
                      <a:prstDash val="solid"/>
                      <a:round/>
                      <a:headEnd len="sm" w="sm" type="none"/>
                      <a:tailEnd len="sm" w="sm" type="none"/>
                    </a:lnL>
                    <a:lnR cap="flat" cmpd="sng" w="28575">
                      <a:solidFill>
                        <a:srgbClr val="06B6D4"/>
                      </a:solidFill>
                      <a:prstDash val="solid"/>
                      <a:round/>
                      <a:headEnd len="sm" w="sm" type="none"/>
                      <a:tailEnd len="sm" w="sm" type="none"/>
                    </a:lnR>
                    <a:lnT cap="flat" cmpd="sng" w="28575">
                      <a:solidFill>
                        <a:srgbClr val="06B6D4"/>
                      </a:solidFill>
                      <a:prstDash val="solid"/>
                      <a:round/>
                      <a:headEnd len="sm" w="sm" type="none"/>
                      <a:tailEnd len="sm" w="sm" type="none"/>
                    </a:lnT>
                    <a:lnB cap="flat" cmpd="sng" w="28575">
                      <a:solidFill>
                        <a:srgbClr val="06B6D4"/>
                      </a:solidFill>
                      <a:prstDash val="solid"/>
                      <a:round/>
                      <a:headEnd len="sm" w="sm" type="none"/>
                      <a:tailEnd len="sm" w="sm" type="none"/>
                    </a:lnB>
                  </a:tcPr>
                </a:tc>
                <a:tc>
                  <a:txBody>
                    <a:bodyPr/>
                    <a:lstStyle/>
                    <a:p>
                      <a:pPr indent="0" lvl="0" marL="0" marR="0" rtl="0" algn="l">
                        <a:spcBef>
                          <a:spcPts val="0"/>
                        </a:spcBef>
                        <a:spcAft>
                          <a:spcPts val="0"/>
                        </a:spcAft>
                        <a:buNone/>
                      </a:pPr>
                      <a:r>
                        <a:rPr i="0" lang="en-US" sz="1500" u="none" cap="none" strike="noStrike">
                          <a:latin typeface="Poppins"/>
                          <a:ea typeface="Poppins"/>
                          <a:cs typeface="Poppins"/>
                          <a:sym typeface="Poppins"/>
                        </a:rPr>
                        <a:t>3.9</a:t>
                      </a:r>
                      <a:r>
                        <a:rPr lang="en-US" sz="1500">
                          <a:latin typeface="Poppins"/>
                          <a:ea typeface="Poppins"/>
                          <a:cs typeface="Poppins"/>
                          <a:sym typeface="Poppins"/>
                        </a:rPr>
                        <a:t>6</a:t>
                      </a:r>
                      <a:endParaRPr i="0" sz="1500" u="none" cap="none" strike="noStrike">
                        <a:latin typeface="Poppins"/>
                        <a:ea typeface="Poppins"/>
                        <a:cs typeface="Poppins"/>
                        <a:sym typeface="Poppins"/>
                      </a:endParaRPr>
                    </a:p>
                  </a:txBody>
                  <a:tcPr marT="25400" marB="25400" marR="63500" marL="63500" anchor="ctr">
                    <a:lnL cap="flat" cmpd="sng" w="28575">
                      <a:solidFill>
                        <a:srgbClr val="06B6D4"/>
                      </a:solidFill>
                      <a:prstDash val="solid"/>
                      <a:round/>
                      <a:headEnd len="sm" w="sm" type="none"/>
                      <a:tailEnd len="sm" w="sm" type="none"/>
                    </a:lnL>
                    <a:lnR cap="flat" cmpd="sng" w="28575">
                      <a:solidFill>
                        <a:srgbClr val="06B6D4"/>
                      </a:solidFill>
                      <a:prstDash val="solid"/>
                      <a:round/>
                      <a:headEnd len="sm" w="sm" type="none"/>
                      <a:tailEnd len="sm" w="sm" type="none"/>
                    </a:lnR>
                    <a:lnT cap="flat" cmpd="sng" w="28575">
                      <a:solidFill>
                        <a:srgbClr val="06B6D4"/>
                      </a:solidFill>
                      <a:prstDash val="solid"/>
                      <a:round/>
                      <a:headEnd len="sm" w="sm" type="none"/>
                      <a:tailEnd len="sm" w="sm" type="none"/>
                    </a:lnT>
                    <a:lnB cap="flat" cmpd="sng" w="28575">
                      <a:solidFill>
                        <a:srgbClr val="06B6D4"/>
                      </a:solidFill>
                      <a:prstDash val="solid"/>
                      <a:round/>
                      <a:headEnd len="sm" w="sm" type="none"/>
                      <a:tailEnd len="sm" w="sm" type="none"/>
                    </a:lnB>
                  </a:tcPr>
                </a:tc>
                <a:tc>
                  <a:txBody>
                    <a:bodyPr/>
                    <a:lstStyle/>
                    <a:p>
                      <a:pPr indent="0" lvl="0" marL="0" marR="0" rtl="0" algn="l">
                        <a:spcBef>
                          <a:spcPts val="0"/>
                        </a:spcBef>
                        <a:spcAft>
                          <a:spcPts val="0"/>
                        </a:spcAft>
                        <a:buNone/>
                      </a:pPr>
                      <a:r>
                        <a:rPr i="0" lang="en-US" sz="1500" u="none" cap="none" strike="noStrike">
                          <a:latin typeface="Poppins"/>
                          <a:ea typeface="Poppins"/>
                          <a:cs typeface="Poppins"/>
                          <a:sym typeface="Poppins"/>
                        </a:rPr>
                        <a:t>25</a:t>
                      </a:r>
                      <a:r>
                        <a:rPr lang="en-US" sz="1500">
                          <a:latin typeface="Poppins"/>
                          <a:ea typeface="Poppins"/>
                          <a:cs typeface="Poppins"/>
                          <a:sym typeface="Poppins"/>
                        </a:rPr>
                        <a:t>2</a:t>
                      </a:r>
                      <a:r>
                        <a:rPr i="0" lang="en-US" sz="1500" u="none" cap="none" strike="noStrike">
                          <a:latin typeface="Poppins"/>
                          <a:ea typeface="Poppins"/>
                          <a:cs typeface="Poppins"/>
                          <a:sym typeface="Poppins"/>
                        </a:rPr>
                        <a:t>.</a:t>
                      </a:r>
                      <a:r>
                        <a:rPr lang="en-US" sz="1500">
                          <a:latin typeface="Poppins"/>
                          <a:ea typeface="Poppins"/>
                          <a:cs typeface="Poppins"/>
                          <a:sym typeface="Poppins"/>
                        </a:rPr>
                        <a:t>5</a:t>
                      </a:r>
                      <a:r>
                        <a:rPr i="0" lang="en-US" sz="1500" u="none" cap="none" strike="noStrike">
                          <a:latin typeface="Poppins"/>
                          <a:ea typeface="Poppins"/>
                          <a:cs typeface="Poppins"/>
                          <a:sym typeface="Poppins"/>
                        </a:rPr>
                        <a:t> ms</a:t>
                      </a:r>
                      <a:endParaRPr i="0" sz="1500" u="none" cap="none" strike="noStrike">
                        <a:latin typeface="Poppins"/>
                        <a:ea typeface="Poppins"/>
                        <a:cs typeface="Poppins"/>
                        <a:sym typeface="Poppins"/>
                      </a:endParaRPr>
                    </a:p>
                  </a:txBody>
                  <a:tcPr marT="25400" marB="25400" marR="63500" marL="63500" anchor="ctr">
                    <a:lnL cap="flat" cmpd="sng" w="28575">
                      <a:solidFill>
                        <a:srgbClr val="06B6D4"/>
                      </a:solidFill>
                      <a:prstDash val="solid"/>
                      <a:round/>
                      <a:headEnd len="sm" w="sm" type="none"/>
                      <a:tailEnd len="sm" w="sm" type="none"/>
                    </a:lnL>
                    <a:lnR cap="flat" cmpd="sng" w="28575">
                      <a:solidFill>
                        <a:srgbClr val="06B6D4"/>
                      </a:solidFill>
                      <a:prstDash val="solid"/>
                      <a:round/>
                      <a:headEnd len="sm" w="sm" type="none"/>
                      <a:tailEnd len="sm" w="sm" type="none"/>
                    </a:lnR>
                    <a:lnT cap="flat" cmpd="sng" w="28575">
                      <a:solidFill>
                        <a:srgbClr val="06B6D4"/>
                      </a:solidFill>
                      <a:prstDash val="solid"/>
                      <a:round/>
                      <a:headEnd len="sm" w="sm" type="none"/>
                      <a:tailEnd len="sm" w="sm" type="none"/>
                    </a:lnT>
                    <a:lnB cap="flat" cmpd="sng" w="28575">
                      <a:solidFill>
                        <a:srgbClr val="06B6D4"/>
                      </a:solidFill>
                      <a:prstDash val="solid"/>
                      <a:round/>
                      <a:headEnd len="sm" w="sm" type="none"/>
                      <a:tailEnd len="sm" w="sm" type="none"/>
                    </a:lnB>
                  </a:tcPr>
                </a:tc>
                <a:tc>
                  <a:txBody>
                    <a:bodyPr/>
                    <a:lstStyle/>
                    <a:p>
                      <a:pPr indent="0" lvl="0" marL="0" marR="0" rtl="0" algn="l">
                        <a:spcBef>
                          <a:spcPts val="0"/>
                        </a:spcBef>
                        <a:spcAft>
                          <a:spcPts val="0"/>
                        </a:spcAft>
                        <a:buNone/>
                      </a:pPr>
                      <a:r>
                        <a:rPr i="0" lang="en-US" sz="1500" u="none" cap="none" strike="noStrike">
                          <a:latin typeface="Poppins"/>
                          <a:ea typeface="Poppins"/>
                          <a:cs typeface="Poppins"/>
                          <a:sym typeface="Poppins"/>
                        </a:rPr>
                        <a:t>↓ Peor (-</a:t>
                      </a:r>
                      <a:r>
                        <a:rPr lang="en-US" sz="1500">
                          <a:latin typeface="Poppins"/>
                          <a:ea typeface="Poppins"/>
                          <a:cs typeface="Poppins"/>
                          <a:sym typeface="Poppins"/>
                        </a:rPr>
                        <a:t>33.5</a:t>
                      </a:r>
                      <a:r>
                        <a:rPr i="0" lang="en-US" sz="1500" u="none" cap="none" strike="noStrike">
                          <a:latin typeface="Poppins"/>
                          <a:ea typeface="Poppins"/>
                          <a:cs typeface="Poppins"/>
                          <a:sym typeface="Poppins"/>
                        </a:rPr>
                        <a:t>%)</a:t>
                      </a:r>
                      <a:endParaRPr i="0" sz="1500" u="none" cap="none" strike="noStrike">
                        <a:latin typeface="Poppins"/>
                        <a:ea typeface="Poppins"/>
                        <a:cs typeface="Poppins"/>
                        <a:sym typeface="Poppins"/>
                      </a:endParaRPr>
                    </a:p>
                  </a:txBody>
                  <a:tcPr marT="25400" marB="25400" marR="63500" marL="63500" anchor="ctr">
                    <a:lnL cap="flat" cmpd="sng" w="28575">
                      <a:solidFill>
                        <a:srgbClr val="06B6D4"/>
                      </a:solidFill>
                      <a:prstDash val="solid"/>
                      <a:round/>
                      <a:headEnd len="sm" w="sm" type="none"/>
                      <a:tailEnd len="sm" w="sm" type="none"/>
                    </a:lnL>
                    <a:lnR cap="flat" cmpd="sng" w="28575">
                      <a:solidFill>
                        <a:srgbClr val="06B6D4"/>
                      </a:solidFill>
                      <a:prstDash val="solid"/>
                      <a:round/>
                      <a:headEnd len="sm" w="sm" type="none"/>
                      <a:tailEnd len="sm" w="sm" type="none"/>
                    </a:lnR>
                    <a:lnT cap="flat" cmpd="sng" w="28575">
                      <a:solidFill>
                        <a:srgbClr val="06B6D4"/>
                      </a:solidFill>
                      <a:prstDash val="solid"/>
                      <a:round/>
                      <a:headEnd len="sm" w="sm" type="none"/>
                      <a:tailEnd len="sm" w="sm" type="none"/>
                    </a:lnT>
                    <a:lnB cap="flat" cmpd="sng" w="28575">
                      <a:solidFill>
                        <a:srgbClr val="06B6D4"/>
                      </a:solidFill>
                      <a:prstDash val="solid"/>
                      <a:round/>
                      <a:headEnd len="sm" w="sm" type="none"/>
                      <a:tailEnd len="sm" w="sm" type="none"/>
                    </a:lnB>
                  </a:tcPr>
                </a:tc>
              </a:tr>
              <a:tr h="669725">
                <a:tc>
                  <a:txBody>
                    <a:bodyPr/>
                    <a:lstStyle/>
                    <a:p>
                      <a:pPr indent="0" lvl="0" marL="0" marR="0" rtl="0" algn="l">
                        <a:spcBef>
                          <a:spcPts val="0"/>
                        </a:spcBef>
                        <a:spcAft>
                          <a:spcPts val="0"/>
                        </a:spcAft>
                        <a:buNone/>
                      </a:pPr>
                      <a:r>
                        <a:rPr b="1" i="0" lang="en-US" sz="1500" u="none" cap="none" strike="noStrike">
                          <a:latin typeface="Poppins"/>
                          <a:ea typeface="Poppins"/>
                          <a:cs typeface="Poppins"/>
                          <a:sym typeface="Poppins"/>
                        </a:rPr>
                        <a:t>YOLO11n Float16</a:t>
                      </a:r>
                      <a:endParaRPr b="1" i="0" sz="1500" u="none" cap="none" strike="noStrike">
                        <a:latin typeface="Poppins"/>
                        <a:ea typeface="Poppins"/>
                        <a:cs typeface="Poppins"/>
                        <a:sym typeface="Poppins"/>
                      </a:endParaRPr>
                    </a:p>
                  </a:txBody>
                  <a:tcPr marT="25400" marB="25400" marR="63500" marL="63500" anchor="ctr">
                    <a:lnL cap="flat" cmpd="sng" w="28575">
                      <a:solidFill>
                        <a:srgbClr val="06B6D4"/>
                      </a:solidFill>
                      <a:prstDash val="solid"/>
                      <a:round/>
                      <a:headEnd len="sm" w="sm" type="none"/>
                      <a:tailEnd len="sm" w="sm" type="none"/>
                    </a:lnL>
                    <a:lnR cap="flat" cmpd="sng" w="28575">
                      <a:solidFill>
                        <a:srgbClr val="06B6D4"/>
                      </a:solidFill>
                      <a:prstDash val="solid"/>
                      <a:round/>
                      <a:headEnd len="sm" w="sm" type="none"/>
                      <a:tailEnd len="sm" w="sm" type="none"/>
                    </a:lnR>
                    <a:lnT cap="flat" cmpd="sng" w="28575">
                      <a:solidFill>
                        <a:srgbClr val="06B6D4"/>
                      </a:solidFill>
                      <a:prstDash val="solid"/>
                      <a:round/>
                      <a:headEnd len="sm" w="sm" type="none"/>
                      <a:tailEnd len="sm" w="sm" type="none"/>
                    </a:lnT>
                    <a:lnB cap="flat" cmpd="sng" w="28575">
                      <a:solidFill>
                        <a:srgbClr val="06B6D4"/>
                      </a:solidFill>
                      <a:prstDash val="solid"/>
                      <a:round/>
                      <a:headEnd len="sm" w="sm" type="none"/>
                      <a:tailEnd len="sm" w="sm" type="none"/>
                    </a:lnB>
                  </a:tcPr>
                </a:tc>
                <a:tc>
                  <a:txBody>
                    <a:bodyPr/>
                    <a:lstStyle/>
                    <a:p>
                      <a:pPr indent="0" lvl="0" marL="0" marR="0" rtl="0" algn="l">
                        <a:spcBef>
                          <a:spcPts val="0"/>
                        </a:spcBef>
                        <a:spcAft>
                          <a:spcPts val="0"/>
                        </a:spcAft>
                        <a:buNone/>
                      </a:pPr>
                      <a:r>
                        <a:rPr i="0" lang="en-US" sz="1500" u="none" cap="none" strike="noStrike">
                          <a:latin typeface="Poppins"/>
                          <a:ea typeface="Poppins"/>
                          <a:cs typeface="Poppins"/>
                          <a:sym typeface="Poppins"/>
                        </a:rPr>
                        <a:t>3.9</a:t>
                      </a:r>
                      <a:r>
                        <a:rPr lang="en-US" sz="1500">
                          <a:latin typeface="Poppins"/>
                          <a:ea typeface="Poppins"/>
                          <a:cs typeface="Poppins"/>
                          <a:sym typeface="Poppins"/>
                        </a:rPr>
                        <a:t>7</a:t>
                      </a:r>
                      <a:endParaRPr i="0" sz="1500" u="none" cap="none" strike="noStrike">
                        <a:latin typeface="Poppins"/>
                        <a:ea typeface="Poppins"/>
                        <a:cs typeface="Poppins"/>
                        <a:sym typeface="Poppins"/>
                      </a:endParaRPr>
                    </a:p>
                  </a:txBody>
                  <a:tcPr marT="25400" marB="25400" marR="63500" marL="63500" anchor="ctr">
                    <a:lnL cap="flat" cmpd="sng" w="28575">
                      <a:solidFill>
                        <a:srgbClr val="06B6D4"/>
                      </a:solidFill>
                      <a:prstDash val="solid"/>
                      <a:round/>
                      <a:headEnd len="sm" w="sm" type="none"/>
                      <a:tailEnd len="sm" w="sm" type="none"/>
                    </a:lnL>
                    <a:lnR cap="flat" cmpd="sng" w="28575">
                      <a:solidFill>
                        <a:srgbClr val="06B6D4"/>
                      </a:solidFill>
                      <a:prstDash val="solid"/>
                      <a:round/>
                      <a:headEnd len="sm" w="sm" type="none"/>
                      <a:tailEnd len="sm" w="sm" type="none"/>
                    </a:lnR>
                    <a:lnT cap="flat" cmpd="sng" w="28575">
                      <a:solidFill>
                        <a:srgbClr val="06B6D4"/>
                      </a:solidFill>
                      <a:prstDash val="solid"/>
                      <a:round/>
                      <a:headEnd len="sm" w="sm" type="none"/>
                      <a:tailEnd len="sm" w="sm" type="none"/>
                    </a:lnT>
                    <a:lnB cap="flat" cmpd="sng" w="28575">
                      <a:solidFill>
                        <a:srgbClr val="06B6D4"/>
                      </a:solidFill>
                      <a:prstDash val="solid"/>
                      <a:round/>
                      <a:headEnd len="sm" w="sm" type="none"/>
                      <a:tailEnd len="sm" w="sm" type="none"/>
                    </a:lnB>
                  </a:tcPr>
                </a:tc>
                <a:tc>
                  <a:txBody>
                    <a:bodyPr/>
                    <a:lstStyle/>
                    <a:p>
                      <a:pPr indent="0" lvl="0" marL="0" marR="0" rtl="0" algn="l">
                        <a:spcBef>
                          <a:spcPts val="0"/>
                        </a:spcBef>
                        <a:spcAft>
                          <a:spcPts val="0"/>
                        </a:spcAft>
                        <a:buNone/>
                      </a:pPr>
                      <a:r>
                        <a:rPr i="0" lang="en-US" sz="1500" u="none" cap="none" strike="noStrike">
                          <a:latin typeface="Poppins"/>
                          <a:ea typeface="Poppins"/>
                          <a:cs typeface="Poppins"/>
                          <a:sym typeface="Poppins"/>
                        </a:rPr>
                        <a:t>25</a:t>
                      </a:r>
                      <a:r>
                        <a:rPr lang="en-US" sz="1500">
                          <a:latin typeface="Poppins"/>
                          <a:ea typeface="Poppins"/>
                          <a:cs typeface="Poppins"/>
                          <a:sym typeface="Poppins"/>
                        </a:rPr>
                        <a:t>1</a:t>
                      </a:r>
                      <a:r>
                        <a:rPr i="0" lang="en-US" sz="1500" u="none" cap="none" strike="noStrike">
                          <a:latin typeface="Poppins"/>
                          <a:ea typeface="Poppins"/>
                          <a:cs typeface="Poppins"/>
                          <a:sym typeface="Poppins"/>
                        </a:rPr>
                        <a:t>.</a:t>
                      </a:r>
                      <a:r>
                        <a:rPr lang="en-US" sz="1500">
                          <a:latin typeface="Poppins"/>
                          <a:ea typeface="Poppins"/>
                          <a:cs typeface="Poppins"/>
                          <a:sym typeface="Poppins"/>
                        </a:rPr>
                        <a:t>6</a:t>
                      </a:r>
                      <a:r>
                        <a:rPr i="0" lang="en-US" sz="1500" u="none" cap="none" strike="noStrike">
                          <a:latin typeface="Poppins"/>
                          <a:ea typeface="Poppins"/>
                          <a:cs typeface="Poppins"/>
                          <a:sym typeface="Poppins"/>
                        </a:rPr>
                        <a:t> ms</a:t>
                      </a:r>
                      <a:endParaRPr i="0" sz="1500" u="none" cap="none" strike="noStrike">
                        <a:latin typeface="Poppins"/>
                        <a:ea typeface="Poppins"/>
                        <a:cs typeface="Poppins"/>
                        <a:sym typeface="Poppins"/>
                      </a:endParaRPr>
                    </a:p>
                  </a:txBody>
                  <a:tcPr marT="25400" marB="25400" marR="63500" marL="63500" anchor="ctr">
                    <a:lnL cap="flat" cmpd="sng" w="28575">
                      <a:solidFill>
                        <a:srgbClr val="06B6D4"/>
                      </a:solidFill>
                      <a:prstDash val="solid"/>
                      <a:round/>
                      <a:headEnd len="sm" w="sm" type="none"/>
                      <a:tailEnd len="sm" w="sm" type="none"/>
                    </a:lnL>
                    <a:lnR cap="flat" cmpd="sng" w="28575">
                      <a:solidFill>
                        <a:srgbClr val="06B6D4"/>
                      </a:solidFill>
                      <a:prstDash val="solid"/>
                      <a:round/>
                      <a:headEnd len="sm" w="sm" type="none"/>
                      <a:tailEnd len="sm" w="sm" type="none"/>
                    </a:lnR>
                    <a:lnT cap="flat" cmpd="sng" w="28575">
                      <a:solidFill>
                        <a:srgbClr val="06B6D4"/>
                      </a:solidFill>
                      <a:prstDash val="solid"/>
                      <a:round/>
                      <a:headEnd len="sm" w="sm" type="none"/>
                      <a:tailEnd len="sm" w="sm" type="none"/>
                    </a:lnT>
                    <a:lnB cap="flat" cmpd="sng" w="28575">
                      <a:solidFill>
                        <a:srgbClr val="06B6D4"/>
                      </a:solidFill>
                      <a:prstDash val="solid"/>
                      <a:round/>
                      <a:headEnd len="sm" w="sm" type="none"/>
                      <a:tailEnd len="sm" w="sm" type="none"/>
                    </a:lnB>
                  </a:tcPr>
                </a:tc>
                <a:tc>
                  <a:txBody>
                    <a:bodyPr/>
                    <a:lstStyle/>
                    <a:p>
                      <a:pPr indent="0" lvl="0" marL="0" marR="0" rtl="0" algn="l">
                        <a:spcBef>
                          <a:spcPts val="0"/>
                        </a:spcBef>
                        <a:spcAft>
                          <a:spcPts val="0"/>
                        </a:spcAft>
                        <a:buNone/>
                      </a:pPr>
                      <a:r>
                        <a:rPr i="0" lang="en-US" sz="1500" u="none" cap="none" strike="noStrike">
                          <a:latin typeface="Poppins"/>
                          <a:ea typeface="Poppins"/>
                          <a:cs typeface="Poppins"/>
                          <a:sym typeface="Poppins"/>
                        </a:rPr>
                        <a:t>↓ Peor (-</a:t>
                      </a:r>
                      <a:r>
                        <a:rPr lang="en-US" sz="1500">
                          <a:latin typeface="Poppins"/>
                          <a:ea typeface="Poppins"/>
                          <a:cs typeface="Poppins"/>
                          <a:sym typeface="Poppins"/>
                        </a:rPr>
                        <a:t>32.3</a:t>
                      </a:r>
                      <a:r>
                        <a:rPr i="0" lang="en-US" sz="1500" u="none" cap="none" strike="noStrike">
                          <a:latin typeface="Poppins"/>
                          <a:ea typeface="Poppins"/>
                          <a:cs typeface="Poppins"/>
                          <a:sym typeface="Poppins"/>
                        </a:rPr>
                        <a:t>%)</a:t>
                      </a:r>
                      <a:endParaRPr i="0" sz="1500" u="none" cap="none" strike="noStrike">
                        <a:latin typeface="Poppins"/>
                        <a:ea typeface="Poppins"/>
                        <a:cs typeface="Poppins"/>
                        <a:sym typeface="Poppins"/>
                      </a:endParaRPr>
                    </a:p>
                  </a:txBody>
                  <a:tcPr marT="25400" marB="25400" marR="63500" marL="63500" anchor="ctr">
                    <a:lnL cap="flat" cmpd="sng" w="28575">
                      <a:solidFill>
                        <a:srgbClr val="06B6D4"/>
                      </a:solidFill>
                      <a:prstDash val="solid"/>
                      <a:round/>
                      <a:headEnd len="sm" w="sm" type="none"/>
                      <a:tailEnd len="sm" w="sm" type="none"/>
                    </a:lnL>
                    <a:lnR cap="flat" cmpd="sng" w="28575">
                      <a:solidFill>
                        <a:srgbClr val="06B6D4"/>
                      </a:solidFill>
                      <a:prstDash val="solid"/>
                      <a:round/>
                      <a:headEnd len="sm" w="sm" type="none"/>
                      <a:tailEnd len="sm" w="sm" type="none"/>
                    </a:lnR>
                    <a:lnT cap="flat" cmpd="sng" w="28575">
                      <a:solidFill>
                        <a:srgbClr val="06B6D4"/>
                      </a:solidFill>
                      <a:prstDash val="solid"/>
                      <a:round/>
                      <a:headEnd len="sm" w="sm" type="none"/>
                      <a:tailEnd len="sm" w="sm" type="none"/>
                    </a:lnT>
                    <a:lnB cap="flat" cmpd="sng" w="28575">
                      <a:solidFill>
                        <a:srgbClr val="06B6D4"/>
                      </a:solidFill>
                      <a:prstDash val="solid"/>
                      <a:round/>
                      <a:headEnd len="sm" w="sm" type="none"/>
                      <a:tailEnd len="sm" w="sm" type="none"/>
                    </a:lnB>
                  </a:tcPr>
                </a:tc>
              </a:tr>
              <a:tr h="669725">
                <a:tc>
                  <a:txBody>
                    <a:bodyPr/>
                    <a:lstStyle/>
                    <a:p>
                      <a:pPr indent="0" lvl="0" marL="0" marR="0" rtl="0" algn="l">
                        <a:spcBef>
                          <a:spcPts val="0"/>
                        </a:spcBef>
                        <a:spcAft>
                          <a:spcPts val="0"/>
                        </a:spcAft>
                        <a:buNone/>
                      </a:pPr>
                      <a:r>
                        <a:rPr b="1" i="0" lang="en-US" sz="1500" u="none" cap="none" strike="noStrike">
                          <a:latin typeface="Poppins"/>
                          <a:ea typeface="Poppins"/>
                          <a:cs typeface="Poppins"/>
                          <a:sym typeface="Poppins"/>
                        </a:rPr>
                        <a:t>EfficientDet-Lite2</a:t>
                      </a:r>
                      <a:endParaRPr b="1" i="0" sz="1500" u="none" cap="none" strike="noStrike">
                        <a:latin typeface="Poppins"/>
                        <a:ea typeface="Poppins"/>
                        <a:cs typeface="Poppins"/>
                        <a:sym typeface="Poppins"/>
                      </a:endParaRPr>
                    </a:p>
                  </a:txBody>
                  <a:tcPr marT="25400" marB="25400" marR="63500" marL="63500" anchor="ctr">
                    <a:lnL cap="flat" cmpd="sng" w="28575">
                      <a:solidFill>
                        <a:srgbClr val="06B6D4"/>
                      </a:solidFill>
                      <a:prstDash val="solid"/>
                      <a:round/>
                      <a:headEnd len="sm" w="sm" type="none"/>
                      <a:tailEnd len="sm" w="sm" type="none"/>
                    </a:lnL>
                    <a:lnR cap="flat" cmpd="sng" w="28575">
                      <a:solidFill>
                        <a:srgbClr val="06B6D4"/>
                      </a:solidFill>
                      <a:prstDash val="solid"/>
                      <a:round/>
                      <a:headEnd len="sm" w="sm" type="none"/>
                      <a:tailEnd len="sm" w="sm" type="none"/>
                    </a:lnR>
                    <a:lnT cap="flat" cmpd="sng" w="28575">
                      <a:solidFill>
                        <a:srgbClr val="06B6D4"/>
                      </a:solidFill>
                      <a:prstDash val="solid"/>
                      <a:round/>
                      <a:headEnd len="sm" w="sm" type="none"/>
                      <a:tailEnd len="sm" w="sm" type="none"/>
                    </a:lnT>
                    <a:lnB cap="flat" cmpd="sng" w="28575">
                      <a:solidFill>
                        <a:srgbClr val="06B6D4"/>
                      </a:solidFill>
                      <a:prstDash val="solid"/>
                      <a:round/>
                      <a:headEnd len="sm" w="sm" type="none"/>
                      <a:tailEnd len="sm" w="sm" type="none"/>
                    </a:lnB>
                  </a:tcPr>
                </a:tc>
                <a:tc>
                  <a:txBody>
                    <a:bodyPr/>
                    <a:lstStyle/>
                    <a:p>
                      <a:pPr indent="0" lvl="0" marL="0" marR="0" rtl="0" algn="l">
                        <a:spcBef>
                          <a:spcPts val="0"/>
                        </a:spcBef>
                        <a:spcAft>
                          <a:spcPts val="0"/>
                        </a:spcAft>
                        <a:buNone/>
                      </a:pPr>
                      <a:r>
                        <a:rPr i="0" lang="en-US" sz="1500" u="none" cap="none" strike="noStrike">
                          <a:latin typeface="Poppins"/>
                          <a:ea typeface="Poppins"/>
                          <a:cs typeface="Poppins"/>
                          <a:sym typeface="Poppins"/>
                        </a:rPr>
                        <a:t>2.8</a:t>
                      </a:r>
                      <a:r>
                        <a:rPr lang="en-US" sz="1500">
                          <a:latin typeface="Poppins"/>
                          <a:ea typeface="Poppins"/>
                          <a:cs typeface="Poppins"/>
                          <a:sym typeface="Poppins"/>
                        </a:rPr>
                        <a:t>7</a:t>
                      </a:r>
                      <a:endParaRPr i="0" sz="1500" u="none" cap="none" strike="noStrike">
                        <a:latin typeface="Poppins"/>
                        <a:ea typeface="Poppins"/>
                        <a:cs typeface="Poppins"/>
                        <a:sym typeface="Poppins"/>
                      </a:endParaRPr>
                    </a:p>
                  </a:txBody>
                  <a:tcPr marT="25400" marB="25400" marR="63500" marL="63500" anchor="ctr">
                    <a:lnL cap="flat" cmpd="sng" w="28575">
                      <a:solidFill>
                        <a:srgbClr val="06B6D4"/>
                      </a:solidFill>
                      <a:prstDash val="solid"/>
                      <a:round/>
                      <a:headEnd len="sm" w="sm" type="none"/>
                      <a:tailEnd len="sm" w="sm" type="none"/>
                    </a:lnL>
                    <a:lnR cap="flat" cmpd="sng" w="28575">
                      <a:solidFill>
                        <a:srgbClr val="06B6D4"/>
                      </a:solidFill>
                      <a:prstDash val="solid"/>
                      <a:round/>
                      <a:headEnd len="sm" w="sm" type="none"/>
                      <a:tailEnd len="sm" w="sm" type="none"/>
                    </a:lnR>
                    <a:lnT cap="flat" cmpd="sng" w="28575">
                      <a:solidFill>
                        <a:srgbClr val="06B6D4"/>
                      </a:solidFill>
                      <a:prstDash val="solid"/>
                      <a:round/>
                      <a:headEnd len="sm" w="sm" type="none"/>
                      <a:tailEnd len="sm" w="sm" type="none"/>
                    </a:lnT>
                    <a:lnB cap="flat" cmpd="sng" w="28575">
                      <a:solidFill>
                        <a:srgbClr val="06B6D4"/>
                      </a:solidFill>
                      <a:prstDash val="solid"/>
                      <a:round/>
                      <a:headEnd len="sm" w="sm" type="none"/>
                      <a:tailEnd len="sm" w="sm" type="none"/>
                    </a:lnB>
                  </a:tcPr>
                </a:tc>
                <a:tc>
                  <a:txBody>
                    <a:bodyPr/>
                    <a:lstStyle/>
                    <a:p>
                      <a:pPr indent="0" lvl="0" marL="0" marR="0" rtl="0" algn="l">
                        <a:spcBef>
                          <a:spcPts val="0"/>
                        </a:spcBef>
                        <a:spcAft>
                          <a:spcPts val="0"/>
                        </a:spcAft>
                        <a:buNone/>
                      </a:pPr>
                      <a:r>
                        <a:rPr i="0" lang="en-US" sz="1500" u="none" cap="none" strike="noStrike">
                          <a:latin typeface="Poppins"/>
                          <a:ea typeface="Poppins"/>
                          <a:cs typeface="Poppins"/>
                          <a:sym typeface="Poppins"/>
                        </a:rPr>
                        <a:t>3</a:t>
                      </a:r>
                      <a:r>
                        <a:rPr lang="en-US" sz="1500">
                          <a:latin typeface="Poppins"/>
                          <a:ea typeface="Poppins"/>
                          <a:cs typeface="Poppins"/>
                          <a:sym typeface="Poppins"/>
                        </a:rPr>
                        <a:t>48</a:t>
                      </a:r>
                      <a:r>
                        <a:rPr i="0" lang="en-US" sz="1500" u="none" cap="none" strike="noStrike">
                          <a:latin typeface="Poppins"/>
                          <a:ea typeface="Poppins"/>
                          <a:cs typeface="Poppins"/>
                          <a:sym typeface="Poppins"/>
                        </a:rPr>
                        <a:t>.</a:t>
                      </a:r>
                      <a:r>
                        <a:rPr lang="en-US" sz="1500">
                          <a:latin typeface="Poppins"/>
                          <a:ea typeface="Poppins"/>
                          <a:cs typeface="Poppins"/>
                          <a:sym typeface="Poppins"/>
                        </a:rPr>
                        <a:t>7</a:t>
                      </a:r>
                      <a:r>
                        <a:rPr i="0" lang="en-US" sz="1500" u="none" cap="none" strike="noStrike">
                          <a:latin typeface="Poppins"/>
                          <a:ea typeface="Poppins"/>
                          <a:cs typeface="Poppins"/>
                          <a:sym typeface="Poppins"/>
                        </a:rPr>
                        <a:t> ms</a:t>
                      </a:r>
                      <a:endParaRPr i="0" sz="1500" u="none" cap="none" strike="noStrike">
                        <a:latin typeface="Poppins"/>
                        <a:ea typeface="Poppins"/>
                        <a:cs typeface="Poppins"/>
                        <a:sym typeface="Poppins"/>
                      </a:endParaRPr>
                    </a:p>
                  </a:txBody>
                  <a:tcPr marT="25400" marB="25400" marR="63500" marL="63500" anchor="ctr">
                    <a:lnL cap="flat" cmpd="sng" w="28575">
                      <a:solidFill>
                        <a:srgbClr val="06B6D4"/>
                      </a:solidFill>
                      <a:prstDash val="solid"/>
                      <a:round/>
                      <a:headEnd len="sm" w="sm" type="none"/>
                      <a:tailEnd len="sm" w="sm" type="none"/>
                    </a:lnL>
                    <a:lnR cap="flat" cmpd="sng" w="28575">
                      <a:solidFill>
                        <a:srgbClr val="06B6D4"/>
                      </a:solidFill>
                      <a:prstDash val="solid"/>
                      <a:round/>
                      <a:headEnd len="sm" w="sm" type="none"/>
                      <a:tailEnd len="sm" w="sm" type="none"/>
                    </a:lnR>
                    <a:lnT cap="flat" cmpd="sng" w="28575">
                      <a:solidFill>
                        <a:srgbClr val="06B6D4"/>
                      </a:solidFill>
                      <a:prstDash val="solid"/>
                      <a:round/>
                      <a:headEnd len="sm" w="sm" type="none"/>
                      <a:tailEnd len="sm" w="sm" type="none"/>
                    </a:lnT>
                    <a:lnB cap="flat" cmpd="sng" w="28575">
                      <a:solidFill>
                        <a:srgbClr val="06B6D4"/>
                      </a:solidFill>
                      <a:prstDash val="solid"/>
                      <a:round/>
                      <a:headEnd len="sm" w="sm" type="none"/>
                      <a:tailEnd len="sm" w="sm" type="none"/>
                    </a:lnB>
                  </a:tcPr>
                </a:tc>
                <a:tc>
                  <a:txBody>
                    <a:bodyPr/>
                    <a:lstStyle/>
                    <a:p>
                      <a:pPr indent="0" lvl="0" marL="0" marR="0" rtl="0" algn="l">
                        <a:spcBef>
                          <a:spcPts val="0"/>
                        </a:spcBef>
                        <a:spcAft>
                          <a:spcPts val="0"/>
                        </a:spcAft>
                        <a:buNone/>
                      </a:pPr>
                      <a:r>
                        <a:rPr i="0" lang="en-US" sz="1500" u="none" cap="none" strike="noStrike">
                          <a:latin typeface="Poppins"/>
                          <a:ea typeface="Poppins"/>
                          <a:cs typeface="Poppins"/>
                          <a:sym typeface="Poppins"/>
                        </a:rPr>
                        <a:t>↓ Peor (-1</a:t>
                      </a:r>
                      <a:r>
                        <a:rPr lang="en-US" sz="1500">
                          <a:latin typeface="Poppins"/>
                          <a:ea typeface="Poppins"/>
                          <a:cs typeface="Poppins"/>
                          <a:sym typeface="Poppins"/>
                        </a:rPr>
                        <a:t>98.3</a:t>
                      </a:r>
                      <a:r>
                        <a:rPr i="0" lang="en-US" sz="1500" u="none" cap="none" strike="noStrike">
                          <a:latin typeface="Poppins"/>
                          <a:ea typeface="Poppins"/>
                          <a:cs typeface="Poppins"/>
                          <a:sym typeface="Poppins"/>
                        </a:rPr>
                        <a:t>%)</a:t>
                      </a:r>
                      <a:endParaRPr i="0" sz="1500" u="none" cap="none" strike="noStrike">
                        <a:latin typeface="Poppins"/>
                        <a:ea typeface="Poppins"/>
                        <a:cs typeface="Poppins"/>
                        <a:sym typeface="Poppins"/>
                      </a:endParaRPr>
                    </a:p>
                  </a:txBody>
                  <a:tcPr marT="25400" marB="25400" marR="63500" marL="63500" anchor="ctr">
                    <a:lnL cap="flat" cmpd="sng" w="28575">
                      <a:solidFill>
                        <a:srgbClr val="06B6D4"/>
                      </a:solidFill>
                      <a:prstDash val="solid"/>
                      <a:round/>
                      <a:headEnd len="sm" w="sm" type="none"/>
                      <a:tailEnd len="sm" w="sm" type="none"/>
                    </a:lnL>
                    <a:lnR cap="flat" cmpd="sng" w="28575">
                      <a:solidFill>
                        <a:srgbClr val="06B6D4"/>
                      </a:solidFill>
                      <a:prstDash val="solid"/>
                      <a:round/>
                      <a:headEnd len="sm" w="sm" type="none"/>
                      <a:tailEnd len="sm" w="sm" type="none"/>
                    </a:lnR>
                    <a:lnT cap="flat" cmpd="sng" w="28575">
                      <a:solidFill>
                        <a:srgbClr val="06B6D4"/>
                      </a:solidFill>
                      <a:prstDash val="solid"/>
                      <a:round/>
                      <a:headEnd len="sm" w="sm" type="none"/>
                      <a:tailEnd len="sm" w="sm" type="none"/>
                    </a:lnT>
                    <a:lnB cap="flat" cmpd="sng" w="28575">
                      <a:solidFill>
                        <a:srgbClr val="06B6D4"/>
                      </a:solidFill>
                      <a:prstDash val="solid"/>
                      <a:round/>
                      <a:headEnd len="sm" w="sm" type="none"/>
                      <a:tailEnd len="sm" w="sm" type="none"/>
                    </a:lnB>
                  </a:tcPr>
                </a:tc>
              </a:tr>
            </a:tbl>
          </a:graphicData>
        </a:graphic>
      </p:graphicFrame>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90D16"/>
        </a:solidFill>
      </p:bgPr>
    </p:bg>
    <p:spTree>
      <p:nvGrpSpPr>
        <p:cNvPr id="313" name="Shape 313"/>
        <p:cNvGrpSpPr/>
        <p:nvPr/>
      </p:nvGrpSpPr>
      <p:grpSpPr>
        <a:xfrm>
          <a:off x="0" y="0"/>
          <a:ext cx="0" cy="0"/>
          <a:chOff x="0" y="0"/>
          <a:chExt cx="0" cy="0"/>
        </a:xfrm>
      </p:grpSpPr>
      <p:pic>
        <p:nvPicPr>
          <p:cNvPr descr="image.png" id="314" name="Google Shape;314;p35"/>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315" name="Google Shape;315;p35"/>
          <p:cNvSpPr txBox="1"/>
          <p:nvPr/>
        </p:nvSpPr>
        <p:spPr>
          <a:xfrm>
            <a:off x="1308300" y="1597075"/>
            <a:ext cx="8811300" cy="18471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lang="en-US" sz="4000">
                <a:solidFill>
                  <a:srgbClr val="F8FAFC"/>
                </a:solidFill>
                <a:latin typeface="Poppins"/>
                <a:ea typeface="Poppins"/>
                <a:cs typeface="Poppins"/>
                <a:sym typeface="Poppins"/>
              </a:rPr>
              <a:t>El GPU delegate no beneficia a ninguno de los dos modelos en este dispositivo</a:t>
            </a:r>
            <a:endParaRPr sz="4000">
              <a:latin typeface="Poppins"/>
              <a:ea typeface="Poppins"/>
              <a:cs typeface="Poppins"/>
              <a:sym typeface="Poppins"/>
            </a:endParaRPr>
          </a:p>
        </p:txBody>
      </p:sp>
      <p:sp>
        <p:nvSpPr>
          <p:cNvPr id="316" name="Google Shape;316;p35"/>
          <p:cNvSpPr txBox="1"/>
          <p:nvPr/>
        </p:nvSpPr>
        <p:spPr>
          <a:xfrm>
            <a:off x="1735350" y="3893175"/>
            <a:ext cx="7957200" cy="2031900"/>
          </a:xfrm>
          <a:prstGeom prst="rect">
            <a:avLst/>
          </a:prstGeom>
          <a:noFill/>
          <a:ln>
            <a:noFill/>
          </a:ln>
        </p:spPr>
        <p:txBody>
          <a:bodyPr anchorCtr="0" anchor="t" bIns="91425" lIns="91425" spcFirstLastPara="1" rIns="91425" wrap="square" tIns="91425">
            <a:spAutoFit/>
          </a:bodyPr>
          <a:lstStyle/>
          <a:p>
            <a:pPr indent="-381000" lvl="0" marL="457200" rtl="0" algn="l">
              <a:spcBef>
                <a:spcPts val="0"/>
              </a:spcBef>
              <a:spcAft>
                <a:spcPts val="0"/>
              </a:spcAft>
              <a:buClr>
                <a:schemeClr val="lt1"/>
              </a:buClr>
              <a:buSzPts val="2400"/>
              <a:buFont typeface="Poppins"/>
              <a:buChar char="●"/>
            </a:pPr>
            <a:r>
              <a:rPr lang="en-US" sz="2400">
                <a:solidFill>
                  <a:schemeClr val="lt1"/>
                </a:solidFill>
                <a:latin typeface="Poppins"/>
                <a:ea typeface="Poppins"/>
                <a:cs typeface="Poppins"/>
                <a:sym typeface="Poppins"/>
              </a:rPr>
              <a:t>Inicialización costosa</a:t>
            </a:r>
            <a:endParaRPr sz="2400">
              <a:solidFill>
                <a:schemeClr val="lt1"/>
              </a:solidFill>
              <a:latin typeface="Poppins"/>
              <a:ea typeface="Poppins"/>
              <a:cs typeface="Poppins"/>
              <a:sym typeface="Poppins"/>
            </a:endParaRPr>
          </a:p>
          <a:p>
            <a:pPr indent="-381000" lvl="0" marL="457200" rtl="0" algn="l">
              <a:spcBef>
                <a:spcPts val="0"/>
              </a:spcBef>
              <a:spcAft>
                <a:spcPts val="0"/>
              </a:spcAft>
              <a:buClr>
                <a:schemeClr val="lt1"/>
              </a:buClr>
              <a:buSzPts val="2400"/>
              <a:buFont typeface="Poppins"/>
              <a:buChar char="●"/>
            </a:pPr>
            <a:r>
              <a:rPr lang="en-US" sz="2400">
                <a:solidFill>
                  <a:schemeClr val="lt1"/>
                </a:solidFill>
                <a:latin typeface="Poppins"/>
                <a:ea typeface="Poppins"/>
                <a:cs typeface="Poppins"/>
                <a:sym typeface="Poppins"/>
              </a:rPr>
              <a:t>Partición forzada en EfficientDet TFLite_Detection_PostProcess no es compatible con GPU Delegate</a:t>
            </a:r>
            <a:endParaRPr sz="2400">
              <a:solidFill>
                <a:schemeClr val="lt1"/>
              </a:solidFill>
              <a:latin typeface="Poppins"/>
              <a:ea typeface="Poppins"/>
              <a:cs typeface="Poppins"/>
              <a:sym typeface="Poppins"/>
            </a:endParaRPr>
          </a:p>
          <a:p>
            <a:pPr indent="-381000" lvl="0" marL="457200" rtl="0" algn="l">
              <a:spcBef>
                <a:spcPts val="0"/>
              </a:spcBef>
              <a:spcAft>
                <a:spcPts val="0"/>
              </a:spcAft>
              <a:buClr>
                <a:schemeClr val="lt1"/>
              </a:buClr>
              <a:buSzPts val="2400"/>
              <a:buFont typeface="Poppins"/>
              <a:buChar char="●"/>
            </a:pPr>
            <a:r>
              <a:rPr lang="en-US" sz="2400">
                <a:solidFill>
                  <a:schemeClr val="lt1"/>
                </a:solidFill>
                <a:latin typeface="Poppins"/>
                <a:ea typeface="Poppins"/>
                <a:cs typeface="Poppins"/>
                <a:sym typeface="Poppins"/>
              </a:rPr>
              <a:t>GPU Adreno 610 insuficiente</a:t>
            </a:r>
            <a:endParaRPr sz="2400">
              <a:solidFill>
                <a:schemeClr val="lt1"/>
              </a:solidFill>
              <a:latin typeface="Poppins"/>
              <a:ea typeface="Poppins"/>
              <a:cs typeface="Poppins"/>
              <a:sym typeface="Poppins"/>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90D16"/>
        </a:solidFill>
      </p:bgPr>
    </p:bg>
    <p:spTree>
      <p:nvGrpSpPr>
        <p:cNvPr id="320" name="Shape 320"/>
        <p:cNvGrpSpPr/>
        <p:nvPr/>
      </p:nvGrpSpPr>
      <p:grpSpPr>
        <a:xfrm>
          <a:off x="0" y="0"/>
          <a:ext cx="0" cy="0"/>
          <a:chOff x="0" y="0"/>
          <a:chExt cx="0" cy="0"/>
        </a:xfrm>
      </p:grpSpPr>
      <p:pic>
        <p:nvPicPr>
          <p:cNvPr descr="image.png" id="321" name="Google Shape;321;p36"/>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322" name="Google Shape;322;p36"/>
          <p:cNvSpPr txBox="1"/>
          <p:nvPr/>
        </p:nvSpPr>
        <p:spPr>
          <a:xfrm>
            <a:off x="581025" y="485775"/>
            <a:ext cx="4486200" cy="13854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4500">
                <a:solidFill>
                  <a:srgbClr val="F8FAFC"/>
                </a:solidFill>
                <a:latin typeface="Poppins SemiBold"/>
                <a:ea typeface="Poppins SemiBold"/>
                <a:cs typeface="Poppins SemiBold"/>
                <a:sym typeface="Poppins SemiBold"/>
              </a:rPr>
              <a:t>Tiempos de Inicialización</a:t>
            </a:r>
            <a:endParaRPr sz="4500">
              <a:latin typeface="Poppins"/>
              <a:ea typeface="Poppins"/>
              <a:cs typeface="Poppins"/>
              <a:sym typeface="Poppins"/>
            </a:endParaRPr>
          </a:p>
        </p:txBody>
      </p:sp>
      <p:sp>
        <p:nvSpPr>
          <p:cNvPr id="323" name="Google Shape;323;p36"/>
          <p:cNvSpPr/>
          <p:nvPr/>
        </p:nvSpPr>
        <p:spPr>
          <a:xfrm>
            <a:off x="5857875" y="700087"/>
            <a:ext cx="476400" cy="28500"/>
          </a:xfrm>
          <a:prstGeom prst="roundRect">
            <a:avLst>
              <a:gd fmla="val 50000" name="adj"/>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aphicFrame>
        <p:nvGraphicFramePr>
          <p:cNvPr id="324" name="Google Shape;324;p36"/>
          <p:cNvGraphicFramePr/>
          <p:nvPr/>
        </p:nvGraphicFramePr>
        <p:xfrm>
          <a:off x="581025" y="2035400"/>
          <a:ext cx="3000000" cy="3000000"/>
        </p:xfrm>
        <a:graphic>
          <a:graphicData uri="http://schemas.openxmlformats.org/drawingml/2006/table">
            <a:tbl>
              <a:tblPr bandRow="1" firstRow="1">
                <a:noFill/>
                <a:tableStyleId>{73BF9BE0-EF4A-4F0A-BF5C-C545904F7FFB}</a:tableStyleId>
              </a:tblPr>
              <a:tblGrid>
                <a:gridCol w="1930200"/>
                <a:gridCol w="1279275"/>
                <a:gridCol w="2019850"/>
                <a:gridCol w="1593425"/>
              </a:tblGrid>
              <a:tr h="620900">
                <a:tc>
                  <a:txBody>
                    <a:bodyPr/>
                    <a:lstStyle/>
                    <a:p>
                      <a:pPr indent="0" lvl="0" marL="0" marR="0" rtl="0" algn="l">
                        <a:spcBef>
                          <a:spcPts val="0"/>
                        </a:spcBef>
                        <a:spcAft>
                          <a:spcPts val="0"/>
                        </a:spcAft>
                        <a:buNone/>
                      </a:pPr>
                      <a:r>
                        <a:rPr b="0" i="0" lang="en-US" sz="1500" u="none" cap="none" strike="noStrike">
                          <a:solidFill>
                            <a:srgbClr val="06B6D4"/>
                          </a:solidFill>
                          <a:latin typeface="Poppins SemiBold"/>
                          <a:ea typeface="Poppins SemiBold"/>
                          <a:cs typeface="Poppins SemiBold"/>
                          <a:sym typeface="Poppins SemiBold"/>
                        </a:rPr>
                        <a:t>Modelo</a:t>
                      </a:r>
                      <a:endParaRPr sz="1500">
                        <a:latin typeface="Poppins"/>
                        <a:ea typeface="Poppins"/>
                        <a:cs typeface="Poppins"/>
                        <a:sym typeface="Poppins"/>
                      </a:endParaRPr>
                    </a:p>
                  </a:txBody>
                  <a:tcPr marT="25400" marB="25400" marR="63500" marL="63500" anchor="ctr">
                    <a:lnL cap="flat" cmpd="sng" w="28575">
                      <a:solidFill>
                        <a:srgbClr val="06B6D4"/>
                      </a:solidFill>
                      <a:prstDash val="solid"/>
                      <a:round/>
                      <a:headEnd len="sm" w="sm" type="none"/>
                      <a:tailEnd len="sm" w="sm" type="none"/>
                    </a:lnL>
                    <a:lnR cap="flat" cmpd="sng" w="28575">
                      <a:solidFill>
                        <a:srgbClr val="06B6D4"/>
                      </a:solidFill>
                      <a:prstDash val="solid"/>
                      <a:round/>
                      <a:headEnd len="sm" w="sm" type="none"/>
                      <a:tailEnd len="sm" w="sm" type="none"/>
                    </a:lnR>
                    <a:lnT cap="flat" cmpd="sng" w="28575">
                      <a:solidFill>
                        <a:srgbClr val="06B6D4"/>
                      </a:solidFill>
                      <a:prstDash val="solid"/>
                      <a:round/>
                      <a:headEnd len="sm" w="sm" type="none"/>
                      <a:tailEnd len="sm" w="sm" type="none"/>
                    </a:lnT>
                    <a:lnB cap="flat" cmpd="sng" w="28575">
                      <a:solidFill>
                        <a:srgbClr val="06B6D4"/>
                      </a:solidFill>
                      <a:prstDash val="solid"/>
                      <a:round/>
                      <a:headEnd len="sm" w="sm" type="none"/>
                      <a:tailEnd len="sm" w="sm" type="none"/>
                    </a:lnB>
                    <a:solidFill>
                      <a:srgbClr val="0F172A"/>
                    </a:solidFill>
                  </a:tcPr>
                </a:tc>
                <a:tc>
                  <a:txBody>
                    <a:bodyPr/>
                    <a:lstStyle/>
                    <a:p>
                      <a:pPr indent="0" lvl="0" marL="0" marR="0" rtl="0" algn="l">
                        <a:spcBef>
                          <a:spcPts val="0"/>
                        </a:spcBef>
                        <a:spcAft>
                          <a:spcPts val="0"/>
                        </a:spcAft>
                        <a:buNone/>
                      </a:pPr>
                      <a:r>
                        <a:rPr b="0" lang="en-US" sz="1500">
                          <a:solidFill>
                            <a:srgbClr val="06B6D4"/>
                          </a:solidFill>
                          <a:latin typeface="Poppins SemiBold"/>
                          <a:ea typeface="Poppins SemiBold"/>
                          <a:cs typeface="Poppins SemiBold"/>
                          <a:sym typeface="Poppins SemiBold"/>
                        </a:rPr>
                        <a:t>Init CPU</a:t>
                      </a:r>
                      <a:endParaRPr sz="1500">
                        <a:latin typeface="Poppins"/>
                        <a:ea typeface="Poppins"/>
                        <a:cs typeface="Poppins"/>
                        <a:sym typeface="Poppins"/>
                      </a:endParaRPr>
                    </a:p>
                  </a:txBody>
                  <a:tcPr marT="25400" marB="25400" marR="63500" marL="63500" anchor="ctr">
                    <a:lnL cap="flat" cmpd="sng" w="28575">
                      <a:solidFill>
                        <a:srgbClr val="06B6D4"/>
                      </a:solidFill>
                      <a:prstDash val="solid"/>
                      <a:round/>
                      <a:headEnd len="sm" w="sm" type="none"/>
                      <a:tailEnd len="sm" w="sm" type="none"/>
                    </a:lnL>
                    <a:lnR cap="flat" cmpd="sng" w="28575">
                      <a:solidFill>
                        <a:srgbClr val="06B6D4"/>
                      </a:solidFill>
                      <a:prstDash val="solid"/>
                      <a:round/>
                      <a:headEnd len="sm" w="sm" type="none"/>
                      <a:tailEnd len="sm" w="sm" type="none"/>
                    </a:lnR>
                    <a:lnT cap="flat" cmpd="sng" w="28575">
                      <a:solidFill>
                        <a:srgbClr val="06B6D4"/>
                      </a:solidFill>
                      <a:prstDash val="solid"/>
                      <a:round/>
                      <a:headEnd len="sm" w="sm" type="none"/>
                      <a:tailEnd len="sm" w="sm" type="none"/>
                    </a:lnT>
                    <a:lnB cap="flat" cmpd="sng" w="28575">
                      <a:solidFill>
                        <a:srgbClr val="06B6D4"/>
                      </a:solidFill>
                      <a:prstDash val="solid"/>
                      <a:round/>
                      <a:headEnd len="sm" w="sm" type="none"/>
                      <a:tailEnd len="sm" w="sm" type="none"/>
                    </a:lnB>
                    <a:solidFill>
                      <a:srgbClr val="0F172A"/>
                    </a:solidFill>
                  </a:tcPr>
                </a:tc>
                <a:tc>
                  <a:txBody>
                    <a:bodyPr/>
                    <a:lstStyle/>
                    <a:p>
                      <a:pPr indent="0" lvl="0" marL="0" marR="0" rtl="0" algn="l">
                        <a:spcBef>
                          <a:spcPts val="0"/>
                        </a:spcBef>
                        <a:spcAft>
                          <a:spcPts val="0"/>
                        </a:spcAft>
                        <a:buNone/>
                      </a:pPr>
                      <a:r>
                        <a:rPr b="0" lang="en-US" sz="1500">
                          <a:solidFill>
                            <a:srgbClr val="06B6D4"/>
                          </a:solidFill>
                          <a:latin typeface="Poppins SemiBold"/>
                          <a:ea typeface="Poppins SemiBold"/>
                          <a:cs typeface="Poppins SemiBold"/>
                          <a:sym typeface="Poppins SemiBold"/>
                        </a:rPr>
                        <a:t>Init GPU</a:t>
                      </a:r>
                      <a:endParaRPr sz="1500">
                        <a:latin typeface="Poppins"/>
                        <a:ea typeface="Poppins"/>
                        <a:cs typeface="Poppins"/>
                        <a:sym typeface="Poppins"/>
                      </a:endParaRPr>
                    </a:p>
                  </a:txBody>
                  <a:tcPr marT="25400" marB="25400" marR="63500" marL="63500" anchor="ctr">
                    <a:lnL cap="flat" cmpd="sng" w="28575">
                      <a:solidFill>
                        <a:srgbClr val="06B6D4"/>
                      </a:solidFill>
                      <a:prstDash val="solid"/>
                      <a:round/>
                      <a:headEnd len="sm" w="sm" type="none"/>
                      <a:tailEnd len="sm" w="sm" type="none"/>
                    </a:lnL>
                    <a:lnR cap="flat" cmpd="sng" w="28575">
                      <a:solidFill>
                        <a:srgbClr val="06B6D4"/>
                      </a:solidFill>
                      <a:prstDash val="solid"/>
                      <a:round/>
                      <a:headEnd len="sm" w="sm" type="none"/>
                      <a:tailEnd len="sm" w="sm" type="none"/>
                    </a:lnR>
                    <a:lnT cap="flat" cmpd="sng" w="28575">
                      <a:solidFill>
                        <a:srgbClr val="06B6D4"/>
                      </a:solidFill>
                      <a:prstDash val="solid"/>
                      <a:round/>
                      <a:headEnd len="sm" w="sm" type="none"/>
                      <a:tailEnd len="sm" w="sm" type="none"/>
                    </a:lnT>
                    <a:lnB cap="flat" cmpd="sng" w="28575">
                      <a:solidFill>
                        <a:srgbClr val="06B6D4"/>
                      </a:solidFill>
                      <a:prstDash val="solid"/>
                      <a:round/>
                      <a:headEnd len="sm" w="sm" type="none"/>
                      <a:tailEnd len="sm" w="sm" type="none"/>
                    </a:lnB>
                    <a:solidFill>
                      <a:srgbClr val="0F172A"/>
                    </a:solidFill>
                  </a:tcPr>
                </a:tc>
                <a:tc>
                  <a:txBody>
                    <a:bodyPr/>
                    <a:lstStyle/>
                    <a:p>
                      <a:pPr indent="0" lvl="0" marL="0" marR="0" rtl="0" algn="l">
                        <a:spcBef>
                          <a:spcPts val="0"/>
                        </a:spcBef>
                        <a:spcAft>
                          <a:spcPts val="0"/>
                        </a:spcAft>
                        <a:buNone/>
                      </a:pPr>
                      <a:r>
                        <a:rPr b="0" lang="en-US" sz="1500">
                          <a:solidFill>
                            <a:srgbClr val="06B6D4"/>
                          </a:solidFill>
                          <a:latin typeface="Poppins SemiBold"/>
                          <a:ea typeface="Poppins SemiBold"/>
                          <a:cs typeface="Poppins SemiBold"/>
                          <a:sym typeface="Poppins SemiBold"/>
                        </a:rPr>
                        <a:t>Factor</a:t>
                      </a:r>
                      <a:endParaRPr sz="1500">
                        <a:latin typeface="Poppins"/>
                        <a:ea typeface="Poppins"/>
                        <a:cs typeface="Poppins"/>
                        <a:sym typeface="Poppins"/>
                      </a:endParaRPr>
                    </a:p>
                  </a:txBody>
                  <a:tcPr marT="25400" marB="25400" marR="63500" marL="63500" anchor="ctr">
                    <a:lnL cap="flat" cmpd="sng" w="28575">
                      <a:solidFill>
                        <a:srgbClr val="06B6D4"/>
                      </a:solidFill>
                      <a:prstDash val="solid"/>
                      <a:round/>
                      <a:headEnd len="sm" w="sm" type="none"/>
                      <a:tailEnd len="sm" w="sm" type="none"/>
                    </a:lnL>
                    <a:lnR cap="flat" cmpd="sng" w="28575">
                      <a:solidFill>
                        <a:srgbClr val="06B6D4"/>
                      </a:solidFill>
                      <a:prstDash val="solid"/>
                      <a:round/>
                      <a:headEnd len="sm" w="sm" type="none"/>
                      <a:tailEnd len="sm" w="sm" type="none"/>
                    </a:lnR>
                    <a:lnT cap="flat" cmpd="sng" w="28575">
                      <a:solidFill>
                        <a:srgbClr val="06B6D4"/>
                      </a:solidFill>
                      <a:prstDash val="solid"/>
                      <a:round/>
                      <a:headEnd len="sm" w="sm" type="none"/>
                      <a:tailEnd len="sm" w="sm" type="none"/>
                    </a:lnT>
                    <a:lnB cap="flat" cmpd="sng" w="28575">
                      <a:solidFill>
                        <a:srgbClr val="06B6D4"/>
                      </a:solidFill>
                      <a:prstDash val="solid"/>
                      <a:round/>
                      <a:headEnd len="sm" w="sm" type="none"/>
                      <a:tailEnd len="sm" w="sm" type="none"/>
                    </a:lnB>
                    <a:solidFill>
                      <a:srgbClr val="0F172A"/>
                    </a:solidFill>
                  </a:tcPr>
                </a:tc>
              </a:tr>
              <a:tr h="620900">
                <a:tc>
                  <a:txBody>
                    <a:bodyPr/>
                    <a:lstStyle/>
                    <a:p>
                      <a:pPr indent="0" lvl="0" marL="0" marR="0" rtl="0" algn="l">
                        <a:spcBef>
                          <a:spcPts val="0"/>
                        </a:spcBef>
                        <a:spcAft>
                          <a:spcPts val="0"/>
                        </a:spcAft>
                        <a:buNone/>
                      </a:pPr>
                      <a:r>
                        <a:rPr b="1" i="0" lang="en-US" sz="1500" u="none" cap="none" strike="noStrike">
                          <a:latin typeface="Poppins"/>
                          <a:ea typeface="Poppins"/>
                          <a:cs typeface="Poppins"/>
                          <a:sym typeface="Poppins"/>
                        </a:rPr>
                        <a:t>YOLOv8s Float32</a:t>
                      </a:r>
                      <a:endParaRPr sz="1500">
                        <a:latin typeface="Poppins"/>
                        <a:ea typeface="Poppins"/>
                        <a:cs typeface="Poppins"/>
                        <a:sym typeface="Poppins"/>
                      </a:endParaRPr>
                    </a:p>
                  </a:txBody>
                  <a:tcPr marT="25400" marB="25400" marR="63500" marL="63500" anchor="ctr">
                    <a:lnL cap="flat" cmpd="sng" w="28575">
                      <a:solidFill>
                        <a:srgbClr val="06B6D4"/>
                      </a:solidFill>
                      <a:prstDash val="solid"/>
                      <a:round/>
                      <a:headEnd len="sm" w="sm" type="none"/>
                      <a:tailEnd len="sm" w="sm" type="none"/>
                    </a:lnL>
                    <a:lnR cap="flat" cmpd="sng" w="28575">
                      <a:solidFill>
                        <a:srgbClr val="06B6D4"/>
                      </a:solidFill>
                      <a:prstDash val="solid"/>
                      <a:round/>
                      <a:headEnd len="sm" w="sm" type="none"/>
                      <a:tailEnd len="sm" w="sm" type="none"/>
                    </a:lnR>
                    <a:lnT cap="flat" cmpd="sng" w="28575">
                      <a:solidFill>
                        <a:srgbClr val="06B6D4"/>
                      </a:solidFill>
                      <a:prstDash val="solid"/>
                      <a:round/>
                      <a:headEnd len="sm" w="sm" type="none"/>
                      <a:tailEnd len="sm" w="sm" type="none"/>
                    </a:lnT>
                    <a:lnB cap="flat" cmpd="sng" w="28575">
                      <a:solidFill>
                        <a:srgbClr val="06B6D4"/>
                      </a:solidFill>
                      <a:prstDash val="solid"/>
                      <a:round/>
                      <a:headEnd len="sm" w="sm" type="none"/>
                      <a:tailEnd len="sm" w="sm" type="none"/>
                    </a:lnB>
                  </a:tcPr>
                </a:tc>
                <a:tc>
                  <a:txBody>
                    <a:bodyPr/>
                    <a:lstStyle/>
                    <a:p>
                      <a:pPr indent="0" lvl="0" marL="0" marR="0" rtl="0" algn="l">
                        <a:spcBef>
                          <a:spcPts val="0"/>
                        </a:spcBef>
                        <a:spcAft>
                          <a:spcPts val="0"/>
                        </a:spcAft>
                        <a:buNone/>
                      </a:pPr>
                      <a:r>
                        <a:rPr lang="en-US" sz="1500">
                          <a:latin typeface="Poppins"/>
                          <a:ea typeface="Poppins"/>
                          <a:cs typeface="Poppins"/>
                          <a:sym typeface="Poppins"/>
                        </a:rPr>
                        <a:t>148 ms</a:t>
                      </a:r>
                      <a:endParaRPr sz="1500">
                        <a:latin typeface="Poppins"/>
                        <a:ea typeface="Poppins"/>
                        <a:cs typeface="Poppins"/>
                        <a:sym typeface="Poppins"/>
                      </a:endParaRPr>
                    </a:p>
                  </a:txBody>
                  <a:tcPr marT="25400" marB="25400" marR="63500" marL="63500" anchor="ctr">
                    <a:lnL cap="flat" cmpd="sng" w="28575">
                      <a:solidFill>
                        <a:srgbClr val="06B6D4"/>
                      </a:solidFill>
                      <a:prstDash val="solid"/>
                      <a:round/>
                      <a:headEnd len="sm" w="sm" type="none"/>
                      <a:tailEnd len="sm" w="sm" type="none"/>
                    </a:lnL>
                    <a:lnR cap="flat" cmpd="sng" w="28575">
                      <a:solidFill>
                        <a:srgbClr val="06B6D4"/>
                      </a:solidFill>
                      <a:prstDash val="solid"/>
                      <a:round/>
                      <a:headEnd len="sm" w="sm" type="none"/>
                      <a:tailEnd len="sm" w="sm" type="none"/>
                    </a:lnR>
                    <a:lnT cap="flat" cmpd="sng" w="28575">
                      <a:solidFill>
                        <a:srgbClr val="06B6D4"/>
                      </a:solidFill>
                      <a:prstDash val="solid"/>
                      <a:round/>
                      <a:headEnd len="sm" w="sm" type="none"/>
                      <a:tailEnd len="sm" w="sm" type="none"/>
                    </a:lnT>
                    <a:lnB cap="flat" cmpd="sng" w="28575">
                      <a:solidFill>
                        <a:srgbClr val="06B6D4"/>
                      </a:solidFill>
                      <a:prstDash val="solid"/>
                      <a:round/>
                      <a:headEnd len="sm" w="sm" type="none"/>
                      <a:tailEnd len="sm" w="sm" type="none"/>
                    </a:lnB>
                  </a:tcPr>
                </a:tc>
                <a:tc>
                  <a:txBody>
                    <a:bodyPr/>
                    <a:lstStyle/>
                    <a:p>
                      <a:pPr indent="0" lvl="0" marL="0" marR="0" rtl="0" algn="l">
                        <a:spcBef>
                          <a:spcPts val="0"/>
                        </a:spcBef>
                        <a:spcAft>
                          <a:spcPts val="0"/>
                        </a:spcAft>
                        <a:buNone/>
                      </a:pPr>
                      <a:r>
                        <a:rPr lang="en-US" sz="1500">
                          <a:latin typeface="Poppins"/>
                          <a:ea typeface="Poppins"/>
                          <a:cs typeface="Poppins"/>
                          <a:sym typeface="Poppins"/>
                        </a:rPr>
                        <a:t>3008 ms</a:t>
                      </a:r>
                      <a:endParaRPr sz="1500">
                        <a:latin typeface="Poppins"/>
                        <a:ea typeface="Poppins"/>
                        <a:cs typeface="Poppins"/>
                        <a:sym typeface="Poppins"/>
                      </a:endParaRPr>
                    </a:p>
                  </a:txBody>
                  <a:tcPr marT="25400" marB="25400" marR="63500" marL="63500" anchor="ctr">
                    <a:lnL cap="flat" cmpd="sng" w="28575">
                      <a:solidFill>
                        <a:srgbClr val="06B6D4"/>
                      </a:solidFill>
                      <a:prstDash val="solid"/>
                      <a:round/>
                      <a:headEnd len="sm" w="sm" type="none"/>
                      <a:tailEnd len="sm" w="sm" type="none"/>
                    </a:lnL>
                    <a:lnR cap="flat" cmpd="sng" w="28575">
                      <a:solidFill>
                        <a:srgbClr val="06B6D4"/>
                      </a:solidFill>
                      <a:prstDash val="solid"/>
                      <a:round/>
                      <a:headEnd len="sm" w="sm" type="none"/>
                      <a:tailEnd len="sm" w="sm" type="none"/>
                    </a:lnR>
                    <a:lnT cap="flat" cmpd="sng" w="28575">
                      <a:solidFill>
                        <a:srgbClr val="06B6D4"/>
                      </a:solidFill>
                      <a:prstDash val="solid"/>
                      <a:round/>
                      <a:headEnd len="sm" w="sm" type="none"/>
                      <a:tailEnd len="sm" w="sm" type="none"/>
                    </a:lnT>
                    <a:lnB cap="flat" cmpd="sng" w="28575">
                      <a:solidFill>
                        <a:srgbClr val="06B6D4"/>
                      </a:solidFill>
                      <a:prstDash val="solid"/>
                      <a:round/>
                      <a:headEnd len="sm" w="sm" type="none"/>
                      <a:tailEnd len="sm" w="sm" type="none"/>
                    </a:lnB>
                  </a:tcPr>
                </a:tc>
                <a:tc>
                  <a:txBody>
                    <a:bodyPr/>
                    <a:lstStyle/>
                    <a:p>
                      <a:pPr indent="0" lvl="0" marL="0" marR="0" rtl="0" algn="l">
                        <a:spcBef>
                          <a:spcPts val="0"/>
                        </a:spcBef>
                        <a:spcAft>
                          <a:spcPts val="0"/>
                        </a:spcAft>
                        <a:buNone/>
                      </a:pPr>
                      <a:r>
                        <a:rPr lang="en-US" sz="1500">
                          <a:latin typeface="Poppins"/>
                          <a:ea typeface="Poppins"/>
                          <a:cs typeface="Poppins"/>
                          <a:sym typeface="Poppins"/>
                        </a:rPr>
                        <a:t>20x</a:t>
                      </a:r>
                      <a:endParaRPr sz="1500">
                        <a:latin typeface="Poppins"/>
                        <a:ea typeface="Poppins"/>
                        <a:cs typeface="Poppins"/>
                        <a:sym typeface="Poppins"/>
                      </a:endParaRPr>
                    </a:p>
                  </a:txBody>
                  <a:tcPr marT="25400" marB="25400" marR="63500" marL="63500" anchor="ctr">
                    <a:lnL cap="flat" cmpd="sng" w="28575">
                      <a:solidFill>
                        <a:srgbClr val="06B6D4"/>
                      </a:solidFill>
                      <a:prstDash val="solid"/>
                      <a:round/>
                      <a:headEnd len="sm" w="sm" type="none"/>
                      <a:tailEnd len="sm" w="sm" type="none"/>
                    </a:lnL>
                    <a:lnR cap="flat" cmpd="sng" w="28575">
                      <a:solidFill>
                        <a:srgbClr val="06B6D4"/>
                      </a:solidFill>
                      <a:prstDash val="solid"/>
                      <a:round/>
                      <a:headEnd len="sm" w="sm" type="none"/>
                      <a:tailEnd len="sm" w="sm" type="none"/>
                    </a:lnR>
                    <a:lnT cap="flat" cmpd="sng" w="28575">
                      <a:solidFill>
                        <a:srgbClr val="06B6D4"/>
                      </a:solidFill>
                      <a:prstDash val="solid"/>
                      <a:round/>
                      <a:headEnd len="sm" w="sm" type="none"/>
                      <a:tailEnd len="sm" w="sm" type="none"/>
                    </a:lnT>
                    <a:lnB cap="flat" cmpd="sng" w="28575">
                      <a:solidFill>
                        <a:srgbClr val="06B6D4"/>
                      </a:solidFill>
                      <a:prstDash val="solid"/>
                      <a:round/>
                      <a:headEnd len="sm" w="sm" type="none"/>
                      <a:tailEnd len="sm" w="sm" type="none"/>
                    </a:lnB>
                  </a:tcPr>
                </a:tc>
              </a:tr>
              <a:tr h="620900">
                <a:tc>
                  <a:txBody>
                    <a:bodyPr/>
                    <a:lstStyle/>
                    <a:p>
                      <a:pPr indent="0" lvl="0" marL="0" marR="0" rtl="0" algn="l">
                        <a:spcBef>
                          <a:spcPts val="0"/>
                        </a:spcBef>
                        <a:spcAft>
                          <a:spcPts val="0"/>
                        </a:spcAft>
                        <a:buNone/>
                      </a:pPr>
                      <a:r>
                        <a:rPr b="1" i="0" lang="en-US" sz="1500" u="none" cap="none" strike="noStrike">
                          <a:latin typeface="Poppins"/>
                          <a:ea typeface="Poppins"/>
                          <a:cs typeface="Poppins"/>
                          <a:sym typeface="Poppins"/>
                        </a:rPr>
                        <a:t>YOLOv8s Float16</a:t>
                      </a:r>
                      <a:endParaRPr sz="1500">
                        <a:latin typeface="Poppins"/>
                        <a:ea typeface="Poppins"/>
                        <a:cs typeface="Poppins"/>
                        <a:sym typeface="Poppins"/>
                      </a:endParaRPr>
                    </a:p>
                  </a:txBody>
                  <a:tcPr marT="25400" marB="25400" marR="63500" marL="63500" anchor="ctr">
                    <a:lnL cap="flat" cmpd="sng" w="28575">
                      <a:solidFill>
                        <a:srgbClr val="06B6D4"/>
                      </a:solidFill>
                      <a:prstDash val="solid"/>
                      <a:round/>
                      <a:headEnd len="sm" w="sm" type="none"/>
                      <a:tailEnd len="sm" w="sm" type="none"/>
                    </a:lnL>
                    <a:lnR cap="flat" cmpd="sng" w="28575">
                      <a:solidFill>
                        <a:srgbClr val="06B6D4"/>
                      </a:solidFill>
                      <a:prstDash val="solid"/>
                      <a:round/>
                      <a:headEnd len="sm" w="sm" type="none"/>
                      <a:tailEnd len="sm" w="sm" type="none"/>
                    </a:lnR>
                    <a:lnT cap="flat" cmpd="sng" w="28575">
                      <a:solidFill>
                        <a:srgbClr val="06B6D4"/>
                      </a:solidFill>
                      <a:prstDash val="solid"/>
                      <a:round/>
                      <a:headEnd len="sm" w="sm" type="none"/>
                      <a:tailEnd len="sm" w="sm" type="none"/>
                    </a:lnT>
                    <a:lnB cap="flat" cmpd="sng" w="28575">
                      <a:solidFill>
                        <a:srgbClr val="06B6D4"/>
                      </a:solidFill>
                      <a:prstDash val="solid"/>
                      <a:round/>
                      <a:headEnd len="sm" w="sm" type="none"/>
                      <a:tailEnd len="sm" w="sm" type="none"/>
                    </a:lnB>
                  </a:tcPr>
                </a:tc>
                <a:tc>
                  <a:txBody>
                    <a:bodyPr/>
                    <a:lstStyle/>
                    <a:p>
                      <a:pPr indent="0" lvl="0" marL="0" marR="0" rtl="0" algn="l">
                        <a:spcBef>
                          <a:spcPts val="0"/>
                        </a:spcBef>
                        <a:spcAft>
                          <a:spcPts val="0"/>
                        </a:spcAft>
                        <a:buNone/>
                      </a:pPr>
                      <a:r>
                        <a:rPr lang="en-US" sz="1500">
                          <a:latin typeface="Poppins"/>
                          <a:ea typeface="Poppins"/>
                          <a:cs typeface="Poppins"/>
                          <a:sym typeface="Poppins"/>
                        </a:rPr>
                        <a:t>172 ms</a:t>
                      </a:r>
                      <a:endParaRPr sz="1500">
                        <a:latin typeface="Poppins"/>
                        <a:ea typeface="Poppins"/>
                        <a:cs typeface="Poppins"/>
                        <a:sym typeface="Poppins"/>
                      </a:endParaRPr>
                    </a:p>
                  </a:txBody>
                  <a:tcPr marT="25400" marB="25400" marR="63500" marL="63500" anchor="ctr">
                    <a:lnL cap="flat" cmpd="sng" w="28575">
                      <a:solidFill>
                        <a:srgbClr val="06B6D4"/>
                      </a:solidFill>
                      <a:prstDash val="solid"/>
                      <a:round/>
                      <a:headEnd len="sm" w="sm" type="none"/>
                      <a:tailEnd len="sm" w="sm" type="none"/>
                    </a:lnL>
                    <a:lnR cap="flat" cmpd="sng" w="28575">
                      <a:solidFill>
                        <a:srgbClr val="06B6D4"/>
                      </a:solidFill>
                      <a:prstDash val="solid"/>
                      <a:round/>
                      <a:headEnd len="sm" w="sm" type="none"/>
                      <a:tailEnd len="sm" w="sm" type="none"/>
                    </a:lnR>
                    <a:lnT cap="flat" cmpd="sng" w="28575">
                      <a:solidFill>
                        <a:srgbClr val="06B6D4"/>
                      </a:solidFill>
                      <a:prstDash val="solid"/>
                      <a:round/>
                      <a:headEnd len="sm" w="sm" type="none"/>
                      <a:tailEnd len="sm" w="sm" type="none"/>
                    </a:lnT>
                    <a:lnB cap="flat" cmpd="sng" w="28575">
                      <a:solidFill>
                        <a:srgbClr val="06B6D4"/>
                      </a:solidFill>
                      <a:prstDash val="solid"/>
                      <a:round/>
                      <a:headEnd len="sm" w="sm" type="none"/>
                      <a:tailEnd len="sm" w="sm" type="none"/>
                    </a:lnB>
                  </a:tcPr>
                </a:tc>
                <a:tc>
                  <a:txBody>
                    <a:bodyPr/>
                    <a:lstStyle/>
                    <a:p>
                      <a:pPr indent="0" lvl="0" marL="0" marR="0" rtl="0" algn="l">
                        <a:spcBef>
                          <a:spcPts val="0"/>
                        </a:spcBef>
                        <a:spcAft>
                          <a:spcPts val="0"/>
                        </a:spcAft>
                        <a:buNone/>
                      </a:pPr>
                      <a:r>
                        <a:rPr lang="en-US" sz="1500">
                          <a:latin typeface="Poppins"/>
                          <a:ea typeface="Poppins"/>
                          <a:cs typeface="Poppins"/>
                          <a:sym typeface="Poppins"/>
                        </a:rPr>
                        <a:t>3931 ms</a:t>
                      </a:r>
                      <a:endParaRPr sz="1500">
                        <a:latin typeface="Poppins"/>
                        <a:ea typeface="Poppins"/>
                        <a:cs typeface="Poppins"/>
                        <a:sym typeface="Poppins"/>
                      </a:endParaRPr>
                    </a:p>
                  </a:txBody>
                  <a:tcPr marT="25400" marB="25400" marR="63500" marL="63500" anchor="ctr">
                    <a:lnL cap="flat" cmpd="sng" w="28575">
                      <a:solidFill>
                        <a:srgbClr val="06B6D4"/>
                      </a:solidFill>
                      <a:prstDash val="solid"/>
                      <a:round/>
                      <a:headEnd len="sm" w="sm" type="none"/>
                      <a:tailEnd len="sm" w="sm" type="none"/>
                    </a:lnL>
                    <a:lnR cap="flat" cmpd="sng" w="28575">
                      <a:solidFill>
                        <a:srgbClr val="06B6D4"/>
                      </a:solidFill>
                      <a:prstDash val="solid"/>
                      <a:round/>
                      <a:headEnd len="sm" w="sm" type="none"/>
                      <a:tailEnd len="sm" w="sm" type="none"/>
                    </a:lnR>
                    <a:lnT cap="flat" cmpd="sng" w="28575">
                      <a:solidFill>
                        <a:srgbClr val="06B6D4"/>
                      </a:solidFill>
                      <a:prstDash val="solid"/>
                      <a:round/>
                      <a:headEnd len="sm" w="sm" type="none"/>
                      <a:tailEnd len="sm" w="sm" type="none"/>
                    </a:lnT>
                    <a:lnB cap="flat" cmpd="sng" w="28575">
                      <a:solidFill>
                        <a:srgbClr val="06B6D4"/>
                      </a:solidFill>
                      <a:prstDash val="solid"/>
                      <a:round/>
                      <a:headEnd len="sm" w="sm" type="none"/>
                      <a:tailEnd len="sm" w="sm" type="none"/>
                    </a:lnB>
                  </a:tcPr>
                </a:tc>
                <a:tc>
                  <a:txBody>
                    <a:bodyPr/>
                    <a:lstStyle/>
                    <a:p>
                      <a:pPr indent="0" lvl="0" marL="0" marR="0" rtl="0" algn="l">
                        <a:spcBef>
                          <a:spcPts val="0"/>
                        </a:spcBef>
                        <a:spcAft>
                          <a:spcPts val="0"/>
                        </a:spcAft>
                        <a:buNone/>
                      </a:pPr>
                      <a:r>
                        <a:rPr lang="en-US" sz="1500">
                          <a:latin typeface="Poppins"/>
                          <a:ea typeface="Poppins"/>
                          <a:cs typeface="Poppins"/>
                          <a:sym typeface="Poppins"/>
                        </a:rPr>
                        <a:t>23x</a:t>
                      </a:r>
                      <a:endParaRPr sz="1500">
                        <a:latin typeface="Poppins"/>
                        <a:ea typeface="Poppins"/>
                        <a:cs typeface="Poppins"/>
                        <a:sym typeface="Poppins"/>
                      </a:endParaRPr>
                    </a:p>
                  </a:txBody>
                  <a:tcPr marT="25400" marB="25400" marR="63500" marL="63500" anchor="ctr">
                    <a:lnL cap="flat" cmpd="sng" w="28575">
                      <a:solidFill>
                        <a:srgbClr val="06B6D4"/>
                      </a:solidFill>
                      <a:prstDash val="solid"/>
                      <a:round/>
                      <a:headEnd len="sm" w="sm" type="none"/>
                      <a:tailEnd len="sm" w="sm" type="none"/>
                    </a:lnL>
                    <a:lnR cap="flat" cmpd="sng" w="28575">
                      <a:solidFill>
                        <a:srgbClr val="06B6D4"/>
                      </a:solidFill>
                      <a:prstDash val="solid"/>
                      <a:round/>
                      <a:headEnd len="sm" w="sm" type="none"/>
                      <a:tailEnd len="sm" w="sm" type="none"/>
                    </a:lnR>
                    <a:lnT cap="flat" cmpd="sng" w="28575">
                      <a:solidFill>
                        <a:srgbClr val="06B6D4"/>
                      </a:solidFill>
                      <a:prstDash val="solid"/>
                      <a:round/>
                      <a:headEnd len="sm" w="sm" type="none"/>
                      <a:tailEnd len="sm" w="sm" type="none"/>
                    </a:lnT>
                    <a:lnB cap="flat" cmpd="sng" w="28575">
                      <a:solidFill>
                        <a:srgbClr val="06B6D4"/>
                      </a:solidFill>
                      <a:prstDash val="solid"/>
                      <a:round/>
                      <a:headEnd len="sm" w="sm" type="none"/>
                      <a:tailEnd len="sm" w="sm" type="none"/>
                    </a:lnB>
                  </a:tcPr>
                </a:tc>
              </a:tr>
              <a:tr h="620900">
                <a:tc>
                  <a:txBody>
                    <a:bodyPr/>
                    <a:lstStyle/>
                    <a:p>
                      <a:pPr indent="0" lvl="0" marL="0" marR="0" rtl="0" algn="l">
                        <a:spcBef>
                          <a:spcPts val="0"/>
                        </a:spcBef>
                        <a:spcAft>
                          <a:spcPts val="0"/>
                        </a:spcAft>
                        <a:buNone/>
                      </a:pPr>
                      <a:r>
                        <a:rPr b="1" i="0" lang="en-US" sz="1500" u="none" cap="none" strike="noStrike">
                          <a:latin typeface="Poppins"/>
                          <a:ea typeface="Poppins"/>
                          <a:cs typeface="Poppins"/>
                          <a:sym typeface="Poppins"/>
                        </a:rPr>
                        <a:t>YOLO11n Float32</a:t>
                      </a:r>
                      <a:endParaRPr b="1" i="0" sz="1500" u="none" cap="none" strike="noStrike">
                        <a:latin typeface="Poppins"/>
                        <a:ea typeface="Poppins"/>
                        <a:cs typeface="Poppins"/>
                        <a:sym typeface="Poppins"/>
                      </a:endParaRPr>
                    </a:p>
                  </a:txBody>
                  <a:tcPr marT="25400" marB="25400" marR="63500" marL="63500" anchor="ctr">
                    <a:lnL cap="flat" cmpd="sng" w="28575">
                      <a:solidFill>
                        <a:srgbClr val="06B6D4"/>
                      </a:solidFill>
                      <a:prstDash val="solid"/>
                      <a:round/>
                      <a:headEnd len="sm" w="sm" type="none"/>
                      <a:tailEnd len="sm" w="sm" type="none"/>
                    </a:lnL>
                    <a:lnR cap="flat" cmpd="sng" w="28575">
                      <a:solidFill>
                        <a:srgbClr val="06B6D4"/>
                      </a:solidFill>
                      <a:prstDash val="solid"/>
                      <a:round/>
                      <a:headEnd len="sm" w="sm" type="none"/>
                      <a:tailEnd len="sm" w="sm" type="none"/>
                    </a:lnR>
                    <a:lnT cap="flat" cmpd="sng" w="28575">
                      <a:solidFill>
                        <a:srgbClr val="06B6D4"/>
                      </a:solidFill>
                      <a:prstDash val="solid"/>
                      <a:round/>
                      <a:headEnd len="sm" w="sm" type="none"/>
                      <a:tailEnd len="sm" w="sm" type="none"/>
                    </a:lnT>
                    <a:lnB cap="flat" cmpd="sng" w="28575">
                      <a:solidFill>
                        <a:srgbClr val="06B6D4"/>
                      </a:solidFill>
                      <a:prstDash val="solid"/>
                      <a:round/>
                      <a:headEnd len="sm" w="sm" type="none"/>
                      <a:tailEnd len="sm" w="sm" type="none"/>
                    </a:lnB>
                  </a:tcPr>
                </a:tc>
                <a:tc>
                  <a:txBody>
                    <a:bodyPr/>
                    <a:lstStyle/>
                    <a:p>
                      <a:pPr indent="0" lvl="0" marL="0" marR="0" rtl="0" algn="l">
                        <a:spcBef>
                          <a:spcPts val="0"/>
                        </a:spcBef>
                        <a:spcAft>
                          <a:spcPts val="0"/>
                        </a:spcAft>
                        <a:buNone/>
                      </a:pPr>
                      <a:r>
                        <a:rPr lang="en-US" sz="1500">
                          <a:latin typeface="Poppins"/>
                          <a:ea typeface="Poppins"/>
                          <a:cs typeface="Poppins"/>
                          <a:sym typeface="Poppins"/>
                        </a:rPr>
                        <a:t>57 ms</a:t>
                      </a:r>
                      <a:endParaRPr i="0" sz="1500" u="none" cap="none" strike="noStrike">
                        <a:latin typeface="Poppins"/>
                        <a:ea typeface="Poppins"/>
                        <a:cs typeface="Poppins"/>
                        <a:sym typeface="Poppins"/>
                      </a:endParaRPr>
                    </a:p>
                  </a:txBody>
                  <a:tcPr marT="25400" marB="25400" marR="63500" marL="63500" anchor="ctr">
                    <a:lnL cap="flat" cmpd="sng" w="28575">
                      <a:solidFill>
                        <a:srgbClr val="06B6D4"/>
                      </a:solidFill>
                      <a:prstDash val="solid"/>
                      <a:round/>
                      <a:headEnd len="sm" w="sm" type="none"/>
                      <a:tailEnd len="sm" w="sm" type="none"/>
                    </a:lnL>
                    <a:lnR cap="flat" cmpd="sng" w="28575">
                      <a:solidFill>
                        <a:srgbClr val="06B6D4"/>
                      </a:solidFill>
                      <a:prstDash val="solid"/>
                      <a:round/>
                      <a:headEnd len="sm" w="sm" type="none"/>
                      <a:tailEnd len="sm" w="sm" type="none"/>
                    </a:lnR>
                    <a:lnT cap="flat" cmpd="sng" w="28575">
                      <a:solidFill>
                        <a:srgbClr val="06B6D4"/>
                      </a:solidFill>
                      <a:prstDash val="solid"/>
                      <a:round/>
                      <a:headEnd len="sm" w="sm" type="none"/>
                      <a:tailEnd len="sm" w="sm" type="none"/>
                    </a:lnT>
                    <a:lnB cap="flat" cmpd="sng" w="28575">
                      <a:solidFill>
                        <a:srgbClr val="06B6D4"/>
                      </a:solidFill>
                      <a:prstDash val="solid"/>
                      <a:round/>
                      <a:headEnd len="sm" w="sm" type="none"/>
                      <a:tailEnd len="sm" w="sm" type="none"/>
                    </a:lnB>
                  </a:tcPr>
                </a:tc>
                <a:tc>
                  <a:txBody>
                    <a:bodyPr/>
                    <a:lstStyle/>
                    <a:p>
                      <a:pPr indent="0" lvl="0" marL="0" marR="0" rtl="0" algn="l">
                        <a:spcBef>
                          <a:spcPts val="0"/>
                        </a:spcBef>
                        <a:spcAft>
                          <a:spcPts val="0"/>
                        </a:spcAft>
                        <a:buNone/>
                      </a:pPr>
                      <a:r>
                        <a:rPr lang="en-US" sz="1500">
                          <a:latin typeface="Poppins"/>
                          <a:ea typeface="Poppins"/>
                          <a:cs typeface="Poppins"/>
                          <a:sym typeface="Poppins"/>
                        </a:rPr>
                        <a:t>4299 ms</a:t>
                      </a:r>
                      <a:endParaRPr i="0" sz="1500" u="none" cap="none" strike="noStrike">
                        <a:latin typeface="Poppins"/>
                        <a:ea typeface="Poppins"/>
                        <a:cs typeface="Poppins"/>
                        <a:sym typeface="Poppins"/>
                      </a:endParaRPr>
                    </a:p>
                  </a:txBody>
                  <a:tcPr marT="25400" marB="25400" marR="63500" marL="63500" anchor="ctr">
                    <a:lnL cap="flat" cmpd="sng" w="28575">
                      <a:solidFill>
                        <a:srgbClr val="06B6D4"/>
                      </a:solidFill>
                      <a:prstDash val="solid"/>
                      <a:round/>
                      <a:headEnd len="sm" w="sm" type="none"/>
                      <a:tailEnd len="sm" w="sm" type="none"/>
                    </a:lnL>
                    <a:lnR cap="flat" cmpd="sng" w="28575">
                      <a:solidFill>
                        <a:srgbClr val="06B6D4"/>
                      </a:solidFill>
                      <a:prstDash val="solid"/>
                      <a:round/>
                      <a:headEnd len="sm" w="sm" type="none"/>
                      <a:tailEnd len="sm" w="sm" type="none"/>
                    </a:lnR>
                    <a:lnT cap="flat" cmpd="sng" w="28575">
                      <a:solidFill>
                        <a:srgbClr val="06B6D4"/>
                      </a:solidFill>
                      <a:prstDash val="solid"/>
                      <a:round/>
                      <a:headEnd len="sm" w="sm" type="none"/>
                      <a:tailEnd len="sm" w="sm" type="none"/>
                    </a:lnT>
                    <a:lnB cap="flat" cmpd="sng" w="28575">
                      <a:solidFill>
                        <a:srgbClr val="06B6D4"/>
                      </a:solidFill>
                      <a:prstDash val="solid"/>
                      <a:round/>
                      <a:headEnd len="sm" w="sm" type="none"/>
                      <a:tailEnd len="sm" w="sm" type="none"/>
                    </a:lnB>
                  </a:tcPr>
                </a:tc>
                <a:tc>
                  <a:txBody>
                    <a:bodyPr/>
                    <a:lstStyle/>
                    <a:p>
                      <a:pPr indent="0" lvl="0" marL="0" marR="0" rtl="0" algn="l">
                        <a:spcBef>
                          <a:spcPts val="0"/>
                        </a:spcBef>
                        <a:spcAft>
                          <a:spcPts val="0"/>
                        </a:spcAft>
                        <a:buNone/>
                      </a:pPr>
                      <a:r>
                        <a:rPr lang="en-US" sz="1500">
                          <a:latin typeface="Poppins"/>
                          <a:ea typeface="Poppins"/>
                          <a:cs typeface="Poppins"/>
                          <a:sym typeface="Poppins"/>
                        </a:rPr>
                        <a:t>75x</a:t>
                      </a:r>
                      <a:endParaRPr i="0" sz="1500" u="none" cap="none" strike="noStrike">
                        <a:latin typeface="Poppins"/>
                        <a:ea typeface="Poppins"/>
                        <a:cs typeface="Poppins"/>
                        <a:sym typeface="Poppins"/>
                      </a:endParaRPr>
                    </a:p>
                  </a:txBody>
                  <a:tcPr marT="25400" marB="25400" marR="63500" marL="63500" anchor="ctr">
                    <a:lnL cap="flat" cmpd="sng" w="28575">
                      <a:solidFill>
                        <a:srgbClr val="06B6D4"/>
                      </a:solidFill>
                      <a:prstDash val="solid"/>
                      <a:round/>
                      <a:headEnd len="sm" w="sm" type="none"/>
                      <a:tailEnd len="sm" w="sm" type="none"/>
                    </a:lnL>
                    <a:lnR cap="flat" cmpd="sng" w="28575">
                      <a:solidFill>
                        <a:srgbClr val="06B6D4"/>
                      </a:solidFill>
                      <a:prstDash val="solid"/>
                      <a:round/>
                      <a:headEnd len="sm" w="sm" type="none"/>
                      <a:tailEnd len="sm" w="sm" type="none"/>
                    </a:lnR>
                    <a:lnT cap="flat" cmpd="sng" w="28575">
                      <a:solidFill>
                        <a:srgbClr val="06B6D4"/>
                      </a:solidFill>
                      <a:prstDash val="solid"/>
                      <a:round/>
                      <a:headEnd len="sm" w="sm" type="none"/>
                      <a:tailEnd len="sm" w="sm" type="none"/>
                    </a:lnT>
                    <a:lnB cap="flat" cmpd="sng" w="28575">
                      <a:solidFill>
                        <a:srgbClr val="06B6D4"/>
                      </a:solidFill>
                      <a:prstDash val="solid"/>
                      <a:round/>
                      <a:headEnd len="sm" w="sm" type="none"/>
                      <a:tailEnd len="sm" w="sm" type="none"/>
                    </a:lnB>
                  </a:tcPr>
                </a:tc>
              </a:tr>
              <a:tr h="620900">
                <a:tc>
                  <a:txBody>
                    <a:bodyPr/>
                    <a:lstStyle/>
                    <a:p>
                      <a:pPr indent="0" lvl="0" marL="0" marR="0" rtl="0" algn="l">
                        <a:spcBef>
                          <a:spcPts val="0"/>
                        </a:spcBef>
                        <a:spcAft>
                          <a:spcPts val="0"/>
                        </a:spcAft>
                        <a:buNone/>
                      </a:pPr>
                      <a:r>
                        <a:rPr b="1" i="0" lang="en-US" sz="1500" u="none" cap="none" strike="noStrike">
                          <a:latin typeface="Poppins"/>
                          <a:ea typeface="Poppins"/>
                          <a:cs typeface="Poppins"/>
                          <a:sym typeface="Poppins"/>
                        </a:rPr>
                        <a:t>YOLO11n Float16</a:t>
                      </a:r>
                      <a:endParaRPr b="1" i="0" sz="1500" u="none" cap="none" strike="noStrike">
                        <a:latin typeface="Poppins"/>
                        <a:ea typeface="Poppins"/>
                        <a:cs typeface="Poppins"/>
                        <a:sym typeface="Poppins"/>
                      </a:endParaRPr>
                    </a:p>
                  </a:txBody>
                  <a:tcPr marT="25400" marB="25400" marR="63500" marL="63500" anchor="ctr">
                    <a:lnL cap="flat" cmpd="sng" w="28575">
                      <a:solidFill>
                        <a:srgbClr val="06B6D4"/>
                      </a:solidFill>
                      <a:prstDash val="solid"/>
                      <a:round/>
                      <a:headEnd len="sm" w="sm" type="none"/>
                      <a:tailEnd len="sm" w="sm" type="none"/>
                    </a:lnL>
                    <a:lnR cap="flat" cmpd="sng" w="28575">
                      <a:solidFill>
                        <a:srgbClr val="06B6D4"/>
                      </a:solidFill>
                      <a:prstDash val="solid"/>
                      <a:round/>
                      <a:headEnd len="sm" w="sm" type="none"/>
                      <a:tailEnd len="sm" w="sm" type="none"/>
                    </a:lnR>
                    <a:lnT cap="flat" cmpd="sng" w="28575">
                      <a:solidFill>
                        <a:srgbClr val="06B6D4"/>
                      </a:solidFill>
                      <a:prstDash val="solid"/>
                      <a:round/>
                      <a:headEnd len="sm" w="sm" type="none"/>
                      <a:tailEnd len="sm" w="sm" type="none"/>
                    </a:lnT>
                    <a:lnB cap="flat" cmpd="sng" w="28575">
                      <a:solidFill>
                        <a:srgbClr val="06B6D4"/>
                      </a:solidFill>
                      <a:prstDash val="solid"/>
                      <a:round/>
                      <a:headEnd len="sm" w="sm" type="none"/>
                      <a:tailEnd len="sm" w="sm" type="none"/>
                    </a:lnB>
                  </a:tcPr>
                </a:tc>
                <a:tc>
                  <a:txBody>
                    <a:bodyPr/>
                    <a:lstStyle/>
                    <a:p>
                      <a:pPr indent="0" lvl="0" marL="0" marR="0" rtl="0" algn="l">
                        <a:spcBef>
                          <a:spcPts val="0"/>
                        </a:spcBef>
                        <a:spcAft>
                          <a:spcPts val="0"/>
                        </a:spcAft>
                        <a:buNone/>
                      </a:pPr>
                      <a:r>
                        <a:rPr lang="en-US" sz="1500">
                          <a:latin typeface="Poppins"/>
                          <a:ea typeface="Poppins"/>
                          <a:cs typeface="Poppins"/>
                          <a:sym typeface="Poppins"/>
                        </a:rPr>
                        <a:t>86 ms</a:t>
                      </a:r>
                      <a:endParaRPr i="0" sz="1500" u="none" cap="none" strike="noStrike">
                        <a:latin typeface="Poppins"/>
                        <a:ea typeface="Poppins"/>
                        <a:cs typeface="Poppins"/>
                        <a:sym typeface="Poppins"/>
                      </a:endParaRPr>
                    </a:p>
                  </a:txBody>
                  <a:tcPr marT="25400" marB="25400" marR="63500" marL="63500" anchor="ctr">
                    <a:lnL cap="flat" cmpd="sng" w="28575">
                      <a:solidFill>
                        <a:srgbClr val="06B6D4"/>
                      </a:solidFill>
                      <a:prstDash val="solid"/>
                      <a:round/>
                      <a:headEnd len="sm" w="sm" type="none"/>
                      <a:tailEnd len="sm" w="sm" type="none"/>
                    </a:lnL>
                    <a:lnR cap="flat" cmpd="sng" w="28575">
                      <a:solidFill>
                        <a:srgbClr val="06B6D4"/>
                      </a:solidFill>
                      <a:prstDash val="solid"/>
                      <a:round/>
                      <a:headEnd len="sm" w="sm" type="none"/>
                      <a:tailEnd len="sm" w="sm" type="none"/>
                    </a:lnR>
                    <a:lnT cap="flat" cmpd="sng" w="28575">
                      <a:solidFill>
                        <a:srgbClr val="06B6D4"/>
                      </a:solidFill>
                      <a:prstDash val="solid"/>
                      <a:round/>
                      <a:headEnd len="sm" w="sm" type="none"/>
                      <a:tailEnd len="sm" w="sm" type="none"/>
                    </a:lnT>
                    <a:lnB cap="flat" cmpd="sng" w="28575">
                      <a:solidFill>
                        <a:srgbClr val="06B6D4"/>
                      </a:solidFill>
                      <a:prstDash val="solid"/>
                      <a:round/>
                      <a:headEnd len="sm" w="sm" type="none"/>
                      <a:tailEnd len="sm" w="sm" type="none"/>
                    </a:lnB>
                  </a:tcPr>
                </a:tc>
                <a:tc>
                  <a:txBody>
                    <a:bodyPr/>
                    <a:lstStyle/>
                    <a:p>
                      <a:pPr indent="0" lvl="0" marL="0" marR="0" rtl="0" algn="l">
                        <a:spcBef>
                          <a:spcPts val="0"/>
                        </a:spcBef>
                        <a:spcAft>
                          <a:spcPts val="0"/>
                        </a:spcAft>
                        <a:buNone/>
                      </a:pPr>
                      <a:r>
                        <a:rPr lang="en-US" sz="1500">
                          <a:latin typeface="Poppins"/>
                          <a:ea typeface="Poppins"/>
                          <a:cs typeface="Poppins"/>
                          <a:sym typeface="Poppins"/>
                        </a:rPr>
                        <a:t>3372 ms</a:t>
                      </a:r>
                      <a:endParaRPr i="0" sz="1500" u="none" cap="none" strike="noStrike">
                        <a:latin typeface="Poppins"/>
                        <a:ea typeface="Poppins"/>
                        <a:cs typeface="Poppins"/>
                        <a:sym typeface="Poppins"/>
                      </a:endParaRPr>
                    </a:p>
                  </a:txBody>
                  <a:tcPr marT="25400" marB="25400" marR="63500" marL="63500" anchor="ctr">
                    <a:lnL cap="flat" cmpd="sng" w="28575">
                      <a:solidFill>
                        <a:srgbClr val="06B6D4"/>
                      </a:solidFill>
                      <a:prstDash val="solid"/>
                      <a:round/>
                      <a:headEnd len="sm" w="sm" type="none"/>
                      <a:tailEnd len="sm" w="sm" type="none"/>
                    </a:lnL>
                    <a:lnR cap="flat" cmpd="sng" w="28575">
                      <a:solidFill>
                        <a:srgbClr val="06B6D4"/>
                      </a:solidFill>
                      <a:prstDash val="solid"/>
                      <a:round/>
                      <a:headEnd len="sm" w="sm" type="none"/>
                      <a:tailEnd len="sm" w="sm" type="none"/>
                    </a:lnR>
                    <a:lnT cap="flat" cmpd="sng" w="28575">
                      <a:solidFill>
                        <a:srgbClr val="06B6D4"/>
                      </a:solidFill>
                      <a:prstDash val="solid"/>
                      <a:round/>
                      <a:headEnd len="sm" w="sm" type="none"/>
                      <a:tailEnd len="sm" w="sm" type="none"/>
                    </a:lnT>
                    <a:lnB cap="flat" cmpd="sng" w="28575">
                      <a:solidFill>
                        <a:srgbClr val="06B6D4"/>
                      </a:solidFill>
                      <a:prstDash val="solid"/>
                      <a:round/>
                      <a:headEnd len="sm" w="sm" type="none"/>
                      <a:tailEnd len="sm" w="sm" type="none"/>
                    </a:lnB>
                  </a:tcPr>
                </a:tc>
                <a:tc>
                  <a:txBody>
                    <a:bodyPr/>
                    <a:lstStyle/>
                    <a:p>
                      <a:pPr indent="0" lvl="0" marL="0" marR="0" rtl="0" algn="l">
                        <a:spcBef>
                          <a:spcPts val="0"/>
                        </a:spcBef>
                        <a:spcAft>
                          <a:spcPts val="0"/>
                        </a:spcAft>
                        <a:buNone/>
                      </a:pPr>
                      <a:r>
                        <a:rPr lang="en-US" sz="1500">
                          <a:latin typeface="Poppins"/>
                          <a:ea typeface="Poppins"/>
                          <a:cs typeface="Poppins"/>
                          <a:sym typeface="Poppins"/>
                        </a:rPr>
                        <a:t>39x</a:t>
                      </a:r>
                      <a:endParaRPr i="0" sz="1500" u="none" cap="none" strike="noStrike">
                        <a:latin typeface="Poppins"/>
                        <a:ea typeface="Poppins"/>
                        <a:cs typeface="Poppins"/>
                        <a:sym typeface="Poppins"/>
                      </a:endParaRPr>
                    </a:p>
                  </a:txBody>
                  <a:tcPr marT="25400" marB="25400" marR="63500" marL="63500" anchor="ctr">
                    <a:lnL cap="flat" cmpd="sng" w="28575">
                      <a:solidFill>
                        <a:srgbClr val="06B6D4"/>
                      </a:solidFill>
                      <a:prstDash val="solid"/>
                      <a:round/>
                      <a:headEnd len="sm" w="sm" type="none"/>
                      <a:tailEnd len="sm" w="sm" type="none"/>
                    </a:lnL>
                    <a:lnR cap="flat" cmpd="sng" w="28575">
                      <a:solidFill>
                        <a:srgbClr val="06B6D4"/>
                      </a:solidFill>
                      <a:prstDash val="solid"/>
                      <a:round/>
                      <a:headEnd len="sm" w="sm" type="none"/>
                      <a:tailEnd len="sm" w="sm" type="none"/>
                    </a:lnR>
                    <a:lnT cap="flat" cmpd="sng" w="28575">
                      <a:solidFill>
                        <a:srgbClr val="06B6D4"/>
                      </a:solidFill>
                      <a:prstDash val="solid"/>
                      <a:round/>
                      <a:headEnd len="sm" w="sm" type="none"/>
                      <a:tailEnd len="sm" w="sm" type="none"/>
                    </a:lnT>
                    <a:lnB cap="flat" cmpd="sng" w="28575">
                      <a:solidFill>
                        <a:srgbClr val="06B6D4"/>
                      </a:solidFill>
                      <a:prstDash val="solid"/>
                      <a:round/>
                      <a:headEnd len="sm" w="sm" type="none"/>
                      <a:tailEnd len="sm" w="sm" type="none"/>
                    </a:lnB>
                  </a:tcPr>
                </a:tc>
              </a:tr>
              <a:tr h="620900">
                <a:tc>
                  <a:txBody>
                    <a:bodyPr/>
                    <a:lstStyle/>
                    <a:p>
                      <a:pPr indent="0" lvl="0" marL="0" marR="0" rtl="0" algn="l">
                        <a:spcBef>
                          <a:spcPts val="0"/>
                        </a:spcBef>
                        <a:spcAft>
                          <a:spcPts val="0"/>
                        </a:spcAft>
                        <a:buNone/>
                      </a:pPr>
                      <a:r>
                        <a:rPr b="1" i="0" lang="en-US" sz="1500" u="none" cap="none" strike="noStrike">
                          <a:latin typeface="Poppins"/>
                          <a:ea typeface="Poppins"/>
                          <a:cs typeface="Poppins"/>
                          <a:sym typeface="Poppins"/>
                        </a:rPr>
                        <a:t>EfficientDet-Lite2</a:t>
                      </a:r>
                      <a:endParaRPr b="1" i="0" sz="1500" u="none" cap="none" strike="noStrike">
                        <a:latin typeface="Poppins"/>
                        <a:ea typeface="Poppins"/>
                        <a:cs typeface="Poppins"/>
                        <a:sym typeface="Poppins"/>
                      </a:endParaRPr>
                    </a:p>
                  </a:txBody>
                  <a:tcPr marT="25400" marB="25400" marR="63500" marL="63500" anchor="ctr">
                    <a:lnL cap="flat" cmpd="sng" w="28575">
                      <a:solidFill>
                        <a:srgbClr val="06B6D4"/>
                      </a:solidFill>
                      <a:prstDash val="solid"/>
                      <a:round/>
                      <a:headEnd len="sm" w="sm" type="none"/>
                      <a:tailEnd len="sm" w="sm" type="none"/>
                    </a:lnL>
                    <a:lnR cap="flat" cmpd="sng" w="28575">
                      <a:solidFill>
                        <a:srgbClr val="06B6D4"/>
                      </a:solidFill>
                      <a:prstDash val="solid"/>
                      <a:round/>
                      <a:headEnd len="sm" w="sm" type="none"/>
                      <a:tailEnd len="sm" w="sm" type="none"/>
                    </a:lnR>
                    <a:lnT cap="flat" cmpd="sng" w="28575">
                      <a:solidFill>
                        <a:srgbClr val="06B6D4"/>
                      </a:solidFill>
                      <a:prstDash val="solid"/>
                      <a:round/>
                      <a:headEnd len="sm" w="sm" type="none"/>
                      <a:tailEnd len="sm" w="sm" type="none"/>
                    </a:lnT>
                    <a:lnB cap="flat" cmpd="sng" w="28575">
                      <a:solidFill>
                        <a:srgbClr val="06B6D4"/>
                      </a:solidFill>
                      <a:prstDash val="solid"/>
                      <a:round/>
                      <a:headEnd len="sm" w="sm" type="none"/>
                      <a:tailEnd len="sm" w="sm" type="none"/>
                    </a:lnB>
                  </a:tcPr>
                </a:tc>
                <a:tc>
                  <a:txBody>
                    <a:bodyPr/>
                    <a:lstStyle/>
                    <a:p>
                      <a:pPr indent="0" lvl="0" marL="0" marR="0" rtl="0" algn="l">
                        <a:spcBef>
                          <a:spcPts val="0"/>
                        </a:spcBef>
                        <a:spcAft>
                          <a:spcPts val="0"/>
                        </a:spcAft>
                        <a:buNone/>
                      </a:pPr>
                      <a:r>
                        <a:rPr lang="en-US" sz="1500">
                          <a:latin typeface="Poppins"/>
                          <a:ea typeface="Poppins"/>
                          <a:cs typeface="Poppins"/>
                          <a:sym typeface="Poppins"/>
                        </a:rPr>
                        <a:t>62 ms</a:t>
                      </a:r>
                      <a:endParaRPr i="0" sz="1500" u="none" cap="none" strike="noStrike">
                        <a:latin typeface="Poppins"/>
                        <a:ea typeface="Poppins"/>
                        <a:cs typeface="Poppins"/>
                        <a:sym typeface="Poppins"/>
                      </a:endParaRPr>
                    </a:p>
                  </a:txBody>
                  <a:tcPr marT="25400" marB="25400" marR="63500" marL="63500" anchor="ctr">
                    <a:lnL cap="flat" cmpd="sng" w="28575">
                      <a:solidFill>
                        <a:srgbClr val="06B6D4"/>
                      </a:solidFill>
                      <a:prstDash val="solid"/>
                      <a:round/>
                      <a:headEnd len="sm" w="sm" type="none"/>
                      <a:tailEnd len="sm" w="sm" type="none"/>
                    </a:lnL>
                    <a:lnR cap="flat" cmpd="sng" w="28575">
                      <a:solidFill>
                        <a:srgbClr val="06B6D4"/>
                      </a:solidFill>
                      <a:prstDash val="solid"/>
                      <a:round/>
                      <a:headEnd len="sm" w="sm" type="none"/>
                      <a:tailEnd len="sm" w="sm" type="none"/>
                    </a:lnR>
                    <a:lnT cap="flat" cmpd="sng" w="28575">
                      <a:solidFill>
                        <a:srgbClr val="06B6D4"/>
                      </a:solidFill>
                      <a:prstDash val="solid"/>
                      <a:round/>
                      <a:headEnd len="sm" w="sm" type="none"/>
                      <a:tailEnd len="sm" w="sm" type="none"/>
                    </a:lnT>
                    <a:lnB cap="flat" cmpd="sng" w="28575">
                      <a:solidFill>
                        <a:srgbClr val="06B6D4"/>
                      </a:solidFill>
                      <a:prstDash val="solid"/>
                      <a:round/>
                      <a:headEnd len="sm" w="sm" type="none"/>
                      <a:tailEnd len="sm" w="sm" type="none"/>
                    </a:lnB>
                  </a:tcPr>
                </a:tc>
                <a:tc>
                  <a:txBody>
                    <a:bodyPr/>
                    <a:lstStyle/>
                    <a:p>
                      <a:pPr indent="0" lvl="0" marL="0" marR="0" rtl="0" algn="l">
                        <a:spcBef>
                          <a:spcPts val="0"/>
                        </a:spcBef>
                        <a:spcAft>
                          <a:spcPts val="0"/>
                        </a:spcAft>
                        <a:buNone/>
                      </a:pPr>
                      <a:r>
                        <a:rPr lang="en-US" sz="1500">
                          <a:latin typeface="Poppins"/>
                          <a:ea typeface="Poppins"/>
                          <a:cs typeface="Poppins"/>
                          <a:sym typeface="Poppins"/>
                        </a:rPr>
                        <a:t>3498 ms</a:t>
                      </a:r>
                      <a:endParaRPr i="0" sz="1500" u="none" cap="none" strike="noStrike">
                        <a:latin typeface="Poppins"/>
                        <a:ea typeface="Poppins"/>
                        <a:cs typeface="Poppins"/>
                        <a:sym typeface="Poppins"/>
                      </a:endParaRPr>
                    </a:p>
                  </a:txBody>
                  <a:tcPr marT="25400" marB="25400" marR="63500" marL="63500" anchor="ctr">
                    <a:lnL cap="flat" cmpd="sng" w="28575">
                      <a:solidFill>
                        <a:srgbClr val="06B6D4"/>
                      </a:solidFill>
                      <a:prstDash val="solid"/>
                      <a:round/>
                      <a:headEnd len="sm" w="sm" type="none"/>
                      <a:tailEnd len="sm" w="sm" type="none"/>
                    </a:lnL>
                    <a:lnR cap="flat" cmpd="sng" w="28575">
                      <a:solidFill>
                        <a:srgbClr val="06B6D4"/>
                      </a:solidFill>
                      <a:prstDash val="solid"/>
                      <a:round/>
                      <a:headEnd len="sm" w="sm" type="none"/>
                      <a:tailEnd len="sm" w="sm" type="none"/>
                    </a:lnR>
                    <a:lnT cap="flat" cmpd="sng" w="28575">
                      <a:solidFill>
                        <a:srgbClr val="06B6D4"/>
                      </a:solidFill>
                      <a:prstDash val="solid"/>
                      <a:round/>
                      <a:headEnd len="sm" w="sm" type="none"/>
                      <a:tailEnd len="sm" w="sm" type="none"/>
                    </a:lnT>
                    <a:lnB cap="flat" cmpd="sng" w="28575">
                      <a:solidFill>
                        <a:srgbClr val="06B6D4"/>
                      </a:solidFill>
                      <a:prstDash val="solid"/>
                      <a:round/>
                      <a:headEnd len="sm" w="sm" type="none"/>
                      <a:tailEnd len="sm" w="sm" type="none"/>
                    </a:lnB>
                  </a:tcPr>
                </a:tc>
                <a:tc>
                  <a:txBody>
                    <a:bodyPr/>
                    <a:lstStyle/>
                    <a:p>
                      <a:pPr indent="0" lvl="0" marL="0" marR="0" rtl="0" algn="l">
                        <a:spcBef>
                          <a:spcPts val="0"/>
                        </a:spcBef>
                        <a:spcAft>
                          <a:spcPts val="0"/>
                        </a:spcAft>
                        <a:buNone/>
                      </a:pPr>
                      <a:r>
                        <a:rPr lang="en-US" sz="1500">
                          <a:latin typeface="Poppins"/>
                          <a:ea typeface="Poppins"/>
                          <a:cs typeface="Poppins"/>
                          <a:sym typeface="Poppins"/>
                        </a:rPr>
                        <a:t>51x</a:t>
                      </a:r>
                      <a:endParaRPr i="0" sz="1500" u="none" cap="none" strike="noStrike">
                        <a:latin typeface="Poppins"/>
                        <a:ea typeface="Poppins"/>
                        <a:cs typeface="Poppins"/>
                        <a:sym typeface="Poppins"/>
                      </a:endParaRPr>
                    </a:p>
                  </a:txBody>
                  <a:tcPr marT="25400" marB="25400" marR="63500" marL="63500" anchor="ctr">
                    <a:lnL cap="flat" cmpd="sng" w="28575">
                      <a:solidFill>
                        <a:srgbClr val="06B6D4"/>
                      </a:solidFill>
                      <a:prstDash val="solid"/>
                      <a:round/>
                      <a:headEnd len="sm" w="sm" type="none"/>
                      <a:tailEnd len="sm" w="sm" type="none"/>
                    </a:lnL>
                    <a:lnR cap="flat" cmpd="sng" w="28575">
                      <a:solidFill>
                        <a:srgbClr val="06B6D4"/>
                      </a:solidFill>
                      <a:prstDash val="solid"/>
                      <a:round/>
                      <a:headEnd len="sm" w="sm" type="none"/>
                      <a:tailEnd len="sm" w="sm" type="none"/>
                    </a:lnR>
                    <a:lnT cap="flat" cmpd="sng" w="28575">
                      <a:solidFill>
                        <a:srgbClr val="06B6D4"/>
                      </a:solidFill>
                      <a:prstDash val="solid"/>
                      <a:round/>
                      <a:headEnd len="sm" w="sm" type="none"/>
                      <a:tailEnd len="sm" w="sm" type="none"/>
                    </a:lnT>
                    <a:lnB cap="flat" cmpd="sng" w="28575">
                      <a:solidFill>
                        <a:srgbClr val="06B6D4"/>
                      </a:solidFill>
                      <a:prstDash val="solid"/>
                      <a:round/>
                      <a:headEnd len="sm" w="sm" type="none"/>
                      <a:tailEnd len="sm" w="sm" type="none"/>
                    </a:lnB>
                  </a:tcPr>
                </a:tc>
              </a:tr>
            </a:tbl>
          </a:graphicData>
        </a:graphic>
      </p:graphicFrame>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90D16"/>
        </a:solidFill>
      </p:bgPr>
    </p:bg>
    <p:spTree>
      <p:nvGrpSpPr>
        <p:cNvPr id="328" name="Shape 328"/>
        <p:cNvGrpSpPr/>
        <p:nvPr/>
      </p:nvGrpSpPr>
      <p:grpSpPr>
        <a:xfrm>
          <a:off x="0" y="0"/>
          <a:ext cx="0" cy="0"/>
          <a:chOff x="0" y="0"/>
          <a:chExt cx="0" cy="0"/>
        </a:xfrm>
      </p:grpSpPr>
      <p:pic>
        <p:nvPicPr>
          <p:cNvPr descr="image.png" id="329" name="Google Shape;329;p37"/>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330" name="Google Shape;330;p37"/>
          <p:cNvSpPr txBox="1"/>
          <p:nvPr/>
        </p:nvSpPr>
        <p:spPr>
          <a:xfrm>
            <a:off x="975425" y="2528925"/>
            <a:ext cx="10696500" cy="923400"/>
          </a:xfrm>
          <a:prstGeom prst="rect">
            <a:avLst/>
          </a:prstGeom>
          <a:noFill/>
          <a:ln>
            <a:noFill/>
          </a:ln>
        </p:spPr>
        <p:txBody>
          <a:bodyPr anchorCtr="0" anchor="t" bIns="0" lIns="0" spcFirstLastPara="1" rIns="0" wrap="square" tIns="0">
            <a:spAutoFit/>
          </a:bodyPr>
          <a:lstStyle/>
          <a:p>
            <a:pPr indent="0" lvl="0" marL="0" marR="0" rtl="0" algn="l">
              <a:lnSpc>
                <a:spcPct val="149960"/>
              </a:lnSpc>
              <a:spcBef>
                <a:spcPts val="0"/>
              </a:spcBef>
              <a:spcAft>
                <a:spcPts val="0"/>
              </a:spcAft>
              <a:buNone/>
            </a:pPr>
            <a:r>
              <a:rPr i="0" lang="en-US" sz="1500" u="none" cap="none" strike="noStrike">
                <a:solidFill>
                  <a:srgbClr val="E2E8F0"/>
                </a:solidFill>
                <a:latin typeface="Poppins SemiBold"/>
                <a:ea typeface="Poppins SemiBold"/>
                <a:cs typeface="Poppins SemiBold"/>
                <a:sym typeface="Poppins SemiBold"/>
              </a:rPr>
              <a:t>Precisión vs. Latencia:</a:t>
            </a:r>
            <a:r>
              <a:rPr i="0" lang="en-US" sz="1500" u="none" cap="none" strike="noStrike">
                <a:solidFill>
                  <a:srgbClr val="94A3B8"/>
                </a:solidFill>
                <a:latin typeface="Poppins"/>
                <a:ea typeface="Poppins"/>
                <a:cs typeface="Poppins"/>
                <a:sym typeface="Poppins"/>
              </a:rPr>
              <a:t> YOLOv8s ofrece el mAP50-95 más robusto (0.50</a:t>
            </a:r>
            <a:r>
              <a:rPr lang="en-US" sz="1500">
                <a:solidFill>
                  <a:srgbClr val="94A3B8"/>
                </a:solidFill>
                <a:latin typeface="Poppins"/>
                <a:ea typeface="Poppins"/>
                <a:cs typeface="Poppins"/>
                <a:sym typeface="Poppins"/>
              </a:rPr>
              <a:t>8</a:t>
            </a:r>
            <a:r>
              <a:rPr i="0" lang="en-US" sz="1500" u="none" cap="none" strike="noStrike">
                <a:solidFill>
                  <a:srgbClr val="94A3B8"/>
                </a:solidFill>
                <a:latin typeface="Poppins"/>
                <a:ea typeface="Poppins"/>
                <a:cs typeface="Poppins"/>
                <a:sym typeface="Poppins"/>
              </a:rPr>
              <a:t>) pero cae a menos de 2 FPS en celular, descartándolo para tiempo real. SSD MobileNetV1 es el más veloz (4</a:t>
            </a:r>
            <a:r>
              <a:rPr lang="en-US" sz="1500">
                <a:solidFill>
                  <a:srgbClr val="94A3B8"/>
                </a:solidFill>
                <a:latin typeface="Poppins"/>
                <a:ea typeface="Poppins"/>
                <a:cs typeface="Poppins"/>
                <a:sym typeface="Poppins"/>
              </a:rPr>
              <a:t>5</a:t>
            </a:r>
            <a:r>
              <a:rPr i="0" lang="en-US" sz="1500" u="none" cap="none" strike="noStrike">
                <a:solidFill>
                  <a:srgbClr val="94A3B8"/>
                </a:solidFill>
                <a:latin typeface="Poppins"/>
                <a:ea typeface="Poppins"/>
                <a:cs typeface="Poppins"/>
                <a:sym typeface="Poppins"/>
              </a:rPr>
              <a:t> FPS) pero su bajo mAP compromete la localización.</a:t>
            </a:r>
            <a:endParaRPr sz="1500">
              <a:latin typeface="Poppins"/>
              <a:ea typeface="Poppins"/>
              <a:cs typeface="Poppins"/>
              <a:sym typeface="Poppins"/>
            </a:endParaRPr>
          </a:p>
        </p:txBody>
      </p:sp>
      <p:sp>
        <p:nvSpPr>
          <p:cNvPr id="331" name="Google Shape;331;p37"/>
          <p:cNvSpPr txBox="1"/>
          <p:nvPr/>
        </p:nvSpPr>
        <p:spPr>
          <a:xfrm>
            <a:off x="890625" y="3829738"/>
            <a:ext cx="10696500" cy="923400"/>
          </a:xfrm>
          <a:prstGeom prst="rect">
            <a:avLst/>
          </a:prstGeom>
          <a:noFill/>
          <a:ln>
            <a:noFill/>
          </a:ln>
        </p:spPr>
        <p:txBody>
          <a:bodyPr anchorCtr="0" anchor="t" bIns="0" lIns="0" spcFirstLastPara="1" rIns="0" wrap="square" tIns="0">
            <a:spAutoFit/>
          </a:bodyPr>
          <a:lstStyle/>
          <a:p>
            <a:pPr indent="0" lvl="0" marL="0" marR="0" rtl="0" algn="l">
              <a:lnSpc>
                <a:spcPct val="149960"/>
              </a:lnSpc>
              <a:spcBef>
                <a:spcPts val="0"/>
              </a:spcBef>
              <a:spcAft>
                <a:spcPts val="0"/>
              </a:spcAft>
              <a:buNone/>
            </a:pPr>
            <a:r>
              <a:rPr i="0" lang="en-US" sz="1500" u="none" cap="none" strike="noStrike">
                <a:solidFill>
                  <a:srgbClr val="E2E8F0"/>
                </a:solidFill>
                <a:latin typeface="Poppins SemiBold"/>
                <a:ea typeface="Poppins SemiBold"/>
                <a:cs typeface="Poppins SemiBold"/>
                <a:sym typeface="Poppins SemiBold"/>
              </a:rPr>
              <a:t>Limitación de Cuantización (Float16):</a:t>
            </a:r>
            <a:r>
              <a:rPr i="0" lang="en-US" sz="1500" u="none" cap="none" strike="noStrike">
                <a:solidFill>
                  <a:srgbClr val="94A3B8"/>
                </a:solidFill>
                <a:latin typeface="Poppins"/>
                <a:ea typeface="Poppins"/>
                <a:cs typeface="Poppins"/>
                <a:sym typeface="Poppins"/>
              </a:rPr>
              <a:t> Al carecer el Snapdragon 685 de aceleración aritmética nativa para F16 en CPU, TFLite realiza una conversión dinámica a F32 en tiempo de ejecución. La única ventaja es la reducción de almacenamiento del archivo .tflite.</a:t>
            </a:r>
            <a:endParaRPr sz="1500">
              <a:latin typeface="Poppins"/>
              <a:ea typeface="Poppins"/>
              <a:cs typeface="Poppins"/>
              <a:sym typeface="Poppins"/>
            </a:endParaRPr>
          </a:p>
        </p:txBody>
      </p:sp>
      <p:sp>
        <p:nvSpPr>
          <p:cNvPr id="332" name="Google Shape;332;p37"/>
          <p:cNvSpPr txBox="1"/>
          <p:nvPr/>
        </p:nvSpPr>
        <p:spPr>
          <a:xfrm>
            <a:off x="890625" y="5252600"/>
            <a:ext cx="10696500" cy="923400"/>
          </a:xfrm>
          <a:prstGeom prst="rect">
            <a:avLst/>
          </a:prstGeom>
          <a:noFill/>
          <a:ln>
            <a:noFill/>
          </a:ln>
        </p:spPr>
        <p:txBody>
          <a:bodyPr anchorCtr="0" anchor="t" bIns="0" lIns="0" spcFirstLastPara="1" rIns="0" wrap="square" tIns="0">
            <a:spAutoFit/>
          </a:bodyPr>
          <a:lstStyle/>
          <a:p>
            <a:pPr indent="0" lvl="0" marL="0" marR="0" rtl="0" algn="l">
              <a:lnSpc>
                <a:spcPct val="149960"/>
              </a:lnSpc>
              <a:spcBef>
                <a:spcPts val="0"/>
              </a:spcBef>
              <a:spcAft>
                <a:spcPts val="0"/>
              </a:spcAft>
              <a:buNone/>
            </a:pPr>
            <a:r>
              <a:rPr i="0" lang="en-US" sz="1500" u="none" cap="none" strike="noStrike">
                <a:solidFill>
                  <a:srgbClr val="E2E8F0"/>
                </a:solidFill>
                <a:latin typeface="Poppins SemiBold"/>
                <a:ea typeface="Poppins SemiBold"/>
                <a:cs typeface="Poppins SemiBold"/>
                <a:sym typeface="Poppins SemiBold"/>
              </a:rPr>
              <a:t>Cuello de botella en GPU Delegate:</a:t>
            </a:r>
            <a:r>
              <a:rPr i="0" lang="en-US" sz="1500" u="none" cap="none" strike="noStrike">
                <a:solidFill>
                  <a:srgbClr val="94A3B8"/>
                </a:solidFill>
                <a:latin typeface="Poppins"/>
                <a:ea typeface="Poppins"/>
                <a:cs typeface="Poppins"/>
                <a:sym typeface="Poppins"/>
              </a:rPr>
              <a:t> El costo de transferencia de tensores entre CPU y GPU (overhead de memoria) anula las ventajas de cómputo paralelo de la GPU Adreno 610. La CPU resulta el backend de ejecución más estable y predecible.</a:t>
            </a:r>
            <a:endParaRPr sz="1500">
              <a:latin typeface="Poppins"/>
              <a:ea typeface="Poppins"/>
              <a:cs typeface="Poppins"/>
              <a:sym typeface="Poppins"/>
            </a:endParaRPr>
          </a:p>
        </p:txBody>
      </p:sp>
      <p:pic>
        <p:nvPicPr>
          <p:cNvPr descr="image.png" id="333" name="Google Shape;333;p37"/>
          <p:cNvPicPr preferRelativeResize="0"/>
          <p:nvPr/>
        </p:nvPicPr>
        <p:blipFill rotWithShape="1">
          <a:blip r:embed="rId4">
            <a:alphaModFix/>
          </a:blip>
          <a:srcRect b="0" l="0" r="0" t="0"/>
          <a:stretch/>
        </p:blipFill>
        <p:spPr>
          <a:xfrm>
            <a:off x="665863" y="2528937"/>
            <a:ext cx="219075" cy="180975"/>
          </a:xfrm>
          <a:prstGeom prst="rect">
            <a:avLst/>
          </a:prstGeom>
          <a:noFill/>
          <a:ln>
            <a:noFill/>
          </a:ln>
        </p:spPr>
      </p:pic>
      <p:pic>
        <p:nvPicPr>
          <p:cNvPr descr="image.png" id="334" name="Google Shape;334;p37"/>
          <p:cNvPicPr preferRelativeResize="0"/>
          <p:nvPr/>
        </p:nvPicPr>
        <p:blipFill rotWithShape="1">
          <a:blip r:embed="rId5">
            <a:alphaModFix/>
          </a:blip>
          <a:srcRect b="0" l="0" r="0" t="0"/>
          <a:stretch/>
        </p:blipFill>
        <p:spPr>
          <a:xfrm>
            <a:off x="604875" y="3863075"/>
            <a:ext cx="133350" cy="180975"/>
          </a:xfrm>
          <a:prstGeom prst="rect">
            <a:avLst/>
          </a:prstGeom>
          <a:noFill/>
          <a:ln>
            <a:noFill/>
          </a:ln>
        </p:spPr>
      </p:pic>
      <p:pic>
        <p:nvPicPr>
          <p:cNvPr descr="image.png" id="335" name="Google Shape;335;p37"/>
          <p:cNvPicPr preferRelativeResize="0"/>
          <p:nvPr/>
        </p:nvPicPr>
        <p:blipFill rotWithShape="1">
          <a:blip r:embed="rId6">
            <a:alphaModFix/>
          </a:blip>
          <a:srcRect b="0" l="0" r="0" t="0"/>
          <a:stretch/>
        </p:blipFill>
        <p:spPr>
          <a:xfrm>
            <a:off x="604875" y="5285937"/>
            <a:ext cx="171450" cy="180975"/>
          </a:xfrm>
          <a:prstGeom prst="rect">
            <a:avLst/>
          </a:prstGeom>
          <a:noFill/>
          <a:ln>
            <a:noFill/>
          </a:ln>
        </p:spPr>
      </p:pic>
      <p:sp>
        <p:nvSpPr>
          <p:cNvPr id="336" name="Google Shape;336;p37"/>
          <p:cNvSpPr txBox="1"/>
          <p:nvPr/>
        </p:nvSpPr>
        <p:spPr>
          <a:xfrm>
            <a:off x="581025" y="485775"/>
            <a:ext cx="5535600" cy="13854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i="0" lang="en-US" sz="4500" u="none" cap="none" strike="noStrike">
                <a:solidFill>
                  <a:srgbClr val="F8FAFC"/>
                </a:solidFill>
                <a:latin typeface="Poppins SemiBold"/>
                <a:ea typeface="Poppins SemiBold"/>
                <a:cs typeface="Poppins SemiBold"/>
                <a:sym typeface="Poppins SemiBold"/>
              </a:rPr>
              <a:t>Análisis de Resultados</a:t>
            </a:r>
            <a:endParaRPr sz="4500">
              <a:latin typeface="Poppins"/>
              <a:ea typeface="Poppins"/>
              <a:cs typeface="Poppins"/>
              <a:sym typeface="Poppins"/>
            </a:endParaRPr>
          </a:p>
        </p:txBody>
      </p:sp>
      <p:sp>
        <p:nvSpPr>
          <p:cNvPr id="337" name="Google Shape;337;p37"/>
          <p:cNvSpPr/>
          <p:nvPr/>
        </p:nvSpPr>
        <p:spPr>
          <a:xfrm>
            <a:off x="5857875" y="700087"/>
            <a:ext cx="476250" cy="28575"/>
          </a:xfrm>
          <a:prstGeom prst="roundRect">
            <a:avLst>
              <a:gd fmla="val 50000" name="adj"/>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90D16"/>
        </a:solidFill>
      </p:bgPr>
    </p:bg>
    <p:spTree>
      <p:nvGrpSpPr>
        <p:cNvPr id="341" name="Shape 341"/>
        <p:cNvGrpSpPr/>
        <p:nvPr/>
      </p:nvGrpSpPr>
      <p:grpSpPr>
        <a:xfrm>
          <a:off x="0" y="0"/>
          <a:ext cx="0" cy="0"/>
          <a:chOff x="0" y="0"/>
          <a:chExt cx="0" cy="0"/>
        </a:xfrm>
      </p:grpSpPr>
      <p:pic>
        <p:nvPicPr>
          <p:cNvPr descr="image.png" id="342" name="Google Shape;342;p38"/>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343" name="Google Shape;343;p38"/>
          <p:cNvSpPr txBox="1"/>
          <p:nvPr/>
        </p:nvSpPr>
        <p:spPr>
          <a:xfrm>
            <a:off x="581025" y="485775"/>
            <a:ext cx="11581500" cy="692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i="0" lang="en-US" sz="4500" u="none" cap="none" strike="noStrike">
                <a:solidFill>
                  <a:srgbClr val="F8FAFC"/>
                </a:solidFill>
                <a:latin typeface="Poppins SemiBold"/>
                <a:ea typeface="Poppins SemiBold"/>
                <a:cs typeface="Poppins SemiBold"/>
                <a:sym typeface="Poppins SemiBold"/>
              </a:rPr>
              <a:t>Selección de Modelo Final</a:t>
            </a:r>
            <a:endParaRPr sz="4500">
              <a:latin typeface="Poppins"/>
              <a:ea typeface="Poppins"/>
              <a:cs typeface="Poppins"/>
              <a:sym typeface="Poppins"/>
            </a:endParaRPr>
          </a:p>
        </p:txBody>
      </p:sp>
      <p:sp>
        <p:nvSpPr>
          <p:cNvPr id="344" name="Google Shape;344;p38"/>
          <p:cNvSpPr/>
          <p:nvPr/>
        </p:nvSpPr>
        <p:spPr>
          <a:xfrm>
            <a:off x="5857875" y="700087"/>
            <a:ext cx="476250" cy="28575"/>
          </a:xfrm>
          <a:prstGeom prst="roundRect">
            <a:avLst>
              <a:gd fmla="val 50000" name="adj"/>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aphicFrame>
        <p:nvGraphicFramePr>
          <p:cNvPr id="345" name="Google Shape;345;p38"/>
          <p:cNvGraphicFramePr/>
          <p:nvPr/>
        </p:nvGraphicFramePr>
        <p:xfrm>
          <a:off x="581025" y="1754700"/>
          <a:ext cx="3000000" cy="3000000"/>
        </p:xfrm>
        <a:graphic>
          <a:graphicData uri="http://schemas.openxmlformats.org/drawingml/2006/table">
            <a:tbl>
              <a:tblPr bandRow="1" firstRow="1">
                <a:noFill/>
                <a:tableStyleId>{73BF9BE0-EF4A-4F0A-BF5C-C545904F7FFB}</a:tableStyleId>
              </a:tblPr>
              <a:tblGrid>
                <a:gridCol w="1262575"/>
                <a:gridCol w="903700"/>
                <a:gridCol w="1182100"/>
                <a:gridCol w="921475"/>
                <a:gridCol w="1007000"/>
                <a:gridCol w="3507475"/>
              </a:tblGrid>
              <a:tr h="1051875">
                <a:tc>
                  <a:txBody>
                    <a:bodyPr/>
                    <a:lstStyle/>
                    <a:p>
                      <a:pPr indent="0" lvl="0" marL="0" marR="0" rtl="0" algn="l">
                        <a:spcBef>
                          <a:spcPts val="0"/>
                        </a:spcBef>
                        <a:spcAft>
                          <a:spcPts val="0"/>
                        </a:spcAft>
                        <a:buNone/>
                      </a:pPr>
                      <a:r>
                        <a:rPr b="0" i="0" lang="en-US" sz="1500" u="none" cap="none" strike="noStrike">
                          <a:solidFill>
                            <a:srgbClr val="06B6D4"/>
                          </a:solidFill>
                          <a:latin typeface="Poppins SemiBold"/>
                          <a:ea typeface="Poppins SemiBold"/>
                          <a:cs typeface="Poppins SemiBold"/>
                          <a:sym typeface="Poppins SemiBold"/>
                        </a:rPr>
                        <a:t>Modelo Candidato</a:t>
                      </a:r>
                      <a:endParaRPr sz="1500">
                        <a:latin typeface="Poppins"/>
                        <a:ea typeface="Poppins"/>
                        <a:cs typeface="Poppins"/>
                        <a:sym typeface="Poppins"/>
                      </a:endParaRPr>
                    </a:p>
                  </a:txBody>
                  <a:tcPr marT="25400" marB="25400" marR="63500" marL="63500" anchor="ctr">
                    <a:lnL cap="flat" cmpd="sng" w="28575">
                      <a:solidFill>
                        <a:srgbClr val="06B6D4"/>
                      </a:solidFill>
                      <a:prstDash val="solid"/>
                      <a:round/>
                      <a:headEnd len="sm" w="sm" type="none"/>
                      <a:tailEnd len="sm" w="sm" type="none"/>
                    </a:lnL>
                    <a:lnR cap="flat" cmpd="sng" w="28575">
                      <a:solidFill>
                        <a:srgbClr val="06B6D4"/>
                      </a:solidFill>
                      <a:prstDash val="solid"/>
                      <a:round/>
                      <a:headEnd len="sm" w="sm" type="none"/>
                      <a:tailEnd len="sm" w="sm" type="none"/>
                    </a:lnR>
                    <a:lnT cap="flat" cmpd="sng" w="28575">
                      <a:solidFill>
                        <a:srgbClr val="06B6D4"/>
                      </a:solidFill>
                      <a:prstDash val="solid"/>
                      <a:round/>
                      <a:headEnd len="sm" w="sm" type="none"/>
                      <a:tailEnd len="sm" w="sm" type="none"/>
                    </a:lnT>
                    <a:lnB cap="flat" cmpd="sng" w="28575">
                      <a:solidFill>
                        <a:srgbClr val="06B6D4"/>
                      </a:solidFill>
                      <a:prstDash val="solid"/>
                      <a:round/>
                      <a:headEnd len="sm" w="sm" type="none"/>
                      <a:tailEnd len="sm" w="sm" type="none"/>
                    </a:lnB>
                    <a:solidFill>
                      <a:srgbClr val="0F172A"/>
                    </a:solidFill>
                  </a:tcPr>
                </a:tc>
                <a:tc>
                  <a:txBody>
                    <a:bodyPr/>
                    <a:lstStyle/>
                    <a:p>
                      <a:pPr indent="0" lvl="0" marL="0" marR="0" rtl="0" algn="l">
                        <a:spcBef>
                          <a:spcPts val="0"/>
                        </a:spcBef>
                        <a:spcAft>
                          <a:spcPts val="0"/>
                        </a:spcAft>
                        <a:buNone/>
                      </a:pPr>
                      <a:r>
                        <a:rPr b="0" i="0" lang="en-US" sz="1500" u="none" cap="none" strike="noStrike">
                          <a:solidFill>
                            <a:srgbClr val="06B6D4"/>
                          </a:solidFill>
                          <a:latin typeface="Poppins SemiBold"/>
                          <a:ea typeface="Poppins SemiBold"/>
                          <a:cs typeface="Poppins SemiBold"/>
                          <a:sym typeface="Poppins SemiBold"/>
                        </a:rPr>
                        <a:t>mAP50</a:t>
                      </a:r>
                      <a:endParaRPr sz="1500">
                        <a:latin typeface="Poppins"/>
                        <a:ea typeface="Poppins"/>
                        <a:cs typeface="Poppins"/>
                        <a:sym typeface="Poppins"/>
                      </a:endParaRPr>
                    </a:p>
                  </a:txBody>
                  <a:tcPr marT="25400" marB="25400" marR="63500" marL="63500" anchor="ctr">
                    <a:lnL cap="flat" cmpd="sng" w="28575">
                      <a:solidFill>
                        <a:srgbClr val="06B6D4"/>
                      </a:solidFill>
                      <a:prstDash val="solid"/>
                      <a:round/>
                      <a:headEnd len="sm" w="sm" type="none"/>
                      <a:tailEnd len="sm" w="sm" type="none"/>
                    </a:lnL>
                    <a:lnR cap="flat" cmpd="sng" w="28575">
                      <a:solidFill>
                        <a:srgbClr val="06B6D4"/>
                      </a:solidFill>
                      <a:prstDash val="solid"/>
                      <a:round/>
                      <a:headEnd len="sm" w="sm" type="none"/>
                      <a:tailEnd len="sm" w="sm" type="none"/>
                    </a:lnR>
                    <a:lnT cap="flat" cmpd="sng" w="28575">
                      <a:solidFill>
                        <a:srgbClr val="06B6D4"/>
                      </a:solidFill>
                      <a:prstDash val="solid"/>
                      <a:round/>
                      <a:headEnd len="sm" w="sm" type="none"/>
                      <a:tailEnd len="sm" w="sm" type="none"/>
                    </a:lnT>
                    <a:lnB cap="flat" cmpd="sng" w="28575">
                      <a:solidFill>
                        <a:srgbClr val="06B6D4"/>
                      </a:solidFill>
                      <a:prstDash val="solid"/>
                      <a:round/>
                      <a:headEnd len="sm" w="sm" type="none"/>
                      <a:tailEnd len="sm" w="sm" type="none"/>
                    </a:lnB>
                    <a:solidFill>
                      <a:srgbClr val="0F172A"/>
                    </a:solidFill>
                  </a:tcPr>
                </a:tc>
                <a:tc>
                  <a:txBody>
                    <a:bodyPr/>
                    <a:lstStyle/>
                    <a:p>
                      <a:pPr indent="0" lvl="0" marL="0" marR="0" rtl="0" algn="l">
                        <a:spcBef>
                          <a:spcPts val="0"/>
                        </a:spcBef>
                        <a:spcAft>
                          <a:spcPts val="0"/>
                        </a:spcAft>
                        <a:buNone/>
                      </a:pPr>
                      <a:r>
                        <a:rPr b="0" i="0" lang="en-US" sz="1500" u="none" cap="none" strike="noStrike">
                          <a:solidFill>
                            <a:srgbClr val="06B6D4"/>
                          </a:solidFill>
                          <a:latin typeface="Poppins SemiBold"/>
                          <a:ea typeface="Poppins SemiBold"/>
                          <a:cs typeface="Poppins SemiBold"/>
                          <a:sym typeface="Poppins SemiBold"/>
                        </a:rPr>
                        <a:t>mAP50-95</a:t>
                      </a:r>
                      <a:endParaRPr sz="1500">
                        <a:latin typeface="Poppins"/>
                        <a:ea typeface="Poppins"/>
                        <a:cs typeface="Poppins"/>
                        <a:sym typeface="Poppins"/>
                      </a:endParaRPr>
                    </a:p>
                  </a:txBody>
                  <a:tcPr marT="25400" marB="25400" marR="63500" marL="63500" anchor="ctr">
                    <a:lnL cap="flat" cmpd="sng" w="28575">
                      <a:solidFill>
                        <a:srgbClr val="06B6D4"/>
                      </a:solidFill>
                      <a:prstDash val="solid"/>
                      <a:round/>
                      <a:headEnd len="sm" w="sm" type="none"/>
                      <a:tailEnd len="sm" w="sm" type="none"/>
                    </a:lnL>
                    <a:lnR cap="flat" cmpd="sng" w="28575">
                      <a:solidFill>
                        <a:srgbClr val="06B6D4"/>
                      </a:solidFill>
                      <a:prstDash val="solid"/>
                      <a:round/>
                      <a:headEnd len="sm" w="sm" type="none"/>
                      <a:tailEnd len="sm" w="sm" type="none"/>
                    </a:lnR>
                    <a:lnT cap="flat" cmpd="sng" w="28575">
                      <a:solidFill>
                        <a:srgbClr val="06B6D4"/>
                      </a:solidFill>
                      <a:prstDash val="solid"/>
                      <a:round/>
                      <a:headEnd len="sm" w="sm" type="none"/>
                      <a:tailEnd len="sm" w="sm" type="none"/>
                    </a:lnT>
                    <a:lnB cap="flat" cmpd="sng" w="28575">
                      <a:solidFill>
                        <a:srgbClr val="06B6D4"/>
                      </a:solidFill>
                      <a:prstDash val="solid"/>
                      <a:round/>
                      <a:headEnd len="sm" w="sm" type="none"/>
                      <a:tailEnd len="sm" w="sm" type="none"/>
                    </a:lnB>
                    <a:solidFill>
                      <a:srgbClr val="0F172A"/>
                    </a:solidFill>
                  </a:tcPr>
                </a:tc>
                <a:tc>
                  <a:txBody>
                    <a:bodyPr/>
                    <a:lstStyle/>
                    <a:p>
                      <a:pPr indent="0" lvl="0" marL="0" marR="0" rtl="0" algn="l">
                        <a:spcBef>
                          <a:spcPts val="0"/>
                        </a:spcBef>
                        <a:spcAft>
                          <a:spcPts val="0"/>
                        </a:spcAft>
                        <a:buNone/>
                      </a:pPr>
                      <a:r>
                        <a:rPr b="0" i="0" lang="en-US" sz="1500" u="none" cap="none" strike="noStrike">
                          <a:solidFill>
                            <a:srgbClr val="06B6D4"/>
                          </a:solidFill>
                          <a:latin typeface="Poppins SemiBold"/>
                          <a:ea typeface="Poppins SemiBold"/>
                          <a:cs typeface="Poppins SemiBold"/>
                          <a:sym typeface="Poppins SemiBold"/>
                        </a:rPr>
                        <a:t>FPS (Móvil)</a:t>
                      </a:r>
                      <a:endParaRPr sz="1500">
                        <a:latin typeface="Poppins"/>
                        <a:ea typeface="Poppins"/>
                        <a:cs typeface="Poppins"/>
                        <a:sym typeface="Poppins"/>
                      </a:endParaRPr>
                    </a:p>
                  </a:txBody>
                  <a:tcPr marT="25400" marB="25400" marR="63500" marL="63500" anchor="ctr">
                    <a:lnL cap="flat" cmpd="sng" w="28575">
                      <a:solidFill>
                        <a:srgbClr val="06B6D4"/>
                      </a:solidFill>
                      <a:prstDash val="solid"/>
                      <a:round/>
                      <a:headEnd len="sm" w="sm" type="none"/>
                      <a:tailEnd len="sm" w="sm" type="none"/>
                    </a:lnL>
                    <a:lnR cap="flat" cmpd="sng" w="28575">
                      <a:solidFill>
                        <a:srgbClr val="06B6D4"/>
                      </a:solidFill>
                      <a:prstDash val="solid"/>
                      <a:round/>
                      <a:headEnd len="sm" w="sm" type="none"/>
                      <a:tailEnd len="sm" w="sm" type="none"/>
                    </a:lnR>
                    <a:lnT cap="flat" cmpd="sng" w="28575">
                      <a:solidFill>
                        <a:srgbClr val="06B6D4"/>
                      </a:solidFill>
                      <a:prstDash val="solid"/>
                      <a:round/>
                      <a:headEnd len="sm" w="sm" type="none"/>
                      <a:tailEnd len="sm" w="sm" type="none"/>
                    </a:lnT>
                    <a:lnB cap="flat" cmpd="sng" w="28575">
                      <a:solidFill>
                        <a:srgbClr val="06B6D4"/>
                      </a:solidFill>
                      <a:prstDash val="solid"/>
                      <a:round/>
                      <a:headEnd len="sm" w="sm" type="none"/>
                      <a:tailEnd len="sm" w="sm" type="none"/>
                    </a:lnB>
                    <a:solidFill>
                      <a:srgbClr val="0F172A"/>
                    </a:solidFill>
                  </a:tcPr>
                </a:tc>
                <a:tc>
                  <a:txBody>
                    <a:bodyPr/>
                    <a:lstStyle/>
                    <a:p>
                      <a:pPr indent="0" lvl="0" marL="0" marR="0" rtl="0" algn="l">
                        <a:spcBef>
                          <a:spcPts val="0"/>
                        </a:spcBef>
                        <a:spcAft>
                          <a:spcPts val="0"/>
                        </a:spcAft>
                        <a:buNone/>
                      </a:pPr>
                      <a:r>
                        <a:rPr b="0" i="0" lang="en-US" sz="1500" u="none" cap="none" strike="noStrike">
                          <a:solidFill>
                            <a:srgbClr val="06B6D4"/>
                          </a:solidFill>
                          <a:latin typeface="Poppins SemiBold"/>
                          <a:ea typeface="Poppins SemiBold"/>
                          <a:cs typeface="Poppins SemiBold"/>
                          <a:sym typeface="Poppins SemiBold"/>
                        </a:rPr>
                        <a:t>Peso .tflite</a:t>
                      </a:r>
                      <a:endParaRPr sz="1500">
                        <a:latin typeface="Poppins"/>
                        <a:ea typeface="Poppins"/>
                        <a:cs typeface="Poppins"/>
                        <a:sym typeface="Poppins"/>
                      </a:endParaRPr>
                    </a:p>
                  </a:txBody>
                  <a:tcPr marT="25400" marB="25400" marR="63500" marL="63500" anchor="ctr">
                    <a:lnL cap="flat" cmpd="sng" w="28575">
                      <a:solidFill>
                        <a:srgbClr val="06B6D4"/>
                      </a:solidFill>
                      <a:prstDash val="solid"/>
                      <a:round/>
                      <a:headEnd len="sm" w="sm" type="none"/>
                      <a:tailEnd len="sm" w="sm" type="none"/>
                    </a:lnL>
                    <a:lnR cap="flat" cmpd="sng" w="28575">
                      <a:solidFill>
                        <a:srgbClr val="06B6D4"/>
                      </a:solidFill>
                      <a:prstDash val="solid"/>
                      <a:round/>
                      <a:headEnd len="sm" w="sm" type="none"/>
                      <a:tailEnd len="sm" w="sm" type="none"/>
                    </a:lnR>
                    <a:lnT cap="flat" cmpd="sng" w="28575">
                      <a:solidFill>
                        <a:srgbClr val="06B6D4"/>
                      </a:solidFill>
                      <a:prstDash val="solid"/>
                      <a:round/>
                      <a:headEnd len="sm" w="sm" type="none"/>
                      <a:tailEnd len="sm" w="sm" type="none"/>
                    </a:lnT>
                    <a:lnB cap="flat" cmpd="sng" w="28575">
                      <a:solidFill>
                        <a:srgbClr val="06B6D4"/>
                      </a:solidFill>
                      <a:prstDash val="solid"/>
                      <a:round/>
                      <a:headEnd len="sm" w="sm" type="none"/>
                      <a:tailEnd len="sm" w="sm" type="none"/>
                    </a:lnB>
                    <a:solidFill>
                      <a:srgbClr val="0F172A"/>
                    </a:solidFill>
                  </a:tcPr>
                </a:tc>
                <a:tc>
                  <a:txBody>
                    <a:bodyPr/>
                    <a:lstStyle/>
                    <a:p>
                      <a:pPr indent="0" lvl="0" marL="0" marR="0" rtl="0" algn="l">
                        <a:spcBef>
                          <a:spcPts val="0"/>
                        </a:spcBef>
                        <a:spcAft>
                          <a:spcPts val="0"/>
                        </a:spcAft>
                        <a:buNone/>
                      </a:pPr>
                      <a:r>
                        <a:rPr b="0" i="0" lang="en-US" sz="1500" u="none" cap="none" strike="noStrike">
                          <a:solidFill>
                            <a:srgbClr val="06B6D4"/>
                          </a:solidFill>
                          <a:latin typeface="Poppins SemiBold"/>
                          <a:ea typeface="Poppins SemiBold"/>
                          <a:cs typeface="Poppins SemiBold"/>
                          <a:sym typeface="Poppins SemiBold"/>
                        </a:rPr>
                        <a:t>Veredicto y Ventaja Clave</a:t>
                      </a:r>
                      <a:endParaRPr sz="1500">
                        <a:latin typeface="Poppins"/>
                        <a:ea typeface="Poppins"/>
                        <a:cs typeface="Poppins"/>
                        <a:sym typeface="Poppins"/>
                      </a:endParaRPr>
                    </a:p>
                  </a:txBody>
                  <a:tcPr marT="25400" marB="25400" marR="63500" marL="63500" anchor="ctr">
                    <a:lnL cap="flat" cmpd="sng" w="28575">
                      <a:solidFill>
                        <a:srgbClr val="06B6D4"/>
                      </a:solidFill>
                      <a:prstDash val="solid"/>
                      <a:round/>
                      <a:headEnd len="sm" w="sm" type="none"/>
                      <a:tailEnd len="sm" w="sm" type="none"/>
                    </a:lnL>
                    <a:lnR cap="flat" cmpd="sng" w="28575">
                      <a:solidFill>
                        <a:srgbClr val="06B6D4"/>
                      </a:solidFill>
                      <a:prstDash val="solid"/>
                      <a:round/>
                      <a:headEnd len="sm" w="sm" type="none"/>
                      <a:tailEnd len="sm" w="sm" type="none"/>
                    </a:lnR>
                    <a:lnT cap="flat" cmpd="sng" w="28575">
                      <a:solidFill>
                        <a:srgbClr val="06B6D4"/>
                      </a:solidFill>
                      <a:prstDash val="solid"/>
                      <a:round/>
                      <a:headEnd len="sm" w="sm" type="none"/>
                      <a:tailEnd len="sm" w="sm" type="none"/>
                    </a:lnT>
                    <a:lnB cap="flat" cmpd="sng" w="28575">
                      <a:solidFill>
                        <a:srgbClr val="06B6D4"/>
                      </a:solidFill>
                      <a:prstDash val="solid"/>
                      <a:round/>
                      <a:headEnd len="sm" w="sm" type="none"/>
                      <a:tailEnd len="sm" w="sm" type="none"/>
                    </a:lnB>
                    <a:solidFill>
                      <a:srgbClr val="0F172A"/>
                    </a:solidFill>
                  </a:tcPr>
                </a:tc>
              </a:tr>
              <a:tr h="1055050">
                <a:tc>
                  <a:txBody>
                    <a:bodyPr/>
                    <a:lstStyle/>
                    <a:p>
                      <a:pPr indent="0" lvl="0" marL="0" marR="0" rtl="0" algn="l">
                        <a:spcBef>
                          <a:spcPts val="0"/>
                        </a:spcBef>
                        <a:spcAft>
                          <a:spcPts val="0"/>
                        </a:spcAft>
                        <a:buNone/>
                      </a:pPr>
                      <a:r>
                        <a:rPr b="1" i="0" lang="en-US" sz="1500" u="none" cap="none" strike="noStrike">
                          <a:latin typeface="Poppins"/>
                          <a:ea typeface="Poppins"/>
                          <a:cs typeface="Poppins"/>
                          <a:sym typeface="Poppins"/>
                        </a:rPr>
                        <a:t>YOLO11n Float32</a:t>
                      </a:r>
                      <a:endParaRPr sz="1500">
                        <a:latin typeface="Poppins"/>
                        <a:ea typeface="Poppins"/>
                        <a:cs typeface="Poppins"/>
                        <a:sym typeface="Poppins"/>
                      </a:endParaRPr>
                    </a:p>
                  </a:txBody>
                  <a:tcPr marT="25400" marB="25400" marR="63500" marL="63500" anchor="ctr">
                    <a:lnL cap="flat" cmpd="sng" w="28575">
                      <a:solidFill>
                        <a:srgbClr val="06B6D4"/>
                      </a:solidFill>
                      <a:prstDash val="solid"/>
                      <a:round/>
                      <a:headEnd len="sm" w="sm" type="none"/>
                      <a:tailEnd len="sm" w="sm" type="none"/>
                    </a:lnL>
                    <a:lnR cap="flat" cmpd="sng" w="28575">
                      <a:solidFill>
                        <a:srgbClr val="06B6D4"/>
                      </a:solidFill>
                      <a:prstDash val="solid"/>
                      <a:round/>
                      <a:headEnd len="sm" w="sm" type="none"/>
                      <a:tailEnd len="sm" w="sm" type="none"/>
                    </a:lnR>
                    <a:lnT cap="flat" cmpd="sng" w="28575">
                      <a:solidFill>
                        <a:srgbClr val="06B6D4"/>
                      </a:solidFill>
                      <a:prstDash val="solid"/>
                      <a:round/>
                      <a:headEnd len="sm" w="sm" type="none"/>
                      <a:tailEnd len="sm" w="sm" type="none"/>
                    </a:lnT>
                    <a:lnB cap="flat" cmpd="sng" w="28575">
                      <a:solidFill>
                        <a:srgbClr val="06B6D4"/>
                      </a:solidFill>
                      <a:prstDash val="solid"/>
                      <a:round/>
                      <a:headEnd len="sm" w="sm" type="none"/>
                      <a:tailEnd len="sm" w="sm" type="none"/>
                    </a:lnB>
                  </a:tcPr>
                </a:tc>
                <a:tc>
                  <a:txBody>
                    <a:bodyPr/>
                    <a:lstStyle/>
                    <a:p>
                      <a:pPr indent="0" lvl="0" marL="0" marR="0" rtl="0" algn="l">
                        <a:spcBef>
                          <a:spcPts val="0"/>
                        </a:spcBef>
                        <a:spcAft>
                          <a:spcPts val="0"/>
                        </a:spcAft>
                        <a:buNone/>
                      </a:pPr>
                      <a:r>
                        <a:rPr i="0" lang="en-US" sz="1500" u="none" cap="none" strike="noStrike">
                          <a:latin typeface="Poppins"/>
                          <a:ea typeface="Poppins"/>
                          <a:cs typeface="Poppins"/>
                          <a:sym typeface="Poppins"/>
                        </a:rPr>
                        <a:t>0.6</a:t>
                      </a:r>
                      <a:r>
                        <a:rPr lang="en-US" sz="1500">
                          <a:latin typeface="Poppins"/>
                          <a:ea typeface="Poppins"/>
                          <a:cs typeface="Poppins"/>
                          <a:sym typeface="Poppins"/>
                        </a:rPr>
                        <a:t>09</a:t>
                      </a:r>
                      <a:endParaRPr sz="1500">
                        <a:latin typeface="Poppins"/>
                        <a:ea typeface="Poppins"/>
                        <a:cs typeface="Poppins"/>
                        <a:sym typeface="Poppins"/>
                      </a:endParaRPr>
                    </a:p>
                  </a:txBody>
                  <a:tcPr marT="25400" marB="25400" marR="63500" marL="63500" anchor="ctr">
                    <a:lnL cap="flat" cmpd="sng" w="28575">
                      <a:solidFill>
                        <a:srgbClr val="06B6D4"/>
                      </a:solidFill>
                      <a:prstDash val="solid"/>
                      <a:round/>
                      <a:headEnd len="sm" w="sm" type="none"/>
                      <a:tailEnd len="sm" w="sm" type="none"/>
                    </a:lnL>
                    <a:lnR cap="flat" cmpd="sng" w="28575">
                      <a:solidFill>
                        <a:srgbClr val="06B6D4"/>
                      </a:solidFill>
                      <a:prstDash val="solid"/>
                      <a:round/>
                      <a:headEnd len="sm" w="sm" type="none"/>
                      <a:tailEnd len="sm" w="sm" type="none"/>
                    </a:lnR>
                    <a:lnT cap="flat" cmpd="sng" w="28575">
                      <a:solidFill>
                        <a:srgbClr val="06B6D4"/>
                      </a:solidFill>
                      <a:prstDash val="solid"/>
                      <a:round/>
                      <a:headEnd len="sm" w="sm" type="none"/>
                      <a:tailEnd len="sm" w="sm" type="none"/>
                    </a:lnT>
                    <a:lnB cap="flat" cmpd="sng" w="28575">
                      <a:solidFill>
                        <a:srgbClr val="06B6D4"/>
                      </a:solidFill>
                      <a:prstDash val="solid"/>
                      <a:round/>
                      <a:headEnd len="sm" w="sm" type="none"/>
                      <a:tailEnd len="sm" w="sm" type="none"/>
                    </a:lnB>
                  </a:tcPr>
                </a:tc>
                <a:tc>
                  <a:txBody>
                    <a:bodyPr/>
                    <a:lstStyle/>
                    <a:p>
                      <a:pPr indent="0" lvl="0" marL="0" marR="0" rtl="0" algn="l">
                        <a:spcBef>
                          <a:spcPts val="0"/>
                        </a:spcBef>
                        <a:spcAft>
                          <a:spcPts val="0"/>
                        </a:spcAft>
                        <a:buNone/>
                      </a:pPr>
                      <a:r>
                        <a:rPr b="1" i="0" lang="en-US" sz="1500" u="none" cap="none" strike="noStrike">
                          <a:latin typeface="Poppins"/>
                          <a:ea typeface="Poppins"/>
                          <a:cs typeface="Poppins"/>
                          <a:sym typeface="Poppins"/>
                        </a:rPr>
                        <a:t>0.49</a:t>
                      </a:r>
                      <a:r>
                        <a:rPr b="1" lang="en-US" sz="1500">
                          <a:latin typeface="Poppins"/>
                          <a:ea typeface="Poppins"/>
                          <a:cs typeface="Poppins"/>
                          <a:sym typeface="Poppins"/>
                        </a:rPr>
                        <a:t>5</a:t>
                      </a:r>
                      <a:endParaRPr sz="1500">
                        <a:latin typeface="Poppins"/>
                        <a:ea typeface="Poppins"/>
                        <a:cs typeface="Poppins"/>
                        <a:sym typeface="Poppins"/>
                      </a:endParaRPr>
                    </a:p>
                  </a:txBody>
                  <a:tcPr marT="25400" marB="25400" marR="63500" marL="63500" anchor="ctr">
                    <a:lnL cap="flat" cmpd="sng" w="28575">
                      <a:solidFill>
                        <a:srgbClr val="06B6D4"/>
                      </a:solidFill>
                      <a:prstDash val="solid"/>
                      <a:round/>
                      <a:headEnd len="sm" w="sm" type="none"/>
                      <a:tailEnd len="sm" w="sm" type="none"/>
                    </a:lnL>
                    <a:lnR cap="flat" cmpd="sng" w="28575">
                      <a:solidFill>
                        <a:srgbClr val="06B6D4"/>
                      </a:solidFill>
                      <a:prstDash val="solid"/>
                      <a:round/>
                      <a:headEnd len="sm" w="sm" type="none"/>
                      <a:tailEnd len="sm" w="sm" type="none"/>
                    </a:lnR>
                    <a:lnT cap="flat" cmpd="sng" w="28575">
                      <a:solidFill>
                        <a:srgbClr val="06B6D4"/>
                      </a:solidFill>
                      <a:prstDash val="solid"/>
                      <a:round/>
                      <a:headEnd len="sm" w="sm" type="none"/>
                      <a:tailEnd len="sm" w="sm" type="none"/>
                    </a:lnT>
                    <a:lnB cap="flat" cmpd="sng" w="28575">
                      <a:solidFill>
                        <a:srgbClr val="06B6D4"/>
                      </a:solidFill>
                      <a:prstDash val="solid"/>
                      <a:round/>
                      <a:headEnd len="sm" w="sm" type="none"/>
                      <a:tailEnd len="sm" w="sm" type="none"/>
                    </a:lnB>
                  </a:tcPr>
                </a:tc>
                <a:tc>
                  <a:txBody>
                    <a:bodyPr/>
                    <a:lstStyle/>
                    <a:p>
                      <a:pPr indent="0" lvl="0" marL="0" marR="0" rtl="0" algn="l">
                        <a:spcBef>
                          <a:spcPts val="0"/>
                        </a:spcBef>
                        <a:spcAft>
                          <a:spcPts val="0"/>
                        </a:spcAft>
                        <a:buNone/>
                      </a:pPr>
                      <a:r>
                        <a:rPr i="0" lang="en-US" sz="1500" u="none" cap="none" strike="noStrike">
                          <a:latin typeface="Poppins"/>
                          <a:ea typeface="Poppins"/>
                          <a:cs typeface="Poppins"/>
                          <a:sym typeface="Poppins"/>
                        </a:rPr>
                        <a:t>5.</a:t>
                      </a:r>
                      <a:r>
                        <a:rPr lang="en-US" sz="1500">
                          <a:latin typeface="Poppins"/>
                          <a:ea typeface="Poppins"/>
                          <a:cs typeface="Poppins"/>
                          <a:sym typeface="Poppins"/>
                        </a:rPr>
                        <a:t>28</a:t>
                      </a:r>
                      <a:r>
                        <a:rPr i="0" lang="en-US" sz="1500" u="none" cap="none" strike="noStrike">
                          <a:latin typeface="Poppins"/>
                          <a:ea typeface="Poppins"/>
                          <a:cs typeface="Poppins"/>
                          <a:sym typeface="Poppins"/>
                        </a:rPr>
                        <a:t> FPS</a:t>
                      </a:r>
                      <a:endParaRPr sz="1500">
                        <a:latin typeface="Poppins"/>
                        <a:ea typeface="Poppins"/>
                        <a:cs typeface="Poppins"/>
                        <a:sym typeface="Poppins"/>
                      </a:endParaRPr>
                    </a:p>
                  </a:txBody>
                  <a:tcPr marT="25400" marB="25400" marR="63500" marL="63500" anchor="ctr">
                    <a:lnL cap="flat" cmpd="sng" w="28575">
                      <a:solidFill>
                        <a:srgbClr val="06B6D4"/>
                      </a:solidFill>
                      <a:prstDash val="solid"/>
                      <a:round/>
                      <a:headEnd len="sm" w="sm" type="none"/>
                      <a:tailEnd len="sm" w="sm" type="none"/>
                    </a:lnL>
                    <a:lnR cap="flat" cmpd="sng" w="28575">
                      <a:solidFill>
                        <a:srgbClr val="06B6D4"/>
                      </a:solidFill>
                      <a:prstDash val="solid"/>
                      <a:round/>
                      <a:headEnd len="sm" w="sm" type="none"/>
                      <a:tailEnd len="sm" w="sm" type="none"/>
                    </a:lnR>
                    <a:lnT cap="flat" cmpd="sng" w="28575">
                      <a:solidFill>
                        <a:srgbClr val="06B6D4"/>
                      </a:solidFill>
                      <a:prstDash val="solid"/>
                      <a:round/>
                      <a:headEnd len="sm" w="sm" type="none"/>
                      <a:tailEnd len="sm" w="sm" type="none"/>
                    </a:lnT>
                    <a:lnB cap="flat" cmpd="sng" w="28575">
                      <a:solidFill>
                        <a:srgbClr val="06B6D4"/>
                      </a:solidFill>
                      <a:prstDash val="solid"/>
                      <a:round/>
                      <a:headEnd len="sm" w="sm" type="none"/>
                      <a:tailEnd len="sm" w="sm" type="none"/>
                    </a:lnB>
                  </a:tcPr>
                </a:tc>
                <a:tc>
                  <a:txBody>
                    <a:bodyPr/>
                    <a:lstStyle/>
                    <a:p>
                      <a:pPr indent="0" lvl="0" marL="0" marR="0" rtl="0" algn="l">
                        <a:spcBef>
                          <a:spcPts val="0"/>
                        </a:spcBef>
                        <a:spcAft>
                          <a:spcPts val="0"/>
                        </a:spcAft>
                        <a:buNone/>
                      </a:pPr>
                      <a:r>
                        <a:rPr i="0" lang="en-US" sz="1500" u="none" cap="none" strike="noStrike">
                          <a:latin typeface="Poppins"/>
                          <a:ea typeface="Poppins"/>
                          <a:cs typeface="Poppins"/>
                          <a:sym typeface="Poppins"/>
                        </a:rPr>
                        <a:t>10.0 MB</a:t>
                      </a:r>
                      <a:endParaRPr sz="1500">
                        <a:latin typeface="Poppins"/>
                        <a:ea typeface="Poppins"/>
                        <a:cs typeface="Poppins"/>
                        <a:sym typeface="Poppins"/>
                      </a:endParaRPr>
                    </a:p>
                  </a:txBody>
                  <a:tcPr marT="25400" marB="25400" marR="63500" marL="63500" anchor="ctr">
                    <a:lnL cap="flat" cmpd="sng" w="28575">
                      <a:solidFill>
                        <a:srgbClr val="06B6D4"/>
                      </a:solidFill>
                      <a:prstDash val="solid"/>
                      <a:round/>
                      <a:headEnd len="sm" w="sm" type="none"/>
                      <a:tailEnd len="sm" w="sm" type="none"/>
                    </a:lnL>
                    <a:lnR cap="flat" cmpd="sng" w="28575">
                      <a:solidFill>
                        <a:srgbClr val="06B6D4"/>
                      </a:solidFill>
                      <a:prstDash val="solid"/>
                      <a:round/>
                      <a:headEnd len="sm" w="sm" type="none"/>
                      <a:tailEnd len="sm" w="sm" type="none"/>
                    </a:lnR>
                    <a:lnT cap="flat" cmpd="sng" w="28575">
                      <a:solidFill>
                        <a:srgbClr val="06B6D4"/>
                      </a:solidFill>
                      <a:prstDash val="solid"/>
                      <a:round/>
                      <a:headEnd len="sm" w="sm" type="none"/>
                      <a:tailEnd len="sm" w="sm" type="none"/>
                    </a:lnT>
                    <a:lnB cap="flat" cmpd="sng" w="28575">
                      <a:solidFill>
                        <a:srgbClr val="06B6D4"/>
                      </a:solidFill>
                      <a:prstDash val="solid"/>
                      <a:round/>
                      <a:headEnd len="sm" w="sm" type="none"/>
                      <a:tailEnd len="sm" w="sm" type="none"/>
                    </a:lnB>
                  </a:tcPr>
                </a:tc>
                <a:tc>
                  <a:txBody>
                    <a:bodyPr/>
                    <a:lstStyle/>
                    <a:p>
                      <a:pPr indent="0" lvl="0" marL="0" marR="0" rtl="0" algn="l">
                        <a:spcBef>
                          <a:spcPts val="0"/>
                        </a:spcBef>
                        <a:spcAft>
                          <a:spcPts val="0"/>
                        </a:spcAft>
                        <a:buNone/>
                      </a:pPr>
                      <a:r>
                        <a:rPr lang="en-US" sz="1500">
                          <a:latin typeface="Poppins"/>
                          <a:ea typeface="Poppins"/>
                          <a:cs typeface="Poppins"/>
                          <a:sym typeface="Poppins"/>
                        </a:rPr>
                        <a:t>Mayor precisión geométrica (</a:t>
                      </a:r>
                      <a:r>
                        <a:rPr b="1" lang="en-US" sz="1500">
                          <a:latin typeface="Poppins"/>
                          <a:ea typeface="Poppins"/>
                          <a:cs typeface="Poppins"/>
                          <a:sym typeface="Poppins"/>
                        </a:rPr>
                        <a:t>mAP50-95</a:t>
                      </a:r>
                      <a:r>
                        <a:rPr lang="en-US" sz="1500">
                          <a:latin typeface="Poppins"/>
                          <a:ea typeface="Poppins"/>
                          <a:cs typeface="Poppins"/>
                          <a:sym typeface="Poppins"/>
                        </a:rPr>
                        <a:t>). Óptimo para retroalimentación de coordenadas fina.</a:t>
                      </a:r>
                      <a:endParaRPr sz="1500">
                        <a:latin typeface="Poppins"/>
                        <a:ea typeface="Poppins"/>
                        <a:cs typeface="Poppins"/>
                        <a:sym typeface="Poppins"/>
                      </a:endParaRPr>
                    </a:p>
                  </a:txBody>
                  <a:tcPr marT="25400" marB="25400" marR="63500" marL="63500" anchor="ctr">
                    <a:lnL cap="flat" cmpd="sng" w="28575">
                      <a:solidFill>
                        <a:srgbClr val="06B6D4"/>
                      </a:solidFill>
                      <a:prstDash val="solid"/>
                      <a:round/>
                      <a:headEnd len="sm" w="sm" type="none"/>
                      <a:tailEnd len="sm" w="sm" type="none"/>
                    </a:lnL>
                    <a:lnR cap="flat" cmpd="sng" w="28575">
                      <a:solidFill>
                        <a:srgbClr val="06B6D4"/>
                      </a:solidFill>
                      <a:prstDash val="solid"/>
                      <a:round/>
                      <a:headEnd len="sm" w="sm" type="none"/>
                      <a:tailEnd len="sm" w="sm" type="none"/>
                    </a:lnR>
                    <a:lnT cap="flat" cmpd="sng" w="28575">
                      <a:solidFill>
                        <a:srgbClr val="06B6D4"/>
                      </a:solidFill>
                      <a:prstDash val="solid"/>
                      <a:round/>
                      <a:headEnd len="sm" w="sm" type="none"/>
                      <a:tailEnd len="sm" w="sm" type="none"/>
                    </a:lnT>
                    <a:lnB cap="flat" cmpd="sng" w="28575">
                      <a:solidFill>
                        <a:srgbClr val="06B6D4"/>
                      </a:solidFill>
                      <a:prstDash val="solid"/>
                      <a:round/>
                      <a:headEnd len="sm" w="sm" type="none"/>
                      <a:tailEnd len="sm" w="sm" type="none"/>
                    </a:lnB>
                  </a:tcPr>
                </a:tc>
              </a:tr>
              <a:tr h="853550">
                <a:tc>
                  <a:txBody>
                    <a:bodyPr/>
                    <a:lstStyle/>
                    <a:p>
                      <a:pPr indent="0" lvl="0" marL="0" marR="0" rtl="0" algn="l">
                        <a:spcBef>
                          <a:spcPts val="0"/>
                        </a:spcBef>
                        <a:spcAft>
                          <a:spcPts val="0"/>
                        </a:spcAft>
                        <a:buNone/>
                      </a:pPr>
                      <a:r>
                        <a:rPr b="1" i="0" lang="en-US" sz="1500" u="none" cap="none" strike="noStrike">
                          <a:latin typeface="Poppins"/>
                          <a:ea typeface="Poppins"/>
                          <a:cs typeface="Poppins"/>
                          <a:sym typeface="Poppins"/>
                        </a:rPr>
                        <a:t>YOLO11n Float16</a:t>
                      </a:r>
                      <a:endParaRPr sz="1500">
                        <a:latin typeface="Poppins"/>
                        <a:ea typeface="Poppins"/>
                        <a:cs typeface="Poppins"/>
                        <a:sym typeface="Poppins"/>
                      </a:endParaRPr>
                    </a:p>
                  </a:txBody>
                  <a:tcPr marT="25400" marB="25400" marR="63500" marL="63500" anchor="ctr">
                    <a:lnL cap="flat" cmpd="sng" w="28575">
                      <a:solidFill>
                        <a:srgbClr val="06B6D4"/>
                      </a:solidFill>
                      <a:prstDash val="solid"/>
                      <a:round/>
                      <a:headEnd len="sm" w="sm" type="none"/>
                      <a:tailEnd len="sm" w="sm" type="none"/>
                    </a:lnL>
                    <a:lnR cap="flat" cmpd="sng" w="28575">
                      <a:solidFill>
                        <a:srgbClr val="06B6D4"/>
                      </a:solidFill>
                      <a:prstDash val="solid"/>
                      <a:round/>
                      <a:headEnd len="sm" w="sm" type="none"/>
                      <a:tailEnd len="sm" w="sm" type="none"/>
                    </a:lnR>
                    <a:lnT cap="flat" cmpd="sng" w="28575">
                      <a:solidFill>
                        <a:srgbClr val="06B6D4"/>
                      </a:solidFill>
                      <a:prstDash val="solid"/>
                      <a:round/>
                      <a:headEnd len="sm" w="sm" type="none"/>
                      <a:tailEnd len="sm" w="sm" type="none"/>
                    </a:lnT>
                    <a:lnB cap="flat" cmpd="sng" w="28575">
                      <a:solidFill>
                        <a:srgbClr val="06B6D4"/>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rPr i="0" lang="en-US" sz="1500" u="none" cap="none" strike="noStrike">
                          <a:latin typeface="Poppins"/>
                          <a:ea typeface="Poppins"/>
                          <a:cs typeface="Poppins"/>
                          <a:sym typeface="Poppins"/>
                        </a:rPr>
                        <a:t>0.60</a:t>
                      </a:r>
                      <a:r>
                        <a:rPr lang="en-US" sz="1500">
                          <a:latin typeface="Poppins"/>
                          <a:ea typeface="Poppins"/>
                          <a:cs typeface="Poppins"/>
                          <a:sym typeface="Poppins"/>
                        </a:rPr>
                        <a:t>8</a:t>
                      </a:r>
                      <a:endParaRPr sz="1500">
                        <a:latin typeface="Poppins"/>
                        <a:ea typeface="Poppins"/>
                        <a:cs typeface="Poppins"/>
                        <a:sym typeface="Poppins"/>
                      </a:endParaRPr>
                    </a:p>
                  </a:txBody>
                  <a:tcPr marT="25400" marB="25400" marR="63500" marL="63500" anchor="ctr">
                    <a:lnL cap="flat" cmpd="sng" w="28575">
                      <a:solidFill>
                        <a:srgbClr val="06B6D4"/>
                      </a:solidFill>
                      <a:prstDash val="solid"/>
                      <a:round/>
                      <a:headEnd len="sm" w="sm" type="none"/>
                      <a:tailEnd len="sm" w="sm" type="none"/>
                    </a:lnL>
                    <a:lnR cap="flat" cmpd="sng" w="28575">
                      <a:solidFill>
                        <a:srgbClr val="06B6D4"/>
                      </a:solidFill>
                      <a:prstDash val="solid"/>
                      <a:round/>
                      <a:headEnd len="sm" w="sm" type="none"/>
                      <a:tailEnd len="sm" w="sm" type="none"/>
                    </a:lnR>
                    <a:lnT cap="flat" cmpd="sng" w="28575">
                      <a:solidFill>
                        <a:srgbClr val="06B6D4"/>
                      </a:solidFill>
                      <a:prstDash val="solid"/>
                      <a:round/>
                      <a:headEnd len="sm" w="sm" type="none"/>
                      <a:tailEnd len="sm" w="sm" type="none"/>
                    </a:lnT>
                    <a:lnB cap="flat" cmpd="sng" w="28575">
                      <a:solidFill>
                        <a:srgbClr val="06B6D4"/>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rPr b="1" i="0" lang="en-US" sz="1500" u="none" cap="none" strike="noStrike">
                          <a:latin typeface="Poppins"/>
                          <a:ea typeface="Poppins"/>
                          <a:cs typeface="Poppins"/>
                          <a:sym typeface="Poppins"/>
                        </a:rPr>
                        <a:t>0.49</a:t>
                      </a:r>
                      <a:r>
                        <a:rPr b="1" lang="en-US" sz="1500">
                          <a:latin typeface="Poppins"/>
                          <a:ea typeface="Poppins"/>
                          <a:cs typeface="Poppins"/>
                          <a:sym typeface="Poppins"/>
                        </a:rPr>
                        <a:t>5</a:t>
                      </a:r>
                      <a:endParaRPr b="1" sz="1500">
                        <a:latin typeface="Poppins"/>
                        <a:ea typeface="Poppins"/>
                        <a:cs typeface="Poppins"/>
                        <a:sym typeface="Poppins"/>
                      </a:endParaRPr>
                    </a:p>
                  </a:txBody>
                  <a:tcPr marT="25400" marB="25400" marR="63500" marL="63500" anchor="ctr">
                    <a:lnL cap="flat" cmpd="sng" w="28575">
                      <a:solidFill>
                        <a:srgbClr val="06B6D4"/>
                      </a:solidFill>
                      <a:prstDash val="solid"/>
                      <a:round/>
                      <a:headEnd len="sm" w="sm" type="none"/>
                      <a:tailEnd len="sm" w="sm" type="none"/>
                    </a:lnL>
                    <a:lnR cap="flat" cmpd="sng" w="28575">
                      <a:solidFill>
                        <a:srgbClr val="06B6D4"/>
                      </a:solidFill>
                      <a:prstDash val="solid"/>
                      <a:round/>
                      <a:headEnd len="sm" w="sm" type="none"/>
                      <a:tailEnd len="sm" w="sm" type="none"/>
                    </a:lnR>
                    <a:lnT cap="flat" cmpd="sng" w="28575">
                      <a:solidFill>
                        <a:srgbClr val="06B6D4"/>
                      </a:solidFill>
                      <a:prstDash val="solid"/>
                      <a:round/>
                      <a:headEnd len="sm" w="sm" type="none"/>
                      <a:tailEnd len="sm" w="sm" type="none"/>
                    </a:lnT>
                    <a:lnB cap="flat" cmpd="sng" w="28575">
                      <a:solidFill>
                        <a:srgbClr val="06B6D4"/>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rPr i="0" lang="en-US" sz="1500" u="none" cap="none" strike="noStrike">
                          <a:latin typeface="Poppins"/>
                          <a:ea typeface="Poppins"/>
                          <a:cs typeface="Poppins"/>
                          <a:sym typeface="Poppins"/>
                        </a:rPr>
                        <a:t>5.</a:t>
                      </a:r>
                      <a:r>
                        <a:rPr lang="en-US" sz="1500">
                          <a:latin typeface="Poppins"/>
                          <a:ea typeface="Poppins"/>
                          <a:cs typeface="Poppins"/>
                          <a:sym typeface="Poppins"/>
                        </a:rPr>
                        <a:t>26</a:t>
                      </a:r>
                      <a:r>
                        <a:rPr i="0" lang="en-US" sz="1500" u="none" cap="none" strike="noStrike">
                          <a:latin typeface="Poppins"/>
                          <a:ea typeface="Poppins"/>
                          <a:cs typeface="Poppins"/>
                          <a:sym typeface="Poppins"/>
                        </a:rPr>
                        <a:t> FPS</a:t>
                      </a:r>
                      <a:endParaRPr sz="1500">
                        <a:latin typeface="Poppins"/>
                        <a:ea typeface="Poppins"/>
                        <a:cs typeface="Poppins"/>
                        <a:sym typeface="Poppins"/>
                      </a:endParaRPr>
                    </a:p>
                  </a:txBody>
                  <a:tcPr marT="25400" marB="25400" marR="63500" marL="63500" anchor="ctr">
                    <a:lnL cap="flat" cmpd="sng" w="28575">
                      <a:solidFill>
                        <a:srgbClr val="06B6D4"/>
                      </a:solidFill>
                      <a:prstDash val="solid"/>
                      <a:round/>
                      <a:headEnd len="sm" w="sm" type="none"/>
                      <a:tailEnd len="sm" w="sm" type="none"/>
                    </a:lnL>
                    <a:lnR cap="flat" cmpd="sng" w="28575">
                      <a:solidFill>
                        <a:srgbClr val="06B6D4"/>
                      </a:solidFill>
                      <a:prstDash val="solid"/>
                      <a:round/>
                      <a:headEnd len="sm" w="sm" type="none"/>
                      <a:tailEnd len="sm" w="sm" type="none"/>
                    </a:lnR>
                    <a:lnT cap="flat" cmpd="sng" w="28575">
                      <a:solidFill>
                        <a:srgbClr val="06B6D4"/>
                      </a:solidFill>
                      <a:prstDash val="solid"/>
                      <a:round/>
                      <a:headEnd len="sm" w="sm" type="none"/>
                      <a:tailEnd len="sm" w="sm" type="none"/>
                    </a:lnT>
                    <a:lnB cap="flat" cmpd="sng" w="28575">
                      <a:solidFill>
                        <a:srgbClr val="06B6D4"/>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rPr b="1" i="0" lang="en-US" sz="1500" u="none" cap="none" strike="noStrike">
                          <a:latin typeface="Poppins"/>
                          <a:ea typeface="Poppins"/>
                          <a:cs typeface="Poppins"/>
                          <a:sym typeface="Poppins"/>
                        </a:rPr>
                        <a:t>5.2 MB</a:t>
                      </a:r>
                      <a:endParaRPr sz="1500">
                        <a:latin typeface="Poppins"/>
                        <a:ea typeface="Poppins"/>
                        <a:cs typeface="Poppins"/>
                        <a:sym typeface="Poppins"/>
                      </a:endParaRPr>
                    </a:p>
                  </a:txBody>
                  <a:tcPr marT="25400" marB="25400" marR="63500" marL="63500" anchor="ctr">
                    <a:lnL cap="flat" cmpd="sng" w="28575">
                      <a:solidFill>
                        <a:srgbClr val="06B6D4"/>
                      </a:solidFill>
                      <a:prstDash val="solid"/>
                      <a:round/>
                      <a:headEnd len="sm" w="sm" type="none"/>
                      <a:tailEnd len="sm" w="sm" type="none"/>
                    </a:lnL>
                    <a:lnR cap="flat" cmpd="sng" w="28575">
                      <a:solidFill>
                        <a:srgbClr val="06B6D4"/>
                      </a:solidFill>
                      <a:prstDash val="solid"/>
                      <a:round/>
                      <a:headEnd len="sm" w="sm" type="none"/>
                      <a:tailEnd len="sm" w="sm" type="none"/>
                    </a:lnR>
                    <a:lnT cap="flat" cmpd="sng" w="28575">
                      <a:solidFill>
                        <a:srgbClr val="06B6D4"/>
                      </a:solidFill>
                      <a:prstDash val="solid"/>
                      <a:round/>
                      <a:headEnd len="sm" w="sm" type="none"/>
                      <a:tailEnd len="sm" w="sm" type="none"/>
                    </a:lnT>
                    <a:lnB cap="flat" cmpd="sng" w="28575">
                      <a:solidFill>
                        <a:srgbClr val="06B6D4"/>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rPr lang="en-US" sz="1500">
                          <a:latin typeface="Poppins"/>
                          <a:ea typeface="Poppins"/>
                          <a:cs typeface="Poppins"/>
                          <a:sym typeface="Poppins"/>
                        </a:rPr>
                        <a:t>Modelo más liviano. Alternativa viable si el tamaño de almacenamiento es crítico.</a:t>
                      </a:r>
                      <a:endParaRPr sz="1500">
                        <a:latin typeface="Poppins"/>
                        <a:ea typeface="Poppins"/>
                        <a:cs typeface="Poppins"/>
                        <a:sym typeface="Poppins"/>
                      </a:endParaRPr>
                    </a:p>
                  </a:txBody>
                  <a:tcPr marT="25400" marB="25400" marR="63500" marL="63500" anchor="ctr">
                    <a:lnL cap="flat" cmpd="sng" w="28575">
                      <a:solidFill>
                        <a:srgbClr val="06B6D4"/>
                      </a:solidFill>
                      <a:prstDash val="solid"/>
                      <a:round/>
                      <a:headEnd len="sm" w="sm" type="none"/>
                      <a:tailEnd len="sm" w="sm" type="none"/>
                    </a:lnL>
                    <a:lnR cap="flat" cmpd="sng" w="28575">
                      <a:solidFill>
                        <a:srgbClr val="06B6D4"/>
                      </a:solidFill>
                      <a:prstDash val="solid"/>
                      <a:round/>
                      <a:headEnd len="sm" w="sm" type="none"/>
                      <a:tailEnd len="sm" w="sm" type="none"/>
                    </a:lnR>
                    <a:lnT cap="flat" cmpd="sng" w="28575">
                      <a:solidFill>
                        <a:srgbClr val="06B6D4"/>
                      </a:solidFill>
                      <a:prstDash val="solid"/>
                      <a:round/>
                      <a:headEnd len="sm" w="sm" type="none"/>
                      <a:tailEnd len="sm" w="sm" type="none"/>
                    </a:lnT>
                    <a:lnB cap="flat" cmpd="sng" w="28575">
                      <a:solidFill>
                        <a:srgbClr val="06B6D4"/>
                      </a:solidFill>
                      <a:prstDash val="solid"/>
                      <a:round/>
                      <a:headEnd len="sm" w="sm" type="none"/>
                      <a:tailEnd len="sm" w="sm" type="none"/>
                    </a:lnB>
                    <a:solidFill>
                      <a:schemeClr val="lt1"/>
                    </a:solidFill>
                  </a:tcPr>
                </a:tc>
              </a:tr>
              <a:tr h="1051875">
                <a:tc>
                  <a:txBody>
                    <a:bodyPr/>
                    <a:lstStyle/>
                    <a:p>
                      <a:pPr indent="0" lvl="0" marL="0" marR="0" rtl="0" algn="l">
                        <a:spcBef>
                          <a:spcPts val="0"/>
                        </a:spcBef>
                        <a:spcAft>
                          <a:spcPts val="0"/>
                        </a:spcAft>
                        <a:buNone/>
                      </a:pPr>
                      <a:r>
                        <a:rPr b="1" i="0" lang="en-US" sz="1500" u="none" cap="none" strike="noStrike">
                          <a:latin typeface="Poppins"/>
                          <a:ea typeface="Poppins"/>
                          <a:cs typeface="Poppins"/>
                          <a:sym typeface="Poppins"/>
                        </a:rPr>
                        <a:t>EfficientDet-Lite2</a:t>
                      </a:r>
                      <a:endParaRPr sz="1500">
                        <a:latin typeface="Poppins"/>
                        <a:ea typeface="Poppins"/>
                        <a:cs typeface="Poppins"/>
                        <a:sym typeface="Poppins"/>
                      </a:endParaRPr>
                    </a:p>
                  </a:txBody>
                  <a:tcPr marT="25400" marB="25400" marR="63500" marL="63500" anchor="ctr">
                    <a:lnL cap="flat" cmpd="sng" w="28575">
                      <a:solidFill>
                        <a:srgbClr val="06B6D4"/>
                      </a:solidFill>
                      <a:prstDash val="solid"/>
                      <a:round/>
                      <a:headEnd len="sm" w="sm" type="none"/>
                      <a:tailEnd len="sm" w="sm" type="none"/>
                    </a:lnL>
                    <a:lnR cap="flat" cmpd="sng" w="28575">
                      <a:solidFill>
                        <a:srgbClr val="06B6D4"/>
                      </a:solidFill>
                      <a:prstDash val="solid"/>
                      <a:round/>
                      <a:headEnd len="sm" w="sm" type="none"/>
                      <a:tailEnd len="sm" w="sm" type="none"/>
                    </a:lnR>
                    <a:lnT cap="flat" cmpd="sng" w="28575">
                      <a:solidFill>
                        <a:srgbClr val="06B6D4"/>
                      </a:solidFill>
                      <a:prstDash val="solid"/>
                      <a:round/>
                      <a:headEnd len="sm" w="sm" type="none"/>
                      <a:tailEnd len="sm" w="sm" type="none"/>
                    </a:lnT>
                    <a:lnB cap="flat" cmpd="sng" w="28575">
                      <a:solidFill>
                        <a:srgbClr val="06B6D4"/>
                      </a:solidFill>
                      <a:prstDash val="solid"/>
                      <a:round/>
                      <a:headEnd len="sm" w="sm" type="none"/>
                      <a:tailEnd len="sm" w="sm" type="none"/>
                    </a:lnB>
                    <a:solidFill>
                      <a:srgbClr val="C27BA0"/>
                    </a:solidFill>
                  </a:tcPr>
                </a:tc>
                <a:tc>
                  <a:txBody>
                    <a:bodyPr/>
                    <a:lstStyle/>
                    <a:p>
                      <a:pPr indent="0" lvl="0" marL="0" marR="0" rtl="0" algn="l">
                        <a:spcBef>
                          <a:spcPts val="0"/>
                        </a:spcBef>
                        <a:spcAft>
                          <a:spcPts val="0"/>
                        </a:spcAft>
                        <a:buNone/>
                      </a:pPr>
                      <a:r>
                        <a:rPr b="1" i="0" lang="en-US" sz="1500" u="none" cap="none" strike="noStrike">
                          <a:latin typeface="Poppins"/>
                          <a:ea typeface="Poppins"/>
                          <a:cs typeface="Poppins"/>
                          <a:sym typeface="Poppins"/>
                        </a:rPr>
                        <a:t>0.6</a:t>
                      </a:r>
                      <a:r>
                        <a:rPr b="1" lang="en-US" sz="1500">
                          <a:latin typeface="Poppins"/>
                          <a:ea typeface="Poppins"/>
                          <a:cs typeface="Poppins"/>
                          <a:sym typeface="Poppins"/>
                        </a:rPr>
                        <a:t>40</a:t>
                      </a:r>
                      <a:endParaRPr sz="1500">
                        <a:latin typeface="Poppins"/>
                        <a:ea typeface="Poppins"/>
                        <a:cs typeface="Poppins"/>
                        <a:sym typeface="Poppins"/>
                      </a:endParaRPr>
                    </a:p>
                  </a:txBody>
                  <a:tcPr marT="25400" marB="25400" marR="63500" marL="63500" anchor="ctr">
                    <a:lnL cap="flat" cmpd="sng" w="28575">
                      <a:solidFill>
                        <a:srgbClr val="06B6D4"/>
                      </a:solidFill>
                      <a:prstDash val="solid"/>
                      <a:round/>
                      <a:headEnd len="sm" w="sm" type="none"/>
                      <a:tailEnd len="sm" w="sm" type="none"/>
                    </a:lnL>
                    <a:lnR cap="flat" cmpd="sng" w="28575">
                      <a:solidFill>
                        <a:srgbClr val="06B6D4"/>
                      </a:solidFill>
                      <a:prstDash val="solid"/>
                      <a:round/>
                      <a:headEnd len="sm" w="sm" type="none"/>
                      <a:tailEnd len="sm" w="sm" type="none"/>
                    </a:lnR>
                    <a:lnT cap="flat" cmpd="sng" w="28575">
                      <a:solidFill>
                        <a:srgbClr val="06B6D4"/>
                      </a:solidFill>
                      <a:prstDash val="solid"/>
                      <a:round/>
                      <a:headEnd len="sm" w="sm" type="none"/>
                      <a:tailEnd len="sm" w="sm" type="none"/>
                    </a:lnT>
                    <a:lnB cap="flat" cmpd="sng" w="28575">
                      <a:solidFill>
                        <a:srgbClr val="06B6D4"/>
                      </a:solidFill>
                      <a:prstDash val="solid"/>
                      <a:round/>
                      <a:headEnd len="sm" w="sm" type="none"/>
                      <a:tailEnd len="sm" w="sm" type="none"/>
                    </a:lnB>
                    <a:solidFill>
                      <a:srgbClr val="C27BA0"/>
                    </a:solidFill>
                  </a:tcPr>
                </a:tc>
                <a:tc>
                  <a:txBody>
                    <a:bodyPr/>
                    <a:lstStyle/>
                    <a:p>
                      <a:pPr indent="0" lvl="0" marL="0" marR="0" rtl="0" algn="l">
                        <a:spcBef>
                          <a:spcPts val="0"/>
                        </a:spcBef>
                        <a:spcAft>
                          <a:spcPts val="0"/>
                        </a:spcAft>
                        <a:buNone/>
                      </a:pPr>
                      <a:r>
                        <a:rPr i="0" lang="en-US" sz="1500" u="none" cap="none" strike="noStrike">
                          <a:latin typeface="Poppins"/>
                          <a:ea typeface="Poppins"/>
                          <a:cs typeface="Poppins"/>
                          <a:sym typeface="Poppins"/>
                        </a:rPr>
                        <a:t>0.48</a:t>
                      </a:r>
                      <a:r>
                        <a:rPr lang="en-US" sz="1500">
                          <a:latin typeface="Poppins"/>
                          <a:ea typeface="Poppins"/>
                          <a:cs typeface="Poppins"/>
                          <a:sym typeface="Poppins"/>
                        </a:rPr>
                        <a:t>7</a:t>
                      </a:r>
                      <a:endParaRPr sz="1500">
                        <a:latin typeface="Poppins"/>
                        <a:ea typeface="Poppins"/>
                        <a:cs typeface="Poppins"/>
                        <a:sym typeface="Poppins"/>
                      </a:endParaRPr>
                    </a:p>
                  </a:txBody>
                  <a:tcPr marT="25400" marB="25400" marR="63500" marL="63500" anchor="ctr">
                    <a:lnL cap="flat" cmpd="sng" w="28575">
                      <a:solidFill>
                        <a:srgbClr val="06B6D4"/>
                      </a:solidFill>
                      <a:prstDash val="solid"/>
                      <a:round/>
                      <a:headEnd len="sm" w="sm" type="none"/>
                      <a:tailEnd len="sm" w="sm" type="none"/>
                    </a:lnL>
                    <a:lnR cap="flat" cmpd="sng" w="28575">
                      <a:solidFill>
                        <a:srgbClr val="06B6D4"/>
                      </a:solidFill>
                      <a:prstDash val="solid"/>
                      <a:round/>
                      <a:headEnd len="sm" w="sm" type="none"/>
                      <a:tailEnd len="sm" w="sm" type="none"/>
                    </a:lnR>
                    <a:lnT cap="flat" cmpd="sng" w="28575">
                      <a:solidFill>
                        <a:srgbClr val="06B6D4"/>
                      </a:solidFill>
                      <a:prstDash val="solid"/>
                      <a:round/>
                      <a:headEnd len="sm" w="sm" type="none"/>
                      <a:tailEnd len="sm" w="sm" type="none"/>
                    </a:lnT>
                    <a:lnB cap="flat" cmpd="sng" w="28575">
                      <a:solidFill>
                        <a:srgbClr val="06B6D4"/>
                      </a:solidFill>
                      <a:prstDash val="solid"/>
                      <a:round/>
                      <a:headEnd len="sm" w="sm" type="none"/>
                      <a:tailEnd len="sm" w="sm" type="none"/>
                    </a:lnB>
                    <a:solidFill>
                      <a:srgbClr val="C27BA0"/>
                    </a:solidFill>
                  </a:tcPr>
                </a:tc>
                <a:tc>
                  <a:txBody>
                    <a:bodyPr/>
                    <a:lstStyle/>
                    <a:p>
                      <a:pPr indent="0" lvl="0" marL="0" marR="0" rtl="0" algn="l">
                        <a:spcBef>
                          <a:spcPts val="0"/>
                        </a:spcBef>
                        <a:spcAft>
                          <a:spcPts val="0"/>
                        </a:spcAft>
                        <a:buNone/>
                      </a:pPr>
                      <a:r>
                        <a:rPr b="1" lang="en-US" sz="1500">
                          <a:latin typeface="Poppins"/>
                          <a:ea typeface="Poppins"/>
                          <a:cs typeface="Poppins"/>
                          <a:sym typeface="Poppins"/>
                        </a:rPr>
                        <a:t>8</a:t>
                      </a:r>
                      <a:r>
                        <a:rPr b="1" i="0" lang="en-US" sz="1500" u="none" cap="none" strike="noStrike">
                          <a:latin typeface="Poppins"/>
                          <a:ea typeface="Poppins"/>
                          <a:cs typeface="Poppins"/>
                          <a:sym typeface="Poppins"/>
                        </a:rPr>
                        <a:t>.</a:t>
                      </a:r>
                      <a:r>
                        <a:rPr b="1" lang="en-US" sz="1500">
                          <a:latin typeface="Poppins"/>
                          <a:ea typeface="Poppins"/>
                          <a:cs typeface="Poppins"/>
                          <a:sym typeface="Poppins"/>
                        </a:rPr>
                        <a:t>55</a:t>
                      </a:r>
                      <a:r>
                        <a:rPr b="1" i="0" lang="en-US" sz="1500" u="none" cap="none" strike="noStrike">
                          <a:latin typeface="Poppins"/>
                          <a:ea typeface="Poppins"/>
                          <a:cs typeface="Poppins"/>
                          <a:sym typeface="Poppins"/>
                        </a:rPr>
                        <a:t> FPS</a:t>
                      </a:r>
                      <a:endParaRPr sz="1500">
                        <a:latin typeface="Poppins"/>
                        <a:ea typeface="Poppins"/>
                        <a:cs typeface="Poppins"/>
                        <a:sym typeface="Poppins"/>
                      </a:endParaRPr>
                    </a:p>
                  </a:txBody>
                  <a:tcPr marT="25400" marB="25400" marR="63500" marL="63500" anchor="ctr">
                    <a:lnL cap="flat" cmpd="sng" w="28575">
                      <a:solidFill>
                        <a:srgbClr val="06B6D4"/>
                      </a:solidFill>
                      <a:prstDash val="solid"/>
                      <a:round/>
                      <a:headEnd len="sm" w="sm" type="none"/>
                      <a:tailEnd len="sm" w="sm" type="none"/>
                    </a:lnL>
                    <a:lnR cap="flat" cmpd="sng" w="28575">
                      <a:solidFill>
                        <a:srgbClr val="06B6D4"/>
                      </a:solidFill>
                      <a:prstDash val="solid"/>
                      <a:round/>
                      <a:headEnd len="sm" w="sm" type="none"/>
                      <a:tailEnd len="sm" w="sm" type="none"/>
                    </a:lnR>
                    <a:lnT cap="flat" cmpd="sng" w="28575">
                      <a:solidFill>
                        <a:srgbClr val="06B6D4"/>
                      </a:solidFill>
                      <a:prstDash val="solid"/>
                      <a:round/>
                      <a:headEnd len="sm" w="sm" type="none"/>
                      <a:tailEnd len="sm" w="sm" type="none"/>
                    </a:lnT>
                    <a:lnB cap="flat" cmpd="sng" w="28575">
                      <a:solidFill>
                        <a:srgbClr val="06B6D4"/>
                      </a:solidFill>
                      <a:prstDash val="solid"/>
                      <a:round/>
                      <a:headEnd len="sm" w="sm" type="none"/>
                      <a:tailEnd len="sm" w="sm" type="none"/>
                    </a:lnB>
                    <a:solidFill>
                      <a:srgbClr val="C27BA0"/>
                    </a:solidFill>
                  </a:tcPr>
                </a:tc>
                <a:tc>
                  <a:txBody>
                    <a:bodyPr/>
                    <a:lstStyle/>
                    <a:p>
                      <a:pPr indent="0" lvl="0" marL="0" marR="0" rtl="0" algn="l">
                        <a:spcBef>
                          <a:spcPts val="0"/>
                        </a:spcBef>
                        <a:spcAft>
                          <a:spcPts val="0"/>
                        </a:spcAft>
                        <a:buNone/>
                      </a:pPr>
                      <a:r>
                        <a:rPr i="0" lang="en-US" sz="1500" u="none" cap="none" strike="noStrike">
                          <a:latin typeface="Poppins"/>
                          <a:ea typeface="Poppins"/>
                          <a:cs typeface="Poppins"/>
                          <a:sym typeface="Poppins"/>
                        </a:rPr>
                        <a:t>7.2 MB</a:t>
                      </a:r>
                      <a:endParaRPr sz="1500">
                        <a:latin typeface="Poppins"/>
                        <a:ea typeface="Poppins"/>
                        <a:cs typeface="Poppins"/>
                        <a:sym typeface="Poppins"/>
                      </a:endParaRPr>
                    </a:p>
                  </a:txBody>
                  <a:tcPr marT="25400" marB="25400" marR="63500" marL="63500" anchor="ctr">
                    <a:lnL cap="flat" cmpd="sng" w="28575">
                      <a:solidFill>
                        <a:srgbClr val="06B6D4"/>
                      </a:solidFill>
                      <a:prstDash val="solid"/>
                      <a:round/>
                      <a:headEnd len="sm" w="sm" type="none"/>
                      <a:tailEnd len="sm" w="sm" type="none"/>
                    </a:lnL>
                    <a:lnR cap="flat" cmpd="sng" w="28575">
                      <a:solidFill>
                        <a:srgbClr val="06B6D4"/>
                      </a:solidFill>
                      <a:prstDash val="solid"/>
                      <a:round/>
                      <a:headEnd len="sm" w="sm" type="none"/>
                      <a:tailEnd len="sm" w="sm" type="none"/>
                    </a:lnR>
                    <a:lnT cap="flat" cmpd="sng" w="28575">
                      <a:solidFill>
                        <a:srgbClr val="06B6D4"/>
                      </a:solidFill>
                      <a:prstDash val="solid"/>
                      <a:round/>
                      <a:headEnd len="sm" w="sm" type="none"/>
                      <a:tailEnd len="sm" w="sm" type="none"/>
                    </a:lnT>
                    <a:lnB cap="flat" cmpd="sng" w="28575">
                      <a:solidFill>
                        <a:srgbClr val="06B6D4"/>
                      </a:solidFill>
                      <a:prstDash val="solid"/>
                      <a:round/>
                      <a:headEnd len="sm" w="sm" type="none"/>
                      <a:tailEnd len="sm" w="sm" type="none"/>
                    </a:lnB>
                    <a:solidFill>
                      <a:srgbClr val="C27BA0"/>
                    </a:solidFill>
                  </a:tcPr>
                </a:tc>
                <a:tc>
                  <a:txBody>
                    <a:bodyPr/>
                    <a:lstStyle/>
                    <a:p>
                      <a:pPr indent="0" lvl="0" marL="0" marR="0" rtl="0" algn="l">
                        <a:spcBef>
                          <a:spcPts val="0"/>
                        </a:spcBef>
                        <a:spcAft>
                          <a:spcPts val="0"/>
                        </a:spcAft>
                        <a:buNone/>
                      </a:pPr>
                      <a:r>
                        <a:rPr b="1" lang="en-US" sz="1500">
                          <a:latin typeface="Poppins"/>
                          <a:ea typeface="Poppins"/>
                          <a:cs typeface="Poppins"/>
                          <a:sym typeface="Poppins"/>
                        </a:rPr>
                        <a:t>Seleccionado:</a:t>
                      </a:r>
                      <a:r>
                        <a:rPr lang="en-US" sz="1500">
                          <a:latin typeface="Poppins"/>
                          <a:ea typeface="Poppins"/>
                          <a:cs typeface="Poppins"/>
                          <a:sym typeface="Poppins"/>
                        </a:rPr>
                        <a:t> Mejor mAP50 (menos falsos negativos) y 61.9% más rápido que YOLO11n.</a:t>
                      </a:r>
                      <a:endParaRPr sz="1500">
                        <a:latin typeface="Poppins"/>
                        <a:ea typeface="Poppins"/>
                        <a:cs typeface="Poppins"/>
                        <a:sym typeface="Poppins"/>
                      </a:endParaRPr>
                    </a:p>
                  </a:txBody>
                  <a:tcPr marT="25400" marB="25400" marR="63500" marL="63500" anchor="ctr">
                    <a:lnL cap="flat" cmpd="sng" w="28575">
                      <a:solidFill>
                        <a:srgbClr val="06B6D4"/>
                      </a:solidFill>
                      <a:prstDash val="solid"/>
                      <a:round/>
                      <a:headEnd len="sm" w="sm" type="none"/>
                      <a:tailEnd len="sm" w="sm" type="none"/>
                    </a:lnL>
                    <a:lnR cap="flat" cmpd="sng" w="28575">
                      <a:solidFill>
                        <a:srgbClr val="06B6D4"/>
                      </a:solidFill>
                      <a:prstDash val="solid"/>
                      <a:round/>
                      <a:headEnd len="sm" w="sm" type="none"/>
                      <a:tailEnd len="sm" w="sm" type="none"/>
                    </a:lnR>
                    <a:lnT cap="flat" cmpd="sng" w="28575">
                      <a:solidFill>
                        <a:srgbClr val="06B6D4"/>
                      </a:solidFill>
                      <a:prstDash val="solid"/>
                      <a:round/>
                      <a:headEnd len="sm" w="sm" type="none"/>
                      <a:tailEnd len="sm" w="sm" type="none"/>
                    </a:lnT>
                    <a:lnB cap="flat" cmpd="sng" w="28575">
                      <a:solidFill>
                        <a:srgbClr val="06B6D4"/>
                      </a:solidFill>
                      <a:prstDash val="solid"/>
                      <a:round/>
                      <a:headEnd len="sm" w="sm" type="none"/>
                      <a:tailEnd len="sm" w="sm" type="none"/>
                    </a:lnB>
                    <a:solidFill>
                      <a:srgbClr val="C27BA0"/>
                    </a:solidFill>
                  </a:tcPr>
                </a:tc>
              </a:tr>
            </a:tbl>
          </a:graphicData>
        </a:graphic>
      </p:graphicFrame>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90D16"/>
        </a:solidFill>
      </p:bgPr>
    </p:bg>
    <p:spTree>
      <p:nvGrpSpPr>
        <p:cNvPr id="349" name="Shape 349"/>
        <p:cNvGrpSpPr/>
        <p:nvPr/>
      </p:nvGrpSpPr>
      <p:grpSpPr>
        <a:xfrm>
          <a:off x="0" y="0"/>
          <a:ext cx="0" cy="0"/>
          <a:chOff x="0" y="0"/>
          <a:chExt cx="0" cy="0"/>
        </a:xfrm>
      </p:grpSpPr>
      <p:pic>
        <p:nvPicPr>
          <p:cNvPr descr="image.png" id="350" name="Google Shape;350;p39"/>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351" name="Google Shape;351;p39"/>
          <p:cNvSpPr txBox="1"/>
          <p:nvPr/>
        </p:nvSpPr>
        <p:spPr>
          <a:xfrm>
            <a:off x="1044750" y="2108950"/>
            <a:ext cx="10102500" cy="24627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lang="en-US" sz="8000">
                <a:solidFill>
                  <a:srgbClr val="F8FAFC"/>
                </a:solidFill>
                <a:latin typeface="Poppins ExtraBold"/>
                <a:ea typeface="Poppins ExtraBold"/>
                <a:cs typeface="Poppins ExtraBold"/>
                <a:sym typeface="Poppins ExtraBold"/>
              </a:rPr>
              <a:t>¡Muchas Gracias por su Atención!</a:t>
            </a:r>
            <a:endParaRPr sz="8000">
              <a:latin typeface="Poppins"/>
              <a:ea typeface="Poppins"/>
              <a:cs typeface="Poppins"/>
              <a:sym typeface="Poppins"/>
            </a:endParaRPr>
          </a:p>
        </p:txBody>
      </p:sp>
      <p:pic>
        <p:nvPicPr>
          <p:cNvPr id="352" name="Google Shape;352;p39" title="logo.png"/>
          <p:cNvPicPr preferRelativeResize="0"/>
          <p:nvPr/>
        </p:nvPicPr>
        <p:blipFill>
          <a:blip r:embed="rId4">
            <a:alphaModFix/>
          </a:blip>
          <a:stretch>
            <a:fillRect/>
          </a:stretch>
        </p:blipFill>
        <p:spPr>
          <a:xfrm>
            <a:off x="576050" y="5917350"/>
            <a:ext cx="451552" cy="524826"/>
          </a:xfrm>
          <a:prstGeom prst="rect">
            <a:avLst/>
          </a:prstGeom>
          <a:noFill/>
          <a:ln>
            <a:noFill/>
          </a:ln>
        </p:spPr>
      </p:pic>
      <p:sp>
        <p:nvSpPr>
          <p:cNvPr id="353" name="Google Shape;353;p39"/>
          <p:cNvSpPr txBox="1"/>
          <p:nvPr/>
        </p:nvSpPr>
        <p:spPr>
          <a:xfrm>
            <a:off x="1027600" y="5972000"/>
            <a:ext cx="2916900" cy="415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1500">
                <a:solidFill>
                  <a:schemeClr val="lt1"/>
                </a:solidFill>
                <a:latin typeface="Poppins"/>
                <a:ea typeface="Poppins"/>
                <a:cs typeface="Poppins"/>
                <a:sym typeface="Poppins"/>
              </a:rPr>
              <a:t>Universidad del Magdalena</a:t>
            </a:r>
            <a:endParaRPr sz="1500">
              <a:solidFill>
                <a:schemeClr val="lt1"/>
              </a:solidFill>
              <a:latin typeface="Poppins"/>
              <a:ea typeface="Poppins"/>
              <a:cs typeface="Poppins"/>
              <a:sym typeface="Poppins"/>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