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713232"/>
            <a:ext cx="128016" cy="178308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" y="768096"/>
            <a:ext cx="8046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900" b="1" i="0">
                <a:solidFill>
                  <a:srgbClr val="F5F7F5"/>
                </a:solidFill>
                <a:latin typeface="Aptos"/>
              </a:rPr>
              <a:t>AssistiveVision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81912"/>
            <a:ext cx="7863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0" i="0">
                <a:solidFill>
                  <a:srgbClr val="A9B0AD"/>
                </a:solidFill>
                <a:latin typeface="Aptos"/>
              </a:rPr>
              <a:t>Sistema integrado de asistencia visual
mediante detección de objetos en tiempo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88920"/>
            <a:ext cx="1691640" cy="292608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825496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1FBE91"/>
                </a:solidFill>
                <a:latin typeface="Aptos"/>
              </a:rPr>
              <a:t>PROTOTIPO FUNCIONAL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788920"/>
            <a:ext cx="1993392" cy="292608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2928" y="2825496"/>
            <a:ext cx="19933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5F7F5"/>
                </a:solidFill>
                <a:latin typeface="Aptos"/>
              </a:rPr>
              <a:t>VISIÓN POR COMPUTADOR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713232"/>
            <a:ext cx="3383280" cy="523036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207008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SISTEMA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874519"/>
            <a:ext cx="26974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F5F7F5"/>
                </a:solidFill>
                <a:latin typeface="Aptos"/>
              </a:rPr>
              <a:t>Captura
+ detección
+ asistencia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3840480"/>
            <a:ext cx="2514600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4169663"/>
            <a:ext cx="2697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5F7F5"/>
                </a:solidFill>
                <a:latin typeface="Aptos"/>
              </a:rPr>
              <a:t>Procesamiento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28032"/>
            <a:ext cx="26517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A9B0AD"/>
                </a:solidFill>
                <a:latin typeface="Aptos"/>
              </a:rPr>
              <a:t>Una experiencia móvil diseñada para convertir la escena en información interpretable.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30952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5F7F5"/>
                </a:solidFill>
                <a:latin typeface="Aptos"/>
              </a:rPr>
              <a:t>Presentado por Diomedes Cerda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BE91"/>
                </a:solidFill>
                <a:latin typeface="Aptos"/>
              </a:rPr>
              <a:t>Universidad del Magdalena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199632"/>
            <a:ext cx="7772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0AD"/>
                </a:solidFill>
                <a:latin typeface="Aptos"/>
              </a:rPr>
              <a:t>Diseño del sistema completo integrado · captura · DNN · interfaz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Alcance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PANORAMA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A9B0AD"/>
                </a:solidFill>
                <a:latin typeface="Aptos"/>
              </a:rPr>
              <a:t>Una solución móvil que conecta percepción, procesamiento y retroalimentación en un único flujo.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429000" cy="210312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2075688"/>
            <a:ext cx="54864" cy="1700784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7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Sistema completo integrado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69463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La aplicación articula cámara, procesamiento de imagen, inferencia de aprendizaje profundo, localización espacial y una interfaz orientada a asistencia.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10312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53712" y="2075688"/>
            <a:ext cx="54864" cy="1700784"/>
          </a:xfrm>
          <a:prstGeom prst="roundRect">
            <a:avLst/>
          </a:prstGeom>
          <a:solidFill>
            <a:srgbClr val="7D5BC6"/>
          </a:solidFill>
          <a:ln w="8890">
            <a:solidFill>
              <a:srgbClr val="7D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029967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Módulo de captura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69463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Captura de la cámara trasera con CameraX, análisis de frames y entrega controlada al pipeline de visión.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3429000" cy="210312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11312" y="2075688"/>
            <a:ext cx="54864" cy="1700784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029967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Integración de DNN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69463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Adaptación del modelo EfficientDet-Lite2 en TensorFlow Lite para inferencia local sobre el dispositivo.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10744200" cy="1115568"/>
          </a:xfrm>
          <a:prstGeom prst="roundRect">
            <a:avLst/>
          </a:prstGeom>
          <a:solidFill>
            <a:srgbClr val="1F2121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66344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BE91"/>
                </a:solidFill>
                <a:latin typeface="Aptos"/>
              </a:rPr>
              <a:t>Resultado actual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572000"/>
            <a:ext cx="84582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F7F5"/>
                </a:solidFill>
                <a:latin typeface="Aptos"/>
              </a:rPr>
              <a:t>El usuario apunta el celular al entorno y recibe detecciones visuales con etiqueta, confianza y zona espacial.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Vista de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A9B0AD"/>
                </a:solidFill>
                <a:latin typeface="Aptos"/>
              </a:rPr>
              <a:t>El celular funciona como un nodo de percepción y asistencia en el entorno físico.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2057400" cy="342900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FBE91"/>
                </a:solidFill>
                <a:latin typeface="Aptos"/>
              </a:rPr>
              <a:t>ENTORNO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16002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F5F7F5"/>
                </a:solidFill>
                <a:latin typeface="Aptos"/>
              </a:rPr>
              <a:t>Objetos cotidianos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16002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A9B0AD"/>
                </a:solidFill>
                <a:latin typeface="Aptos"/>
              </a:rPr>
              <a:t>personas
sillas
mesas
televisores
y más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265176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58184" y="259689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82112" y="324612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58184" y="319125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82112" y="384048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58184" y="378561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82112" y="443484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58184" y="437997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51960" y="1874519"/>
            <a:ext cx="2880360" cy="342900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2148840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FBE91"/>
                </a:solidFill>
                <a:latin typeface="Aptos"/>
              </a:rPr>
              <a:t>DISPOSITIVO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578608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F5F7F5"/>
                </a:solidFill>
                <a:latin typeface="Aptos"/>
              </a:rPr>
              <a:t>AssistiveVision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37560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0" i="0">
                <a:solidFill>
                  <a:srgbClr val="F5F7F5"/>
                </a:solidFill>
                <a:latin typeface="Aptos"/>
              </a:rPr>
              <a:t>Cámara + modelo
+ interfaz de asistencia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434840"/>
            <a:ext cx="2057400" cy="292608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447141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1FBE91"/>
                </a:solidFill>
                <a:latin typeface="Aptos"/>
              </a:rPr>
              <a:t>PROCESAMIENTO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65176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01583" y="259689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43800" y="324612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01583" y="319125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43800" y="384048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01583" y="378561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43800" y="4434840"/>
            <a:ext cx="658368" cy="54864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01583" y="4379976"/>
            <a:ext cx="146304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595360" y="1874519"/>
            <a:ext cx="2880360" cy="342900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06840" y="2148840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FBE91"/>
                </a:solidFill>
                <a:latin typeface="Aptos"/>
              </a:rPr>
              <a:t>SALIDA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2578608"/>
            <a:ext cx="2148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5F7F5"/>
                </a:solidFill>
                <a:latin typeface="Aptos"/>
              </a:rPr>
              <a:t>Información accionable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3310128"/>
            <a:ext cx="219456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A9B0AD"/>
                </a:solidFill>
                <a:latin typeface="Aptos"/>
              </a:rPr>
              <a:t>Objeto detectado
confianza
zona: izquierda / centro / derecha
arriba / 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Arquitectura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170432"/>
            <a:ext cx="6720840" cy="498348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09" y="1325880"/>
            <a:ext cx="511474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170432"/>
            <a:ext cx="3639312" cy="498348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2834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F7F5"/>
                </a:solidFill>
                <a:latin typeface="Aptos"/>
              </a:rPr>
              <a:t>Capas principales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29968"/>
            <a:ext cx="3017520" cy="7498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4464" y="2231136"/>
            <a:ext cx="54864" cy="347471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2185416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5F7F5"/>
                </a:solidFill>
                <a:latin typeface="Aptos"/>
              </a:rPr>
              <a:t>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468880"/>
            <a:ext cx="2514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0AD"/>
                </a:solidFill>
                <a:latin typeface="Aptos"/>
              </a:rPr>
              <a:t>CameraX · cámara trasera · análisis de 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889504"/>
            <a:ext cx="3017520" cy="7498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84464" y="3090672"/>
            <a:ext cx="54864" cy="347471"/>
          </a:xfrm>
          <a:prstGeom prst="roundRect">
            <a:avLst/>
          </a:prstGeom>
          <a:solidFill>
            <a:srgbClr val="7D5BC6"/>
          </a:solidFill>
          <a:ln w="8890">
            <a:solidFill>
              <a:srgbClr val="7D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3044952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5F7F5"/>
                </a:solidFill>
                <a:latin typeface="Aptos"/>
              </a:rPr>
              <a:t>Procesamiento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328416"/>
            <a:ext cx="2514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0AD"/>
                </a:solidFill>
                <a:latin typeface="Aptos"/>
              </a:rPr>
              <a:t>Preprocesamiento · TFLite · filtrado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749039"/>
            <a:ext cx="3017520" cy="7498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84464" y="3950207"/>
            <a:ext cx="54864" cy="347471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67344" y="3904487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5F7F5"/>
                </a:solidFill>
                <a:latin typeface="Aptos"/>
              </a:rPr>
              <a:t>Interpretación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4187952"/>
            <a:ext cx="2514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0AD"/>
                </a:solidFill>
                <a:latin typeface="Aptos"/>
              </a:rPr>
              <a:t>Localización espacial · etiquetas · overlay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4608576"/>
            <a:ext cx="3017520" cy="7498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84464" y="4809744"/>
            <a:ext cx="54864" cy="347471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67344" y="4764024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5F7F5"/>
                </a:solidFill>
                <a:latin typeface="Aptos"/>
              </a:rPr>
              <a:t>Interacción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5047488"/>
            <a:ext cx="2514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0AD"/>
                </a:solidFill>
                <a:latin typeface="Aptos"/>
              </a:rPr>
              <a:t>Modo automático/manual · configuración · estado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Arquitectura de software: MVVM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9B0AD"/>
                </a:solidFill>
                <a:latin typeface="Aptos"/>
              </a:rPr>
              <a:t>La aplicación separa la presentación, el estado y la lógica de procesamiento para facilitar mantenimiento y evolución.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47088"/>
            <a:ext cx="3127248" cy="376732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2423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242316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F5F7F5"/>
                </a:solidFill>
                <a:latin typeface="Aptos"/>
              </a:rPr>
              <a:t>MainActivity
CameraFragment
SettingsFragment
OverlayView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370832"/>
            <a:ext cx="2423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A9B0AD"/>
                </a:solidFill>
                <a:latin typeface="Aptos"/>
              </a:rPr>
              <a:t>Renderiza la interfaz, recibe acciones
y observa el estado publicado.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847088"/>
            <a:ext cx="3127248" cy="3767328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8" y="2176272"/>
            <a:ext cx="2423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VIEWMODEL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743200"/>
            <a:ext cx="2423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F5F7F5"/>
                </a:solidFill>
                <a:latin typeface="Aptos"/>
              </a:rPr>
              <a:t>MainViewModel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3401568"/>
            <a:ext cx="2423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5F7F5"/>
                </a:solidFill>
                <a:latin typeface="Aptos"/>
              </a:rPr>
              <a:t>Coordina el pipeline, controla el modo
automático/manual y expone: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4251960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FBE91"/>
                </a:solidFill>
                <a:latin typeface="Aptos"/>
              </a:rPr>
              <a:t>detecciones · FPS · conteo · estado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847088"/>
            <a:ext cx="3218688" cy="376732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2176272"/>
            <a:ext cx="2487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MODELO /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761488"/>
            <a:ext cx="248716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F5F7F5"/>
                </a:solidFill>
                <a:latin typeface="Aptos"/>
              </a:rPr>
              <a:t>Módulos de visión
SettingsManager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822191"/>
            <a:ext cx="2487168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A9B0AD"/>
                </a:solidFill>
                <a:latin typeface="Aptos"/>
              </a:rPr>
              <a:t>Capture · Preprocessing
Detection · Localization
DataStore de preferencias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456432"/>
            <a:ext cx="329184" cy="45720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42816" y="3383280"/>
            <a:ext cx="118872" cy="18288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99248" y="3456432"/>
            <a:ext cx="329184" cy="45720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73568" y="3383280"/>
            <a:ext cx="118872" cy="18288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0120" y="5879592"/>
            <a:ext cx="10424160" cy="347472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971032"/>
            <a:ext cx="10149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5F7F5"/>
                </a:solidFill>
                <a:latin typeface="Aptos"/>
              </a:rPr>
              <a:t>Comunicación reactiva: la Vista observa LiveData y StateFlow; el ViewModel no depende directamente de la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Flujo de procesamiento de un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332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9B0AD"/>
                </a:solidFill>
                <a:latin typeface="Aptos"/>
              </a:rPr>
              <a:t>Cada frame atraviesa el mismo circuito: capturar, transformar, inferir, localizar y presentar.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44200" cy="3593592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78992" y="2816352"/>
            <a:ext cx="1572768" cy="114300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5" y="297180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BE91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255264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7F5"/>
                </a:solidFill>
                <a:latin typeface="Aptos"/>
              </a:rPr>
              <a:t>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602736"/>
            <a:ext cx="13533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9B0AD"/>
                </a:solidFill>
                <a:latin typeface="Aptos"/>
              </a:rPr>
              <a:t>Frame 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6624" y="3355848"/>
            <a:ext cx="310896" cy="41148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80944" y="3291840"/>
            <a:ext cx="118872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118104" y="2816352"/>
            <a:ext cx="1572768" cy="1143000"/>
          </a:xfrm>
          <a:prstGeom prst="roundRect">
            <a:avLst/>
          </a:prstGeom>
          <a:solidFill>
            <a:srgbClr val="1F2121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BE91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255264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7F5"/>
                </a:solidFill>
                <a:latin typeface="Aptos"/>
              </a:rPr>
              <a:t>Preprocesa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602736"/>
            <a:ext cx="13533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9B0AD"/>
                </a:solidFill>
                <a:latin typeface="Aptos"/>
              </a:rPr>
              <a:t>448×448 · tensor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5736" y="3355848"/>
            <a:ext cx="310896" cy="41148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0056" y="3291840"/>
            <a:ext cx="118872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57216" y="2816352"/>
            <a:ext cx="1572768" cy="114300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297180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BE91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255264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7F5"/>
                </a:solidFill>
                <a:latin typeface="Aptos"/>
              </a:rPr>
              <a:t>Detecta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602736"/>
            <a:ext cx="13533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9B0AD"/>
                </a:solidFill>
                <a:latin typeface="Aptos"/>
              </a:rPr>
              <a:t>cajas · clases ·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84848" y="3355848"/>
            <a:ext cx="310896" cy="41148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59168" y="3291840"/>
            <a:ext cx="118872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96327" y="2816352"/>
            <a:ext cx="1572768" cy="1143000"/>
          </a:xfrm>
          <a:prstGeom prst="roundRect">
            <a:avLst/>
          </a:prstGeom>
          <a:solidFill>
            <a:srgbClr val="1F2121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42631" y="297180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BE91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3255264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7F5"/>
                </a:solidFill>
                <a:latin typeface="Aptos"/>
              </a:rPr>
              <a:t>Localiza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5" y="3602736"/>
            <a:ext cx="13533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9B0AD"/>
                </a:solidFill>
                <a:latin typeface="Aptos"/>
              </a:rPr>
              <a:t>zona espacial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59" y="3355848"/>
            <a:ext cx="310896" cy="41148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98280" y="3291840"/>
            <a:ext cx="118872" cy="164592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35440" y="2816352"/>
            <a:ext cx="1572768" cy="114300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81744" y="297180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BE91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255264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7F5"/>
                </a:solidFill>
                <a:latin typeface="Aptos"/>
              </a:rPr>
              <a:t>Presenta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3602736"/>
            <a:ext cx="13533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9B0AD"/>
                </a:solidFill>
                <a:latin typeface="Aptos"/>
              </a:rPr>
              <a:t>overlay · estado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645152"/>
            <a:ext cx="9738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F5F7F5"/>
                </a:solidFill>
                <a:latin typeface="Aptos"/>
              </a:rPr>
              <a:t>El ViewModel coordina el ciclo en segundo plano y publica el resultado a la interfaz.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50992"/>
            <a:ext cx="10744200" cy="41148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60720"/>
            <a:ext cx="10332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5F7F5"/>
                </a:solidFill>
                <a:latin typeface="Aptos"/>
              </a:rPr>
              <a:t>Control de concurrencia: si la inferencia está ocupada, el frame se omite para mantener la respuesta fluida.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Módulos de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MÓDULOS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9B0AD"/>
                </a:solidFill>
                <a:latin typeface="Aptos"/>
              </a:rPr>
              <a:t>La solución se divide en responsabilidades claras para facilitar integración y evolución.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755648"/>
            <a:ext cx="91440" cy="1005840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38528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CaptureModule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25856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CameraX, cámara trasera, análisis de imagen y límite de 9 FPS.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55648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4496" y="1755648"/>
            <a:ext cx="91440" cy="1005840"/>
          </a:xfrm>
          <a:prstGeom prst="rect">
            <a:avLst/>
          </a:prstGeom>
          <a:solidFill>
            <a:srgbClr val="7D5BC6"/>
          </a:solidFill>
          <a:ln w="8890">
            <a:solidFill>
              <a:srgbClr val="7D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1938528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PreprocessingModule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25856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Redimensionamiento letterbox a 448×448 y conversión a tensor RGB.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054096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054096"/>
            <a:ext cx="91440" cy="1005840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5" y="3236976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DetectionModule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557015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Inferencia TFLite, mapeo de clases COCO y filtrado por confianza.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054096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54496" y="3054096"/>
            <a:ext cx="91440" cy="1005840"/>
          </a:xfrm>
          <a:prstGeom prst="rect">
            <a:avLst/>
          </a:prstGeom>
          <a:solidFill>
            <a:srgbClr val="7D5BC6"/>
          </a:solidFill>
          <a:ln w="8890">
            <a:solidFill>
              <a:srgbClr val="7D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3236976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LocalizationModule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557015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Convierte cada bounding box en una zona espacial interpretable.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352544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4352544"/>
            <a:ext cx="91440" cy="1005840"/>
          </a:xfrm>
          <a:prstGeom prst="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5" y="4535424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MainViewModel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4855464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Orquesta el flujo y expone detecciones, FPS, conteo y estado mediante LiveData.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352544"/>
            <a:ext cx="5074920" cy="100584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54496" y="4352544"/>
            <a:ext cx="91440" cy="1005840"/>
          </a:xfrm>
          <a:prstGeom prst="rect">
            <a:avLst/>
          </a:prstGeom>
          <a:solidFill>
            <a:srgbClr val="7D5BC6"/>
          </a:solidFill>
          <a:ln w="8890">
            <a:solidFill>
              <a:srgbClr val="7D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7104" y="4535424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7F5"/>
                </a:solidFill>
                <a:latin typeface="Aptos"/>
              </a:rPr>
              <a:t>UI / OverlayView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4855464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Renderiza cámara, cajas, etiquetas, modos, acciones y configuración.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Interfaz de captura y experiencia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INTERFAZ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022" y="1234440"/>
            <a:ext cx="2495257" cy="48646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8-06 at 3.42.11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70" y="1443875"/>
            <a:ext cx="2024877" cy="44997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931920" y="1234440"/>
            <a:ext cx="7543800" cy="4864608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1572768"/>
            <a:ext cx="6720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5F7F5"/>
                </a:solidFill>
                <a:latin typeface="Aptos"/>
              </a:rPr>
              <a:t>La interfaz hace visible el estado del sistema sin ocultar la escena.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58568"/>
            <a:ext cx="393192" cy="393192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340864"/>
            <a:ext cx="3931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40280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Vista de cámara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542032"/>
            <a:ext cx="6035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9B0AD"/>
                </a:solidFill>
                <a:latin typeface="Aptos"/>
              </a:rPr>
              <a:t>Feed en vivo con bounding boxes y etiquetas de confianza.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008376"/>
            <a:ext cx="393192" cy="393192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090672"/>
            <a:ext cx="3931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9900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Modo automático /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291840"/>
            <a:ext cx="6035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9B0AD"/>
                </a:solidFill>
                <a:latin typeface="Aptos"/>
              </a:rPr>
              <a:t>Detección continua o ejecución bajo demanda.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58184"/>
            <a:ext cx="393192" cy="393192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3840480"/>
            <a:ext cx="3931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739896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Estado operativo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041648"/>
            <a:ext cx="6035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9B0AD"/>
                </a:solidFill>
                <a:latin typeface="Aptos"/>
              </a:rPr>
              <a:t>Indicador de actividad, FPS y cantidad de objetos.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507992"/>
            <a:ext cx="393192" cy="393192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4590288"/>
            <a:ext cx="3931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489704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Controles rápidos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791455"/>
            <a:ext cx="6035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9B0AD"/>
                </a:solidFill>
                <a:latin typeface="Aptos"/>
              </a:rPr>
              <a:t>Hablar, pausar, pantalla completa y configuración.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68112"/>
            <a:ext cx="6492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BE91"/>
                </a:solidFill>
                <a:latin typeface="Aptos"/>
              </a:rPr>
              <a:t>La captura y la interfaz están integradas al mismo ciclo de detección.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Adaptación e integración del modelo DNN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INTELIGENCIA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767328" cy="484632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62763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F5F7F5"/>
                </a:solidFill>
                <a:latin typeface="Aptos"/>
              </a:rPr>
              <a:t>EfficientDet-Lite2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03120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F5F7F5"/>
                </a:solidFill>
                <a:latin typeface="Aptos"/>
              </a:rPr>
              <a:t>TensorFlow Lite · inferencia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2743200"/>
            <a:ext cx="2944368" cy="438912"/>
          </a:xfrm>
          <a:prstGeom prst="roundRect">
            <a:avLst/>
          </a:prstGeom>
          <a:solidFill>
            <a:srgbClr val="0A0B0B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2825496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BE91"/>
                </a:solidFill>
                <a:latin typeface="Aptos"/>
              </a:rPr>
              <a:t>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2825496"/>
            <a:ext cx="157276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0" i="0">
                <a:solidFill>
                  <a:srgbClr val="F5F7F5"/>
                </a:solidFill>
                <a:latin typeface="Aptos"/>
              </a:rPr>
              <a:t>448×448 RGB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" y="3383280"/>
            <a:ext cx="2944368" cy="438912"/>
          </a:xfrm>
          <a:prstGeom prst="roundRect">
            <a:avLst/>
          </a:prstGeom>
          <a:solidFill>
            <a:srgbClr val="0A0B0B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465576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BE91"/>
                </a:solidFill>
                <a:latin typeface="Aptos"/>
              </a:rPr>
              <a:t>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3465576"/>
            <a:ext cx="157276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0" i="0">
                <a:solidFill>
                  <a:srgbClr val="F5F7F5"/>
                </a:solidFill>
                <a:latin typeface="Aptos"/>
              </a:rPr>
              <a:t>cajas · clases ·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" y="4023360"/>
            <a:ext cx="2944368" cy="438912"/>
          </a:xfrm>
          <a:prstGeom prst="roundRect">
            <a:avLst/>
          </a:prstGeom>
          <a:solidFill>
            <a:srgbClr val="0A0B0B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4105656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BE91"/>
                </a:solidFill>
                <a:latin typeface="Aptos"/>
              </a:rPr>
              <a:t>Clases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4105656"/>
            <a:ext cx="157276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0" i="0">
                <a:solidFill>
                  <a:srgbClr val="F5F7F5"/>
                </a:solidFill>
                <a:latin typeface="Aptos"/>
              </a:rPr>
              <a:t>10 objetos COCO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3856" y="4663440"/>
            <a:ext cx="2944368" cy="438912"/>
          </a:xfrm>
          <a:prstGeom prst="roundRect">
            <a:avLst/>
          </a:prstGeom>
          <a:solidFill>
            <a:srgbClr val="0A0B0B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4745736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FBE91"/>
                </a:solidFill>
                <a:latin typeface="Aptos"/>
              </a:rPr>
              <a:t>Rendimiento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4745736"/>
            <a:ext cx="157276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0" i="0">
                <a:solidFill>
                  <a:srgbClr val="F5F7F5"/>
                </a:solidFill>
                <a:latin typeface="Aptos"/>
              </a:rPr>
              <a:t>~137,8 ms / inferencia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234440"/>
            <a:ext cx="6675120" cy="484632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38928" y="1572768"/>
            <a:ext cx="59893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5F7F5"/>
                </a:solidFill>
                <a:latin typeface="Aptos"/>
              </a:rPr>
              <a:t>De la salida del modelo a una detección útil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304288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BE91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286000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Filtrar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286000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Se conservan las clases objetivo y las detecciones sobre el umbral de confianza.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090672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BE91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072384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Ordenar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072384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Las detecciones se ordenan por score y se limita el número de objetos mostrados.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3877056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BE91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858768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Localizar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858768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Cada caja se transforma en una zona: izquierda, centro o derecha; arriba o abajo.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4663440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FBE91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645152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7F5"/>
                </a:solidFill>
                <a:latin typeface="Aptos"/>
              </a:rPr>
              <a:t>Presentar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645152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9B0AD"/>
                </a:solidFill>
                <a:latin typeface="Aptos"/>
              </a:rPr>
              <a:t>El resultado llega al overlay y al estado visual de la interfaz.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Configuración y adaptabilidad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EXPERIENCIA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684" y="1207008"/>
            <a:ext cx="2547307" cy="498348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8-06 at 3.42.11 PM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87" y="1341120"/>
            <a:ext cx="2121865" cy="47152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0" y="1207008"/>
            <a:ext cx="2547307" cy="498348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08-06 at 3.42.11 PM(4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479" y="1342034"/>
            <a:ext cx="2121865" cy="47152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207008"/>
            <a:ext cx="4663440" cy="498348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572768"/>
            <a:ext cx="3931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5F7F5"/>
                </a:solidFill>
                <a:latin typeface="Aptos"/>
              </a:rPr>
              <a:t>Un mismo sistema, ajustable a cada usuario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68880"/>
            <a:ext cx="3794760" cy="2468880"/>
          </a:xfrm>
          <a:prstGeom prst="rect">
            <a:avLst/>
          </a:prstGeom>
          <a:noFill/>
        </p:spPr>
        <p:txBody>
          <a:bodyPr wrap="square" lIns="73152" tIns="36576" r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Idioma de la interfaz y de los descriptores</a:t>
            </a:r>
          </a:p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Velocidad de voz e intervalo entre anuncios</a:t>
            </a:r>
          </a:p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Umbral de confianza para detección</a:t>
            </a:r>
          </a:p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Máximo de objetos por ciclo</a:t>
            </a:r>
          </a:p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Modo automático al iniciar</a:t>
            </a:r>
          </a:p>
          <a:p>
            <a:pPr>
              <a:spcAft>
                <a:spcPts val="10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Mostrar u ocultar la vista previa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5303520"/>
            <a:ext cx="3858768" cy="45720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5440680"/>
            <a:ext cx="3520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FBE91"/>
                </a:solidFill>
                <a:latin typeface="Aptos"/>
              </a:rPr>
              <a:t>Preferencias persistentes con DataStore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Posicionamiento del celular y localización 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ASISTENCIA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6132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9B0AD"/>
                </a:solidFill>
                <a:latin typeface="Aptos"/>
              </a:rPr>
              <a:t>La posición y orientación de la cámara determinan el campo de observación; el sistema convierte la detección en una referencia espacial 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3749039" cy="388620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267712"/>
            <a:ext cx="3108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5F7F5"/>
                </a:solidFill>
                <a:latin typeface="Aptos"/>
              </a:rPr>
              <a:t>Campo de referencia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2788920"/>
            <a:ext cx="2542032" cy="2240280"/>
          </a:xfrm>
          <a:prstGeom prst="roundRect">
            <a:avLst/>
          </a:prstGeom>
          <a:solidFill>
            <a:srgbClr val="0A0B0B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03704" y="2788920"/>
            <a:ext cx="10972" cy="2240280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4096" y="2788920"/>
            <a:ext cx="10972" cy="2240280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3895344"/>
            <a:ext cx="2542032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81328" y="3035808"/>
            <a:ext cx="749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A9B0AD"/>
                </a:solidFill>
                <a:latin typeface="Aptos"/>
              </a:rPr>
              <a:t>izquierda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3035808"/>
            <a:ext cx="749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FBE91"/>
                </a:solidFill>
                <a:latin typeface="Aptos"/>
              </a:rPr>
              <a:t>centro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035808"/>
            <a:ext cx="749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A9B0AD"/>
                </a:solidFill>
                <a:latin typeface="Aptos"/>
              </a:rPr>
              <a:t>derecha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346704"/>
            <a:ext cx="749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A9B0AD"/>
                </a:solidFill>
                <a:latin typeface="Aptos"/>
              </a:rPr>
              <a:t>arriba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590288"/>
            <a:ext cx="749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A9B0AD"/>
                </a:solidFill>
                <a:latin typeface="Aptos"/>
              </a:rPr>
              <a:t>abajo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920240"/>
            <a:ext cx="5010912" cy="388620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267712"/>
            <a:ext cx="4297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5F7F5"/>
                </a:solidFill>
                <a:latin typeface="Aptos"/>
              </a:rPr>
              <a:t>Ejemplo de 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1005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1FBE91"/>
                </a:solidFill>
                <a:latin typeface="Aptos"/>
              </a:rPr>
              <a:t>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990088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7F5"/>
                </a:solidFill>
                <a:latin typeface="Aptos"/>
              </a:rPr>
              <a:t>56% de confianza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27264" y="3749039"/>
            <a:ext cx="2697480" cy="676656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27264" y="3941063"/>
            <a:ext cx="2697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1FBE91"/>
                </a:solidFill>
                <a:latin typeface="Aptos"/>
              </a:rPr>
              <a:t>centro · arriba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892040"/>
            <a:ext cx="382219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A9B0AD"/>
                </a:solidFill>
                <a:latin typeface="Aptos"/>
              </a:rPr>
              <a:t>La etiqueta visual combina objeto + posición para hacer el resultado más interpretable.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38328"/>
            <a:ext cx="109728" cy="457200"/>
          </a:xfrm>
          <a:prstGeom prst="roundRect">
            <a:avLst/>
          </a:prstGeom>
          <a:solidFill>
            <a:srgbClr val="1FBE91"/>
          </a:solidFill>
          <a:ln w="8890">
            <a:solidFill>
              <a:srgbClr val="1F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7F5"/>
                </a:solidFill>
                <a:latin typeface="Aptos"/>
              </a:rPr>
              <a:t>Estado actual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931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FBE91"/>
                </a:solidFill>
                <a:latin typeface="Aptos"/>
              </a:rPr>
              <a:t>CIERRE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835640" cy="10972"/>
          </a:xfrm>
          <a:prstGeom prst="rect">
            <a:avLst/>
          </a:prstGeom>
          <a:solidFill>
            <a:srgbClr val="3A403E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19104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A9B0AD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120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9B0AD"/>
                </a:solidFill>
                <a:latin typeface="Aptos"/>
              </a:rPr>
              <a:t>ASSISTIVEVISION  /  UNIVERSIDAD DEL MAGDALENA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A9B0AD"/>
                </a:solidFill>
                <a:latin typeface="Aptos"/>
              </a:rPr>
              <a:t>La base integrada ya permite demostrar el ciclo principal de percepción y asistencia.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47088"/>
            <a:ext cx="5074920" cy="356616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FBE91"/>
                </a:solidFill>
                <a:latin typeface="Aptos"/>
              </a:rPr>
              <a:t>Implementado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4297680" cy="2057400"/>
          </a:xfrm>
          <a:prstGeom prst="rect">
            <a:avLst/>
          </a:prstGeom>
          <a:noFill/>
        </p:spPr>
        <p:txBody>
          <a:bodyPr wrap="square" lIns="73152" tIns="36576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Interfaz de captura integrada con CameraX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Inferencia local con EfficientDet-Lite2 / TFLite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Preprocesamiento y filtro de detecciones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Localización espacial sobre seis zonas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Overlay visual, modos automático y manual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t>• Configuración persistente de la experiencia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47088"/>
            <a:ext cx="5257800" cy="3566160"/>
          </a:xfrm>
          <a:prstGeom prst="roundRect">
            <a:avLst/>
          </a:prstGeom>
          <a:solidFill>
            <a:srgbClr val="191B1B"/>
          </a:solidFill>
          <a:ln w="8890">
            <a:solidFill>
              <a:srgbClr val="3A4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2194560"/>
            <a:ext cx="4526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7D5BC6"/>
                </a:solidFill>
                <a:latin typeface="Aptos"/>
              </a:rPr>
              <a:t>Siguiente evolución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761488"/>
            <a:ext cx="4462272" cy="1570686"/>
          </a:xfrm>
          <a:prstGeom prst="rect">
            <a:avLst/>
          </a:prstGeom>
          <a:noFill/>
        </p:spPr>
        <p:txBody>
          <a:bodyPr wrap="square" lIns="73152" tIns="36576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Completar</a:t>
            </a:r>
            <a:r>
              <a:rPr dirty="0"/>
              <a:t> el </a:t>
            </a:r>
            <a:r>
              <a:rPr dirty="0" err="1"/>
              <a:t>módulo</a:t>
            </a:r>
            <a:r>
              <a:rPr dirty="0"/>
              <a:t> de audio con Text-to-Speech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priorización</a:t>
            </a:r>
            <a:r>
              <a:rPr dirty="0"/>
              <a:t> y cooldown de </a:t>
            </a:r>
            <a:r>
              <a:rPr dirty="0" err="1"/>
              <a:t>anuncios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Refinar</a:t>
            </a:r>
            <a:r>
              <a:rPr dirty="0"/>
              <a:t> la </a:t>
            </a:r>
            <a:r>
              <a:rPr dirty="0" err="1"/>
              <a:t>actualización</a:t>
            </a:r>
            <a:r>
              <a:rPr dirty="0"/>
              <a:t> de </a:t>
            </a:r>
            <a:r>
              <a:rPr dirty="0" err="1"/>
              <a:t>idioma</a:t>
            </a:r>
            <a:r>
              <a:rPr dirty="0"/>
              <a:t> sin </a:t>
            </a:r>
            <a:r>
              <a:rPr dirty="0" err="1"/>
              <a:t>recreación</a:t>
            </a:r>
            <a:r>
              <a:rPr dirty="0"/>
              <a:t> visible</a:t>
            </a:r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 y </a:t>
            </a:r>
            <a:r>
              <a:rPr dirty="0" err="1"/>
              <a:t>precisión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escenarios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A9B0A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usabilida</a:t>
            </a:r>
            <a:r>
              <a:rPr lang="en-US" dirty="0" err="1"/>
              <a:t>d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49808" y="5742432"/>
            <a:ext cx="10716768" cy="365760"/>
          </a:xfrm>
          <a:prstGeom prst="roundRect">
            <a:avLst/>
          </a:prstGeom>
          <a:solidFill>
            <a:srgbClr val="0A5D46"/>
          </a:solidFill>
          <a:ln w="8890">
            <a:solidFill>
              <a:srgbClr val="0A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833872"/>
            <a:ext cx="10378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5F7F5"/>
                </a:solidFill>
                <a:latin typeface="Aptos"/>
              </a:rPr>
              <a:t>De una cámara móvil a una capa de asistencia contextual.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1052</Words>
  <Application>Microsoft Office PowerPoint</Application>
  <PresentationFormat>Panorámica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AssistiveVision - Sistema integrado de asistencia visual</dc:title>
  <dc:subject>Arquitectura, captura e integracion de deteccion de objetos</dc:subject>
  <dc:creator>Diomedes Cerda</dc:creator>
  <cp:keywords/>
  <dc:description>generated using python-pptx</dc:description>
  <cp:lastModifiedBy>DIOMEDES FARID CERDA LEON</cp:lastModifiedBy>
  <cp:revision>2</cp:revision>
  <dcterms:created xsi:type="dcterms:W3CDTF">2013-01-27T09:14:16Z</dcterms:created>
  <dcterms:modified xsi:type="dcterms:W3CDTF">2026-08-06T21:16:48Z</dcterms:modified>
  <cp:category/>
</cp:coreProperties>
</file>